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handoutMasters/handoutMaster1.xml" ContentType="application/vnd.openxmlformats-officedocument.presentationml.handoutMaster+xml"/>
  <Override PartName="/ppt/media/image33.svg" ContentType="image/svg+xml"/>
  <Override PartName="/ppt/media/image4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7"/>
  </p:handoutMasterIdLst>
  <p:sldIdLst>
    <p:sldId id="394" r:id="rId3"/>
    <p:sldId id="426" r:id="rId5"/>
    <p:sldId id="310" r:id="rId6"/>
    <p:sldId id="320" r:id="rId7"/>
    <p:sldId id="309" r:id="rId8"/>
    <p:sldId id="432" r:id="rId9"/>
    <p:sldId id="338" r:id="rId10"/>
    <p:sldId id="306" r:id="rId11"/>
    <p:sldId id="427" r:id="rId12"/>
    <p:sldId id="420" r:id="rId13"/>
    <p:sldId id="421" r:id="rId14"/>
    <p:sldId id="422" r:id="rId15"/>
    <p:sldId id="425" r:id="rId16"/>
    <p:sldId id="307" r:id="rId17"/>
    <p:sldId id="311" r:id="rId18"/>
    <p:sldId id="345" r:id="rId19"/>
    <p:sldId id="312" r:id="rId20"/>
    <p:sldId id="347" r:id="rId21"/>
    <p:sldId id="348" r:id="rId22"/>
    <p:sldId id="342" r:id="rId23"/>
    <p:sldId id="428" r:id="rId24"/>
    <p:sldId id="262" r:id="rId25"/>
    <p:sldId id="354" r:id="rId26"/>
  </p:sldIdLst>
  <p:sldSz cx="12192000" cy="6858000"/>
  <p:notesSz cx="6858000" cy="9144000"/>
  <p:embeddedFontLst>
    <p:embeddedFont>
      <p:font typeface="微软雅黑" panose="020B0503020204020204" charset="-122"/>
      <p:regular r:id="rId32"/>
    </p:embeddedFont>
    <p:embeddedFont>
      <p:font typeface="方正兰亭黑简体" panose="02000000000000000000" pitchFamily="2" charset="-122"/>
      <p:regular r:id="rId33"/>
    </p:embeddedFont>
    <p:embeddedFont>
      <p:font typeface="等线" panose="02010600030101010101" charset="-122"/>
      <p:regular r:id="rId34"/>
    </p:embeddedFont>
    <p:embeddedFont>
      <p:font typeface="等线 Light" panose="02010600030101010101" charset="-122"/>
      <p:regular r:id="rId35"/>
    </p:embeddedFont>
    <p:embeddedFont>
      <p:font typeface="Calibri" panose="020F0502020204030204" charset="0"/>
      <p:regular r:id="rId36"/>
      <p:bold r:id="rId37"/>
      <p:italic r:id="rId38"/>
      <p:boldItalic r:id="rId39"/>
    </p:embeddedFont>
  </p:embeddedFontLst>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l" initials="D" lastIdx="0" clrIdx="0"/>
  <p:cmAuthor id="1" name="Xinkun Li" initials="XL" lastIdx="5" clrIdx="0"/>
  <p:cmAuthor id="2" name="office365" initials="o" lastIdx="1" clrIdx="1"/>
  <p:cmAuthor id="3" name="作者" initials="A" lastIdx="0" clrIdx="2"/>
  <p:cmAuthor id="4" name="czy" initials="" lastIdx="1" clrIdx="1"/>
  <p:cmAuthor id="5" name="未知用户1" initials="未知用户1" lastIdx="0" clrIdx="2"/>
  <p:cmAuthor id="6" name="song bin" initials="sb" lastIdx="2" clrIdx="3"/>
  <p:cmAuthor id="7" name="370697044@qq.com" initials="3" lastIdx="1" clrIdx="4"/>
  <p:cmAuthor id="8" name="tianli" initials="L" lastIdx="1" clrIdx="7"/>
  <p:cmAuthor id="9" name="gr_lv" initials="g" lastIdx="1" clrIdx="8"/>
  <p:cmAuthor id="10" name="zhaojing" initials="z" lastIdx="1" clrIdx="9"/>
  <p:cmAuthor id="11" name="dell" initials="d" lastIdx="1" clrIdx="10"/>
  <p:cmAuthor id="12" name="ADMIN" initials="A" lastIdx="2" clrIdx="11"/>
  <p:cmAuthor id="13" name="18477" initials="1" lastIdx="1" clrIdx="12"/>
  <p:cmAuthor id="14" name="J Changhan" initials="JC" lastIdx="71" clrIdx="13"/>
  <p:cmAuthor id="15" name="未知用户2" initials="未知用户2" lastIdx="27" clrIdx="14"/>
  <p:cmAuthor id="16" name="86230" initials="8" lastIdx="1" clrIdx="15"/>
  <p:cmAuthor id="17" name="guo jingwen" initials="gj" lastIdx="7" clrIdx="6"/>
  <p:cmAuthor id="18" name="sx_xuzx" initials="s" lastIdx="26" clrIdx="17"/>
  <p:cmAuthor id="19" name="tplife" initials="t" lastIdx="2" clrIdx="0"/>
  <p:cmAuthor id="20" name="孟 昕" initials="孟" lastIdx="1" clrIdx="18"/>
  <p:cmAuthor id="21" name="10000509" initials="1" lastIdx="9" clrIdx="20"/>
  <p:cmAuthor id="22" name="10146393" initials="1" lastIdx="1" clrIdx="21"/>
  <p:cmAuthor id="23" name="konglu2012@126.com" initials="k" lastIdx="1" clrIdx="0"/>
  <p:cmAuthor id="24" name="李蕾00009994" initials="李" lastIdx="6" clrIdx="17"/>
  <p:cmAuthor id="25" name="Author" initials="A" lastIdx="0" clrIdx="24"/>
  <p:cmAuthor id="26" name="10270945" initials="1" lastIdx="1" clrIdx="25"/>
  <p:cmAuthor id="27" name="Jing Hu" initials="J" lastIdx="11" clrIdx="1"/>
  <p:cmAuthor id="28" name="Steven Feng Ji" initials="S" lastIdx="5" clrIdx="2"/>
  <p:cmAuthor id="29" name="Vincent Long Liu" initials="V" lastIdx="6" clrIdx="3"/>
  <p:cmAuthor id="30" name="CAOH16" initials="C" lastIdx="1" clrIdx="29"/>
  <p:cmAuthor id="32" name="10033224" initials="1" lastIdx="1" clrIdx="31"/>
  <p:cmAuthor id="76" name="yang yang" initials="yy" lastIdx="1" clrIdx="25"/>
  <p:cmAuthor id="77" name="Admin" initials="A" lastIdx="1" clrIdx="26"/>
  <p:cmAuthor id="78" name="Windows 用户" initials="W用" lastIdx="1" clrIdx="27"/>
  <p:cmAuthor id="35" name="Lenovo" initials="L" lastIdx="19" clrIdx="3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D8"/>
    <a:srgbClr val="7F7F7F"/>
    <a:srgbClr val="84AEEA"/>
    <a:srgbClr val="E3E3E3"/>
    <a:srgbClr val="ECBF7C"/>
    <a:srgbClr val="C2A084"/>
    <a:srgbClr val="F3D6AC"/>
    <a:srgbClr val="D6BFAC"/>
    <a:srgbClr val="FFF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7" autoAdjust="0"/>
    <p:restoredTop sz="94660"/>
  </p:normalViewPr>
  <p:slideViewPr>
    <p:cSldViewPr snapToGrid="0">
      <p:cViewPr varScale="1">
        <p:scale>
          <a:sx n="63" d="100"/>
          <a:sy n="63" d="100"/>
        </p:scale>
        <p:origin x="93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gs" Target="tags/tag50.xml"/><Relationship Id="rId4" Type="http://schemas.openxmlformats.org/officeDocument/2006/relationships/notesMaster" Target="notesMasters/notesMaster1.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A6A96A-5DA8-4D2A-9F8B-7DEF8EC464D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C6C35E-77D5-44D3-BDAC-B5543070975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E1BB861-5A49-4533-A397-90C1E498D33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幻灯片图像占位符 1"/>
          <p:cNvSpPr>
            <a:spLocks noGrp="1" noRot="1" noChangeAspect="1"/>
          </p:cNvSpPr>
          <p:nvPr>
            <p:ph type="sldImg" idx="2"/>
          </p:nvPr>
        </p:nvSpPr>
        <p:spPr/>
        <p:txBody>
          <a:bodyPr/>
          <a:lstStyle/>
          <a:p/>
        </p:txBody>
      </p:sp>
      <p:sp>
        <p:nvSpPr>
          <p:cNvPr id="35"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幻灯片图像占位符 1"/>
          <p:cNvSpPr>
            <a:spLocks noGrp="1" noRot="1" noChangeAspect="1"/>
          </p:cNvSpPr>
          <p:nvPr>
            <p:ph type="sldImg" idx="2"/>
          </p:nvPr>
        </p:nvSpPr>
        <p:spPr/>
        <p:txBody>
          <a:bodyPr/>
          <a:lstStyle/>
          <a:p/>
        </p:txBody>
      </p:sp>
      <p:sp>
        <p:nvSpPr>
          <p:cNvPr id="35"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幻灯片图像占位符 1"/>
          <p:cNvSpPr>
            <a:spLocks noGrp="1" noRot="1" noChangeAspect="1"/>
          </p:cNvSpPr>
          <p:nvPr>
            <p:ph type="sldImg" idx="2"/>
          </p:nvPr>
        </p:nvSpPr>
        <p:spPr/>
        <p:txBody>
          <a:bodyPr/>
          <a:lstStyle/>
          <a:p/>
        </p:txBody>
      </p:sp>
      <p:sp>
        <p:nvSpPr>
          <p:cNvPr id="35"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幻灯片图像占位符 1"/>
          <p:cNvSpPr>
            <a:spLocks noGrp="1" noRot="1" noChangeAspect="1"/>
          </p:cNvSpPr>
          <p:nvPr>
            <p:ph type="sldImg" idx="2"/>
          </p:nvPr>
        </p:nvSpPr>
        <p:spPr/>
        <p:txBody>
          <a:bodyPr/>
          <a:lstStyle/>
          <a:p/>
        </p:txBody>
      </p:sp>
      <p:sp>
        <p:nvSpPr>
          <p:cNvPr id="35"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2C6C35E-77D5-44D3-BDAC-B5543070975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0C7ADA1-772B-4579-9E00-F6B7497D1E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2B3902-CF84-4254-82DC-94E5592C6A57}"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2" name="直接连接符 1"/>
          <p:cNvCxnSpPr/>
          <p:nvPr userDrawn="1">
            <p:custDataLst>
              <p:tags r:id="rId2"/>
            </p:custDataLst>
          </p:nvPr>
        </p:nvCxnSpPr>
        <p:spPr>
          <a:xfrm flipV="1">
            <a:off x="485334" y="593099"/>
            <a:ext cx="0" cy="287545"/>
          </a:xfrm>
          <a:prstGeom prst="line">
            <a:avLst/>
          </a:prstGeom>
          <a:ln w="28575">
            <a:solidFill>
              <a:srgbClr val="0070D8"/>
            </a:solidFill>
            <a:tailEnd type="non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custDataLst>
              <p:tags r:id="rId3"/>
            </p:custDataLst>
          </p:nvPr>
        </p:nvCxnSpPr>
        <p:spPr>
          <a:xfrm flipV="1">
            <a:off x="601196" y="591830"/>
            <a:ext cx="0" cy="288814"/>
          </a:xfrm>
          <a:prstGeom prst="line">
            <a:avLst/>
          </a:prstGeom>
          <a:ln w="152400">
            <a:solidFill>
              <a:srgbClr val="0070D8"/>
            </a:solidFil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1（蓝色）">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5" name="圆角矩形 4"/>
          <p:cNvSpPr/>
          <p:nvPr userDrawn="1"/>
        </p:nvSpPr>
        <p:spPr>
          <a:xfrm>
            <a:off x="0" y="0"/>
            <a:ext cx="3752850" cy="6905625"/>
          </a:xfrm>
          <a:prstGeom prst="roundRect">
            <a:avLst>
              <a:gd name="adj" fmla="val 0"/>
            </a:avLst>
          </a:prstGeom>
          <a:blipFill rotWithShape="1">
            <a:blip r:embed="rId3"/>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20" name="图形"/>
          <p:cNvSpPr/>
          <p:nvPr userDrawn="1"/>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charset="-122"/>
            </a:endParaRPr>
          </a:p>
        </p:txBody>
      </p:sp>
      <p:sp>
        <p:nvSpPr>
          <p:cNvPr id="3" name="标题 2"/>
          <p:cNvSpPr>
            <a:spLocks noGrp="1"/>
          </p:cNvSpPr>
          <p:nvPr>
            <p:ph type="title" hasCustomPrompt="1"/>
          </p:nvPr>
        </p:nvSpPr>
        <p:spPr>
          <a:xfrm>
            <a:off x="581025" y="637540"/>
            <a:ext cx="2891155" cy="936625"/>
          </a:xfrm>
        </p:spPr>
        <p:txBody>
          <a:bodyPr/>
          <a:lstStyle>
            <a:lvl1pPr>
              <a:lnSpc>
                <a:spcPct val="100000"/>
              </a:lnSpc>
              <a:defRPr sz="5400" b="1">
                <a:solidFill>
                  <a:schemeClr val="bg1"/>
                </a:solidFill>
                <a:latin typeface="微软雅黑" panose="020B0503020204020204" charset="-122"/>
                <a:ea typeface="微软雅黑" panose="020B0503020204020204" charset="-122"/>
              </a:defRPr>
            </a:lvl1pPr>
          </a:lstStyle>
          <a:p>
            <a:r>
              <a:rPr lang="zh-CN" altLang="en-US"/>
              <a:t>目录</a:t>
            </a:r>
            <a:endParaRPr lang="en-US" altLang="zh-CN"/>
          </a:p>
        </p:txBody>
      </p:sp>
      <p:sp>
        <p:nvSpPr>
          <p:cNvPr id="4" name="标题 2"/>
          <p:cNvSpPr>
            <a:spLocks noGrp="1"/>
          </p:cNvSpPr>
          <p:nvPr userDrawn="1"/>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sp>
        <p:nvSpPr>
          <p:cNvPr id="44" name="文本占位符 43"/>
          <p:cNvSpPr>
            <a:spLocks noGrp="1"/>
          </p:cNvSpPr>
          <p:nvPr>
            <p:ph type="body" idx="15" hasCustomPrompt="1"/>
          </p:nvPr>
        </p:nvSpPr>
        <p:spPr>
          <a:xfrm>
            <a:off x="6428105" y="1812925"/>
            <a:ext cx="4837430" cy="734695"/>
          </a:xfrm>
          <a:prstGeom prst="rect">
            <a:avLst/>
          </a:prstGeom>
        </p:spPr>
        <p:txBody>
          <a:bodyPr vert="horz" lIns="91440" tIns="45720" rIns="91440" bIns="45720" rtlCol="0" anchor="t" anchorCtr="0">
            <a:normAutofit/>
          </a:bodyPr>
          <a:lstStyle>
            <a:lvl1pPr marL="0" indent="0" algn="l" fontAlgn="ctr">
              <a:lnSpc>
                <a:spcPct val="150000"/>
              </a:lnSpc>
              <a:buNone/>
              <a:defRPr sz="2000">
                <a:solidFill>
                  <a:srgbClr val="262626"/>
                </a:solidFill>
              </a:defRPr>
            </a:lvl1pPr>
            <a:lvl2pPr marL="457200" indent="0">
              <a:lnSpc>
                <a:spcPct val="150000"/>
              </a:lnSpc>
              <a:buNone/>
              <a:defRPr sz="1400">
                <a:solidFill>
                  <a:schemeClr val="tx1">
                    <a:lumMod val="50000"/>
                    <a:lumOff val="50000"/>
                  </a:schemeClr>
                </a:solidFill>
              </a:defRPr>
            </a:lvl2pPr>
            <a:lvl3pPr marL="914400" indent="0">
              <a:buNone/>
              <a:defRPr/>
            </a:lvl3pPr>
          </a:lstStyle>
          <a:p>
            <a:pPr lvl="0"/>
            <a:r>
              <a:rPr lang="zh-CN" altLang="en-US" dirty="0"/>
              <a:t>在此处输入标题</a:t>
            </a:r>
            <a:endParaRPr lang="zh-CN" altLang="en-US" dirty="0"/>
          </a:p>
        </p:txBody>
      </p:sp>
      <p:sp>
        <p:nvSpPr>
          <p:cNvPr id="15" name="文本占位符 14"/>
          <p:cNvSpPr>
            <a:spLocks noGrp="1"/>
          </p:cNvSpPr>
          <p:nvPr>
            <p:ph type="body" idx="13" hasCustomPrompt="1"/>
          </p:nvPr>
        </p:nvSpPr>
        <p:spPr>
          <a:xfrm>
            <a:off x="5280025" y="1772285"/>
            <a:ext cx="717550" cy="723900"/>
          </a:xfrm>
          <a:prstGeom prst="rect">
            <a:avLst/>
          </a:prstGeom>
          <a:solidFill>
            <a:srgbClr val="0070D8"/>
          </a:solidFill>
        </p:spPr>
        <p:txBody>
          <a:bodyPr vert="horz" lIns="0" tIns="0" rIns="0" bIns="107950" rtlCol="0" anchor="ctr" anchorCtr="0">
            <a:noAutofit/>
          </a:bodyPr>
          <a:lstStyle>
            <a:lvl1pPr marL="0" indent="0" algn="ctr">
              <a:lnSpc>
                <a:spcPct val="150000"/>
              </a:lnSpc>
              <a:buNone/>
              <a:defRPr sz="2800" b="1">
                <a:solidFill>
                  <a:schemeClr val="bg1"/>
                </a:solidFill>
                <a:latin typeface="微软雅黑" panose="020B0503020204020204" charset="-122"/>
                <a:ea typeface="微软雅黑" panose="020B0503020204020204" charset="-122"/>
              </a:defRPr>
            </a:lvl1pPr>
            <a:lvl2pPr marL="457200" indent="0">
              <a:lnSpc>
                <a:spcPct val="150000"/>
              </a:lnSpc>
              <a:buNone/>
              <a:defRPr sz="1400">
                <a:solidFill>
                  <a:schemeClr val="tx1">
                    <a:lumMod val="50000"/>
                    <a:lumOff val="50000"/>
                  </a:schemeClr>
                </a:solidFill>
              </a:defRPr>
            </a:lvl2pPr>
            <a:lvl3pPr marL="914400" indent="0">
              <a:buNone/>
              <a:defRPr/>
            </a:lvl3pPr>
          </a:lstStyle>
          <a:p>
            <a:pPr lvl="0"/>
            <a:r>
              <a:rPr lang="en-US" altLang="zh-CN" dirty="0"/>
              <a:t>00</a:t>
            </a:r>
            <a:endParaRPr lang="en-US" altLang="zh-CN" dirty="0"/>
          </a:p>
        </p:txBody>
      </p:sp>
      <p:sp>
        <p:nvSpPr>
          <p:cNvPr id="8" name="文本占位符 7"/>
          <p:cNvSpPr>
            <a:spLocks noGrp="1"/>
          </p:cNvSpPr>
          <p:nvPr>
            <p:ph type="body" idx="14" hasCustomPrompt="1"/>
          </p:nvPr>
        </p:nvSpPr>
        <p:spPr>
          <a:xfrm>
            <a:off x="6452235" y="3109595"/>
            <a:ext cx="4837430" cy="734695"/>
          </a:xfrm>
          <a:prstGeom prst="rect">
            <a:avLst/>
          </a:prstGeom>
        </p:spPr>
        <p:txBody>
          <a:bodyPr vert="horz" lIns="91440" tIns="45720" rIns="91440" bIns="45720" rtlCol="0">
            <a:normAutofit/>
          </a:bodyPr>
          <a:lstStyle>
            <a:lvl1pPr marL="0" indent="0" algn="l">
              <a:lnSpc>
                <a:spcPct val="150000"/>
              </a:lnSpc>
              <a:buNone/>
              <a:defRPr sz="2000">
                <a:solidFill>
                  <a:srgbClr val="262626"/>
                </a:solidFill>
              </a:defRPr>
            </a:lvl1pPr>
            <a:lvl2pPr marL="457200" indent="0">
              <a:lnSpc>
                <a:spcPct val="150000"/>
              </a:lnSpc>
              <a:buNone/>
              <a:defRPr sz="1400">
                <a:solidFill>
                  <a:schemeClr val="tx1">
                    <a:lumMod val="50000"/>
                    <a:lumOff val="50000"/>
                  </a:schemeClr>
                </a:solidFill>
              </a:defRPr>
            </a:lvl2pPr>
            <a:lvl3pPr marL="914400" indent="0">
              <a:buNone/>
              <a:defRPr/>
            </a:lvl3pPr>
          </a:lstStyle>
          <a:p>
            <a:pPr lvl="0"/>
            <a:r>
              <a:rPr lang="zh-CN" altLang="en-US" dirty="0"/>
              <a:t>在此处输入标题</a:t>
            </a:r>
            <a:endParaRPr lang="zh-CN" altLang="en-US" dirty="0"/>
          </a:p>
        </p:txBody>
      </p:sp>
      <p:sp>
        <p:nvSpPr>
          <p:cNvPr id="9" name="文本占位符 8"/>
          <p:cNvSpPr>
            <a:spLocks noGrp="1"/>
          </p:cNvSpPr>
          <p:nvPr>
            <p:ph type="body" idx="16" hasCustomPrompt="1"/>
          </p:nvPr>
        </p:nvSpPr>
        <p:spPr>
          <a:xfrm>
            <a:off x="5304155" y="3068955"/>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a:lnSpc>
                <a:spcPct val="150000"/>
              </a:lnSpc>
              <a:buNone/>
              <a:defRPr sz="2800" b="1">
                <a:solidFill>
                  <a:schemeClr val="bg1"/>
                </a:solidFill>
                <a:latin typeface="微软雅黑" panose="020B0503020204020204" charset="-122"/>
                <a:ea typeface="微软雅黑" panose="020B0503020204020204" charset="-122"/>
              </a:defRPr>
            </a:lvl1pPr>
            <a:lvl2pPr marL="457200" indent="0">
              <a:lnSpc>
                <a:spcPct val="150000"/>
              </a:lnSpc>
              <a:buNone/>
              <a:defRPr sz="1400">
                <a:solidFill>
                  <a:schemeClr val="tx1">
                    <a:lumMod val="50000"/>
                    <a:lumOff val="50000"/>
                  </a:schemeClr>
                </a:solidFill>
              </a:defRPr>
            </a:lvl2pPr>
            <a:lvl3pPr marL="914400" indent="0">
              <a:buNone/>
              <a:defRPr/>
            </a:lvl3pPr>
          </a:lstStyle>
          <a:p>
            <a:pPr lvl="0"/>
            <a:r>
              <a:rPr lang="en-US" altLang="zh-CN" dirty="0"/>
              <a:t>00</a:t>
            </a:r>
            <a:endParaRPr lang="en-US" altLang="zh-CN" dirty="0"/>
          </a:p>
        </p:txBody>
      </p:sp>
      <p:sp>
        <p:nvSpPr>
          <p:cNvPr id="10" name="文本占位符 9"/>
          <p:cNvSpPr>
            <a:spLocks noGrp="1"/>
          </p:cNvSpPr>
          <p:nvPr>
            <p:ph type="body" idx="17" hasCustomPrompt="1"/>
          </p:nvPr>
        </p:nvSpPr>
        <p:spPr>
          <a:xfrm>
            <a:off x="6452235" y="4405630"/>
            <a:ext cx="4837430" cy="734695"/>
          </a:xfrm>
          <a:prstGeom prst="rect">
            <a:avLst/>
          </a:prstGeom>
        </p:spPr>
        <p:txBody>
          <a:bodyPr vert="horz" lIns="91440" tIns="45720" rIns="91440" bIns="45720" rtlCol="0">
            <a:normAutofit/>
          </a:bodyPr>
          <a:lstStyle>
            <a:lvl1pPr marL="0" indent="0" algn="l">
              <a:lnSpc>
                <a:spcPct val="150000"/>
              </a:lnSpc>
              <a:buNone/>
              <a:defRPr sz="2000">
                <a:solidFill>
                  <a:srgbClr val="262626"/>
                </a:solidFill>
              </a:defRPr>
            </a:lvl1pPr>
            <a:lvl2pPr marL="457200" indent="0">
              <a:lnSpc>
                <a:spcPct val="150000"/>
              </a:lnSpc>
              <a:buNone/>
              <a:defRPr sz="1400">
                <a:solidFill>
                  <a:schemeClr val="tx1">
                    <a:lumMod val="50000"/>
                    <a:lumOff val="50000"/>
                  </a:schemeClr>
                </a:solidFill>
              </a:defRPr>
            </a:lvl2pPr>
            <a:lvl3pPr marL="914400" indent="0">
              <a:buNone/>
              <a:defRPr/>
            </a:lvl3pPr>
          </a:lstStyle>
          <a:p>
            <a:pPr lvl="0"/>
            <a:r>
              <a:rPr lang="zh-CN" altLang="en-US" dirty="0"/>
              <a:t>在此处输入标题</a:t>
            </a:r>
            <a:endParaRPr lang="zh-CN" altLang="en-US" dirty="0"/>
          </a:p>
        </p:txBody>
      </p:sp>
      <p:sp>
        <p:nvSpPr>
          <p:cNvPr id="11" name="文本占位符 10"/>
          <p:cNvSpPr>
            <a:spLocks noGrp="1"/>
          </p:cNvSpPr>
          <p:nvPr>
            <p:ph type="body" idx="18" hasCustomPrompt="1"/>
          </p:nvPr>
        </p:nvSpPr>
        <p:spPr>
          <a:xfrm>
            <a:off x="5304155" y="4364990"/>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a:lnSpc>
                <a:spcPct val="150000"/>
              </a:lnSpc>
              <a:buNone/>
              <a:defRPr sz="2800" b="1">
                <a:solidFill>
                  <a:schemeClr val="bg1"/>
                </a:solidFill>
                <a:latin typeface="微软雅黑" panose="020B0503020204020204" charset="-122"/>
                <a:ea typeface="微软雅黑" panose="020B0503020204020204" charset="-122"/>
              </a:defRPr>
            </a:lvl1pPr>
            <a:lvl2pPr marL="457200" indent="0">
              <a:lnSpc>
                <a:spcPct val="150000"/>
              </a:lnSpc>
              <a:buNone/>
              <a:defRPr sz="1400">
                <a:solidFill>
                  <a:schemeClr val="tx1">
                    <a:lumMod val="50000"/>
                    <a:lumOff val="50000"/>
                  </a:schemeClr>
                </a:solidFill>
              </a:defRPr>
            </a:lvl2pPr>
            <a:lvl3pPr marL="914400" indent="0">
              <a:buNone/>
              <a:defRPr/>
            </a:lvl3pPr>
          </a:lstStyle>
          <a:p>
            <a:pPr lvl="0"/>
            <a:r>
              <a:rPr lang="en-US" altLang="zh-CN" dirty="0"/>
              <a:t>00</a:t>
            </a:r>
            <a:endParaRPr lang="en-US" altLang="zh-CN" dirty="0"/>
          </a:p>
        </p:txBody>
      </p:sp>
      <p:sp>
        <p:nvSpPr>
          <p:cNvPr id="12" name="灯片编号占位符 11"/>
          <p:cNvSpPr>
            <a:spLocks noGrp="1"/>
          </p:cNvSpPr>
          <p:nvPr>
            <p:ph type="sldNum" sz="quarter" idx="12"/>
          </p:nvPr>
        </p:nvSpPr>
        <p:spPr>
          <a:xfrm>
            <a:off x="11168380" y="6514465"/>
            <a:ext cx="1031240" cy="365125"/>
          </a:xfrm>
        </p:spPr>
        <p:txBody>
          <a:bodyPr/>
          <a:lstStyle>
            <a:lvl1pPr algn="r">
              <a:defRPr sz="1200">
                <a:solidFill>
                  <a:schemeClr val="tx1">
                    <a:lumMod val="50000"/>
                    <a:lumOff val="50000"/>
                    <a:alpha val="50000"/>
                  </a:schemeClr>
                </a:solidFill>
              </a:defRPr>
            </a:lvl1p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C7ADA1-772B-4579-9E00-F6B7497D1EE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2B3902-CF84-4254-82DC-94E5592C6A5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image" Target="../media/image7.png"/><Relationship Id="rId2" Type="http://schemas.openxmlformats.org/officeDocument/2006/relationships/tags" Target="../tags/tag9.xml"/><Relationship Id="rId10" Type="http://schemas.openxmlformats.org/officeDocument/2006/relationships/notesSlide" Target="../notesSlides/notesSlide3.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8.png"/><Relationship Id="rId10" Type="http://schemas.openxmlformats.org/officeDocument/2006/relationships/notesSlide" Target="../notesSlides/notesSlide4.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ags" Target="../tags/tag21.xml"/><Relationship Id="rId2" Type="http://schemas.openxmlformats.org/officeDocument/2006/relationships/image" Target="../media/image9.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2" Type="http://schemas.openxmlformats.org/officeDocument/2006/relationships/notesSlide" Target="../notesSlides/notesSlide6.xml"/><Relationship Id="rId11" Type="http://schemas.openxmlformats.org/officeDocument/2006/relationships/slideLayout" Target="../slideLayouts/slideLayout2.xml"/><Relationship Id="rId10" Type="http://schemas.openxmlformats.org/officeDocument/2006/relationships/image" Target="../media/image18.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3" Type="http://schemas.openxmlformats.org/officeDocument/2006/relationships/notesSlide" Target="../notesSlides/notesSlide8.xml"/><Relationship Id="rId12" Type="http://schemas.openxmlformats.org/officeDocument/2006/relationships/slideLayout" Target="../slideLayouts/slideLayout2.xml"/><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3.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jpeg"/><Relationship Id="rId2" Type="http://schemas.openxmlformats.org/officeDocument/2006/relationships/image" Target="../media/image6.jpeg"/><Relationship Id="rId1" Type="http://schemas.openxmlformats.org/officeDocument/2006/relationships/tags" Target="../tags/tag35.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image" Target="../media/image22.jpe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2.jpe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2.jpe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image" Target="../media/image33.sv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tags" Target="../tags/tag38.xml"/><Relationship Id="rId3" Type="http://schemas.openxmlformats.org/officeDocument/2006/relationships/image" Target="../media/image30.png"/><Relationship Id="rId2" Type="http://schemas.openxmlformats.org/officeDocument/2006/relationships/image" Target="../media/image22.jpe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22.jpeg"/><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22.jpeg"/><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image" Target="../media/image41.sv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6.png"/><Relationship Id="rId2" Type="http://schemas.openxmlformats.org/officeDocument/2006/relationships/image" Target="../media/image22.jpe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7.png"/><Relationship Id="rId7" Type="http://schemas.openxmlformats.org/officeDocument/2006/relationships/image" Target="../media/image41.sv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6.png"/><Relationship Id="rId2" Type="http://schemas.openxmlformats.org/officeDocument/2006/relationships/image" Target="../media/image22.jpeg"/><Relationship Id="rId10" Type="http://schemas.openxmlformats.org/officeDocument/2006/relationships/notesSlide" Target="../notesSlides/notesSlide19.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tags" Target="../tags/tag40.xml"/><Relationship Id="rId4" Type="http://schemas.openxmlformats.org/officeDocument/2006/relationships/image" Target="../media/image42.png"/><Relationship Id="rId3" Type="http://schemas.openxmlformats.org/officeDocument/2006/relationships/tags" Target="../tags/tag39.xml"/><Relationship Id="rId2" Type="http://schemas.openxmlformats.org/officeDocument/2006/relationships/image" Target="../media/image22.jpe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image" Target="../media/image43.png"/><Relationship Id="rId3" Type="http://schemas.openxmlformats.org/officeDocument/2006/relationships/tags" Target="../tags/tag41.xml"/><Relationship Id="rId2" Type="http://schemas.openxmlformats.org/officeDocument/2006/relationships/image" Target="../media/image22.jpeg"/><Relationship Id="rId14" Type="http://schemas.openxmlformats.org/officeDocument/2006/relationships/notesSlide" Target="../notesSlides/notesSlide22.xml"/><Relationship Id="rId13" Type="http://schemas.openxmlformats.org/officeDocument/2006/relationships/slideLayout" Target="../slideLayouts/slideLayout2.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png"/><Relationship Id="rId4" Type="http://schemas.openxmlformats.org/officeDocument/2006/relationships/image" Target="../media/image46.jpe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8"/>
          <p:cNvSpPr txBox="1">
            <a:spLocks noChangeArrowheads="1"/>
          </p:cNvSpPr>
          <p:nvPr/>
        </p:nvSpPr>
        <p:spPr bwMode="auto">
          <a:xfrm>
            <a:off x="11034162" y="6145780"/>
            <a:ext cx="894080" cy="337185"/>
          </a:xfrm>
          <a:prstGeom prst="rect">
            <a:avLst/>
          </a:prstGeom>
          <a:noFill/>
          <a:ln>
            <a:noFill/>
          </a:ln>
        </p:spPr>
        <p:txBody>
          <a:bodyPr wrap="none">
            <a:spAutoFit/>
          </a:bodyPr>
          <a:lstStyle>
            <a:lvl1pPr>
              <a:defRPr>
                <a:solidFill>
                  <a:schemeClr val="tx1"/>
                </a:solidFill>
                <a:latin typeface="微软雅黑" panose="020B0503020204020204" charset="-122"/>
                <a:ea typeface="微软雅黑" panose="020B0503020204020204" charset="-122"/>
              </a:defRPr>
            </a:lvl1pPr>
            <a:lvl2pPr marL="742950" indent="-285750">
              <a:defRPr>
                <a:solidFill>
                  <a:schemeClr val="tx1"/>
                </a:solidFill>
                <a:latin typeface="微软雅黑" panose="020B0503020204020204" charset="-122"/>
                <a:ea typeface="微软雅黑" panose="020B0503020204020204" charset="-122"/>
              </a:defRPr>
            </a:lvl2pPr>
            <a:lvl3pPr marL="1143000" indent="-228600">
              <a:defRPr>
                <a:solidFill>
                  <a:schemeClr val="tx1"/>
                </a:solidFill>
                <a:latin typeface="微软雅黑" panose="020B0503020204020204" charset="-122"/>
                <a:ea typeface="微软雅黑" panose="020B0503020204020204" charset="-122"/>
              </a:defRPr>
            </a:lvl3pPr>
            <a:lvl4pPr marL="1600200" indent="-228600">
              <a:defRPr>
                <a:solidFill>
                  <a:schemeClr val="tx1"/>
                </a:solidFill>
                <a:latin typeface="微软雅黑" panose="020B0503020204020204" charset="-122"/>
                <a:ea typeface="微软雅黑" panose="020B0503020204020204" charset="-122"/>
              </a:defRPr>
            </a:lvl4pPr>
            <a:lvl5pPr marL="2057400" indent="-228600">
              <a:defRPr>
                <a:solidFill>
                  <a:schemeClr val="tx1"/>
                </a:solidFill>
                <a:latin typeface="微软雅黑" panose="020B0503020204020204" charset="-122"/>
                <a:ea typeface="微软雅黑" panose="020B0503020204020204" charset="-122"/>
              </a:defRPr>
            </a:lvl5pPr>
            <a:lvl6pPr marL="25146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6pPr>
            <a:lvl7pPr marL="29718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7pPr>
            <a:lvl8pPr marL="34290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8pPr>
            <a:lvl9pPr marL="38862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9pPr>
          </a:lstStyle>
          <a:p>
            <a:pPr algn="r">
              <a:defRPr/>
            </a:pPr>
            <a:r>
              <a:rPr kumimoji="0" lang="zh-CN" altLang="en-US" sz="80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sym typeface="微软雅黑" panose="020B0503020204020204" charset="-122"/>
              </a:rPr>
              <a:t>汇报人：黄韵淇</a:t>
            </a:r>
            <a:endParaRPr kumimoji="0" lang="zh-CN" altLang="en-US" sz="80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sym typeface="微软雅黑" panose="020B0503020204020204" charset="-122"/>
            </a:endParaRPr>
          </a:p>
          <a:p>
            <a:pPr algn="r">
              <a:defRPr/>
            </a:pPr>
            <a:r>
              <a:rPr kumimoji="0" lang="zh-CN" altLang="en-US" sz="80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sym typeface="微软雅黑" panose="020B0503020204020204" charset="-122"/>
              </a:rPr>
              <a:t>团队：神谕战队</a:t>
            </a:r>
            <a:endParaRPr kumimoji="0" lang="zh-CN" altLang="en-US" sz="800" i="0" u="none" strike="noStrike" kern="1200" cap="none" spc="0" normalizeH="0" baseline="0" noProof="0" dirty="0">
              <a:ln>
                <a:noFill/>
              </a:ln>
              <a:solidFill>
                <a:prstClr val="white">
                  <a:lumMod val="65000"/>
                </a:prstClr>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8" name="文本框 17"/>
          <p:cNvSpPr txBox="1"/>
          <p:nvPr/>
        </p:nvSpPr>
        <p:spPr>
          <a:xfrm>
            <a:off x="501899" y="4206875"/>
            <a:ext cx="4094480" cy="7683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深智城集团简介</a:t>
            </a:r>
            <a:endParaRPr kumimoji="0" lang="zh-CN" altLang="en-US" sz="4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grpSp>
        <p:nvGrpSpPr>
          <p:cNvPr id="4" name="组合 3"/>
          <p:cNvGrpSpPr/>
          <p:nvPr/>
        </p:nvGrpSpPr>
        <p:grpSpPr>
          <a:xfrm>
            <a:off x="0" y="-17035"/>
            <a:ext cx="12192000" cy="5840501"/>
            <a:chOff x="-2934" y="0"/>
            <a:chExt cx="12194934" cy="5823466"/>
          </a:xfrm>
        </p:grpSpPr>
        <p:grpSp>
          <p:nvGrpSpPr>
            <p:cNvPr id="22" name="组合 21"/>
            <p:cNvGrpSpPr/>
            <p:nvPr/>
          </p:nvGrpSpPr>
          <p:grpSpPr>
            <a:xfrm>
              <a:off x="-2934" y="0"/>
              <a:ext cx="12194934" cy="5093335"/>
              <a:chOff x="-2934" y="0"/>
              <a:chExt cx="12194934" cy="5093335"/>
            </a:xfrm>
          </p:grpSpPr>
          <p:pic>
            <p:nvPicPr>
              <p:cNvPr id="10" name="图片 9" descr="背景图案&#10;&#10;中度可信度描述已自动生成"/>
              <p:cNvPicPr>
                <a:picLocks noChangeAspect="1"/>
              </p:cNvPicPr>
              <p:nvPr/>
            </p:nvPicPr>
            <p:blipFill rotWithShape="1">
              <a:blip r:embed="rId1" cstate="print">
                <a:extLst>
                  <a:ext uri="{28A0092B-C50C-407E-A947-70E740481C1C}">
                    <a14:useLocalDpi xmlns:a14="http://schemas.microsoft.com/office/drawing/2010/main" val="0"/>
                  </a:ext>
                </a:extLst>
              </a:blip>
              <a:srcRect t="19720"/>
              <a:stretch>
                <a:fillRect/>
              </a:stretch>
            </p:blipFill>
            <p:spPr>
              <a:xfrm>
                <a:off x="-2934" y="0"/>
                <a:ext cx="12194934" cy="5092700"/>
              </a:xfrm>
              <a:prstGeom prst="rect">
                <a:avLst/>
              </a:prstGeom>
            </p:spPr>
          </p:pic>
          <p:pic>
            <p:nvPicPr>
              <p:cNvPr id="19" name="图片 18" descr="背景图案&#10;&#10;中度可信度描述已自动生成"/>
              <p:cNvPicPr>
                <a:picLocks noChangeAspect="1"/>
              </p:cNvPicPr>
              <p:nvPr/>
            </p:nvPicPr>
            <p:blipFill rotWithShape="1">
              <a:blip r:embed="rId2">
                <a:extLst>
                  <a:ext uri="{28A0092B-C50C-407E-A947-70E740481C1C}">
                    <a14:useLocalDpi xmlns:a14="http://schemas.microsoft.com/office/drawing/2010/main" val="0"/>
                  </a:ext>
                </a:extLst>
              </a:blip>
              <a:srcRect t="94061"/>
              <a:stretch>
                <a:fillRect/>
              </a:stretch>
            </p:blipFill>
            <p:spPr>
              <a:xfrm>
                <a:off x="0" y="4089400"/>
                <a:ext cx="12189066" cy="1003300"/>
              </a:xfrm>
              <a:prstGeom prst="rect">
                <a:avLst/>
              </a:prstGeom>
            </p:spPr>
          </p:pic>
          <p:sp>
            <p:nvSpPr>
              <p:cNvPr id="17" name="图形"/>
              <p:cNvSpPr/>
              <p:nvPr/>
            </p:nvSpPr>
            <p:spPr>
              <a:xfrm>
                <a:off x="-2934" y="0"/>
                <a:ext cx="12194934" cy="5093335"/>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charset="-122"/>
                </a:endParaRPr>
              </a:p>
            </p:txBody>
          </p:sp>
        </p:grpSp>
        <p:pic>
          <p:nvPicPr>
            <p:cNvPr id="23" name="图片 22"/>
            <p:cNvPicPr>
              <a:picLocks noChangeAspect="1"/>
            </p:cNvPicPr>
            <p:nvPr/>
          </p:nvPicPr>
          <p:blipFill>
            <a:blip r:embed="rId3"/>
            <a:stretch>
              <a:fillRect/>
            </a:stretch>
          </p:blipFill>
          <p:spPr>
            <a:xfrm>
              <a:off x="-1467" y="4843969"/>
              <a:ext cx="12192000" cy="979497"/>
            </a:xfrm>
            <a:prstGeom prst="rect">
              <a:avLst/>
            </a:prstGeom>
          </p:spPr>
        </p:pic>
      </p:grpSp>
      <p:sp>
        <p:nvSpPr>
          <p:cNvPr id="13" name="文本框 4"/>
          <p:cNvSpPr txBox="1">
            <a:spLocks noChangeArrowheads="1"/>
          </p:cNvSpPr>
          <p:nvPr>
            <p:custDataLst>
              <p:tags r:id="rId4"/>
            </p:custDataLst>
          </p:nvPr>
        </p:nvSpPr>
        <p:spPr bwMode="auto">
          <a:xfrm>
            <a:off x="231860" y="4207030"/>
            <a:ext cx="10773410" cy="829945"/>
          </a:xfrm>
          <a:prstGeom prst="rect">
            <a:avLst/>
          </a:prstGeom>
          <a:noFill/>
          <a:ln>
            <a:noFill/>
          </a:ln>
          <a:effectLst>
            <a:outerShdw blurRad="76200" dist="12700" dir="8100000" sy="-23000" kx="800400" algn="br" rotWithShape="0">
              <a:prstClr val="black">
                <a:alpha val="2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charset="-122"/>
                <a:ea typeface="微软雅黑" panose="020B0503020204020204" charset="-122"/>
              </a:defRPr>
            </a:lvl1pPr>
            <a:lvl2pPr marL="742950" indent="-285750">
              <a:defRPr>
                <a:solidFill>
                  <a:schemeClr val="tx1"/>
                </a:solidFill>
                <a:latin typeface="微软雅黑" panose="020B0503020204020204" charset="-122"/>
                <a:ea typeface="微软雅黑" panose="020B0503020204020204" charset="-122"/>
              </a:defRPr>
            </a:lvl2pPr>
            <a:lvl3pPr marL="1143000" indent="-228600">
              <a:defRPr>
                <a:solidFill>
                  <a:schemeClr val="tx1"/>
                </a:solidFill>
                <a:latin typeface="微软雅黑" panose="020B0503020204020204" charset="-122"/>
                <a:ea typeface="微软雅黑" panose="020B0503020204020204" charset="-122"/>
              </a:defRPr>
            </a:lvl3pPr>
            <a:lvl4pPr marL="1600200" indent="-228600">
              <a:defRPr>
                <a:solidFill>
                  <a:schemeClr val="tx1"/>
                </a:solidFill>
                <a:latin typeface="微软雅黑" panose="020B0503020204020204" charset="-122"/>
                <a:ea typeface="微软雅黑" panose="020B0503020204020204" charset="-122"/>
              </a:defRPr>
            </a:lvl4pPr>
            <a:lvl5pPr marL="2057400" indent="-228600">
              <a:defRPr>
                <a:solidFill>
                  <a:schemeClr val="tx1"/>
                </a:solidFill>
                <a:latin typeface="微软雅黑" panose="020B0503020204020204" charset="-122"/>
                <a:ea typeface="微软雅黑" panose="020B0503020204020204" charset="-122"/>
              </a:defRPr>
            </a:lvl5pPr>
            <a:lvl6pPr marL="25146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6pPr>
            <a:lvl7pPr marL="29718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7pPr>
            <a:lvl8pPr marL="34290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8pPr>
            <a:lvl9pPr marL="38862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9pPr>
          </a:lstStyle>
          <a:p>
            <a:pPr algn="l">
              <a:buClrTx/>
              <a:buSzTx/>
              <a:buFontTx/>
            </a:pPr>
            <a:r>
              <a:rPr kumimoji="0" lang="zh-CN" altLang="en-US" sz="4800" b="1" i="0" u="none" strike="noStrike" kern="1200" cap="none" spc="0" normalizeH="0" baseline="0" noProof="0" dirty="0">
                <a:ln>
                  <a:noFill/>
                </a:ln>
                <a:solidFill>
                  <a:prstClr val="white"/>
                </a:solidFill>
                <a:effectLst/>
                <a:uLnTx/>
                <a:uFillTx/>
                <a:latin typeface="Arial" panose="020B0604020202020204" pitchFamily="34" charset="0"/>
                <a:ea typeface="汉仪文黑-85简" panose="00020600040101010101" charset="-122"/>
                <a:cs typeface="+mn-cs"/>
                <a:sym typeface="微软雅黑" panose="020B0503020204020204" charset="-122"/>
              </a:rPr>
              <a:t>东软灵犀</a:t>
            </a:r>
            <a:r>
              <a:rPr kumimoji="0" lang="en-US" altLang="zh-CN" sz="4800" b="1" i="0" u="none" strike="noStrike" kern="1200" cap="none" spc="0" normalizeH="0" baseline="0" noProof="0" dirty="0">
                <a:ln>
                  <a:noFill/>
                </a:ln>
                <a:solidFill>
                  <a:prstClr val="white"/>
                </a:solidFill>
                <a:effectLst/>
                <a:uLnTx/>
                <a:uFillTx/>
                <a:latin typeface="Arial" panose="020B0604020202020204" pitchFamily="34" charset="0"/>
                <a:ea typeface="汉仪文黑-85简" panose="00020600040101010101" charset="-122"/>
                <a:cs typeface="+mn-cs"/>
                <a:sym typeface="微软雅黑" panose="020B0503020204020204" charset="-122"/>
              </a:rPr>
              <a:t> · Open Harmony </a:t>
            </a:r>
            <a:r>
              <a:rPr kumimoji="0" lang="zh-CN" altLang="en-US" sz="4800" b="1" i="0" u="none" strike="noStrike" kern="1200" cap="none" spc="0" normalizeH="0" baseline="0" noProof="0" dirty="0">
                <a:ln>
                  <a:noFill/>
                </a:ln>
                <a:solidFill>
                  <a:prstClr val="white"/>
                </a:solidFill>
                <a:effectLst/>
                <a:uLnTx/>
                <a:uFillTx/>
                <a:latin typeface="Arial" panose="020B0604020202020204" pitchFamily="34" charset="0"/>
                <a:ea typeface="汉仪文黑-85简" panose="00020600040101010101" charset="-122"/>
                <a:cs typeface="+mn-cs"/>
                <a:sym typeface="微软雅黑" panose="020B0503020204020204" charset="-122"/>
              </a:rPr>
              <a:t>校园智能体</a:t>
            </a:r>
            <a:endParaRPr kumimoji="0" lang="zh-CN" altLang="en-US" sz="4800" b="1" i="0" u="none" strike="noStrike" kern="1200" cap="none" spc="0" normalizeH="0" baseline="0" noProof="0" dirty="0">
              <a:ln>
                <a:noFill/>
              </a:ln>
              <a:solidFill>
                <a:prstClr val="white"/>
              </a:solidFill>
              <a:effectLst/>
              <a:uLnTx/>
              <a:uFillTx/>
              <a:latin typeface="Arial" panose="020B0604020202020204" pitchFamily="34" charset="0"/>
              <a:ea typeface="汉仪文黑-85简" panose="00020600040101010101" charset="-122"/>
              <a:cs typeface="+mn-cs"/>
              <a:sym typeface="微软雅黑" panose="020B0503020204020204" charset="-122"/>
            </a:endParaRPr>
          </a:p>
        </p:txBody>
      </p:sp>
      <p:sp>
        <p:nvSpPr>
          <p:cNvPr id="2" name="文本框 4"/>
          <p:cNvSpPr txBox="1">
            <a:spLocks noChangeArrowheads="1"/>
          </p:cNvSpPr>
          <p:nvPr>
            <p:custDataLst>
              <p:tags r:id="rId5"/>
            </p:custDataLst>
          </p:nvPr>
        </p:nvSpPr>
        <p:spPr bwMode="auto">
          <a:xfrm>
            <a:off x="231860" y="6145685"/>
            <a:ext cx="8491220" cy="460375"/>
          </a:xfrm>
          <a:prstGeom prst="rect">
            <a:avLst/>
          </a:prstGeom>
          <a:noFill/>
          <a:ln>
            <a:noFill/>
          </a:ln>
          <a:effectLst>
            <a:outerShdw blurRad="76200" dist="12700" dir="8100000" sy="-23000" kx="800400" algn="br" rotWithShape="0">
              <a:prstClr val="black">
                <a:alpha val="2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微软雅黑" panose="020B0503020204020204" charset="-122"/>
                <a:ea typeface="微软雅黑" panose="020B0503020204020204" charset="-122"/>
              </a:defRPr>
            </a:lvl1pPr>
            <a:lvl2pPr marL="742950" indent="-285750">
              <a:defRPr>
                <a:solidFill>
                  <a:schemeClr val="tx1"/>
                </a:solidFill>
                <a:latin typeface="微软雅黑" panose="020B0503020204020204" charset="-122"/>
                <a:ea typeface="微软雅黑" panose="020B0503020204020204" charset="-122"/>
              </a:defRPr>
            </a:lvl2pPr>
            <a:lvl3pPr marL="1143000" indent="-228600">
              <a:defRPr>
                <a:solidFill>
                  <a:schemeClr val="tx1"/>
                </a:solidFill>
                <a:latin typeface="微软雅黑" panose="020B0503020204020204" charset="-122"/>
                <a:ea typeface="微软雅黑" panose="020B0503020204020204" charset="-122"/>
              </a:defRPr>
            </a:lvl3pPr>
            <a:lvl4pPr marL="1600200" indent="-228600">
              <a:defRPr>
                <a:solidFill>
                  <a:schemeClr val="tx1"/>
                </a:solidFill>
                <a:latin typeface="微软雅黑" panose="020B0503020204020204" charset="-122"/>
                <a:ea typeface="微软雅黑" panose="020B0503020204020204" charset="-122"/>
              </a:defRPr>
            </a:lvl4pPr>
            <a:lvl5pPr marL="2057400" indent="-228600">
              <a:defRPr>
                <a:solidFill>
                  <a:schemeClr val="tx1"/>
                </a:solidFill>
                <a:latin typeface="微软雅黑" panose="020B0503020204020204" charset="-122"/>
                <a:ea typeface="微软雅黑" panose="020B0503020204020204" charset="-122"/>
              </a:defRPr>
            </a:lvl5pPr>
            <a:lvl6pPr marL="25146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6pPr>
            <a:lvl7pPr marL="29718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7pPr>
            <a:lvl8pPr marL="34290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8pPr>
            <a:lvl9pPr marL="38862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9pPr>
          </a:lstStyle>
          <a:p>
            <a:pPr algn="l">
              <a:buClrTx/>
              <a:buSzTx/>
              <a:buFontTx/>
            </a:pPr>
            <a:r>
              <a:rPr kumimoji="1" lang="zh-CN" altLang="en-US" sz="2400" dirty="0">
                <a:solidFill>
                  <a:schemeClr val="tx1"/>
                </a:solidFill>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构建知识图谱与LLM</a:t>
            </a:r>
            <a:r>
              <a:rPr kumimoji="1" lang="en-US" altLang="zh-CN" sz="2400" dirty="0">
                <a:solidFill>
                  <a:schemeClr val="tx1"/>
                </a:solidFill>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s</a:t>
            </a:r>
            <a:r>
              <a:rPr kumimoji="1" lang="zh-CN" altLang="en-US" sz="2400" dirty="0">
                <a:solidFill>
                  <a:schemeClr val="tx1"/>
                </a:solidFill>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深度集成的教辅智能体（</a:t>
            </a:r>
            <a:r>
              <a:rPr kumimoji="1" lang="en-US" altLang="zh-CN" sz="2400" dirty="0">
                <a:solidFill>
                  <a:schemeClr val="tx1"/>
                </a:solidFill>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KG-Agent</a:t>
            </a:r>
            <a:r>
              <a:rPr kumimoji="1" lang="zh-CN" altLang="en-US" sz="2400" dirty="0">
                <a:solidFill>
                  <a:schemeClr val="tx1"/>
                </a:solidFill>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a:t>
            </a:r>
            <a:endParaRPr kumimoji="1" lang="zh-CN" altLang="en-US" sz="2400" b="1" i="0" u="none" strike="noStrike" kern="1200" cap="none" spc="0" normalizeH="0" baseline="0" noProof="0" dirty="0">
              <a:ln>
                <a:noFill/>
              </a:ln>
              <a:solidFill>
                <a:schemeClr val="tx1"/>
              </a:solidFill>
              <a:effectLst/>
              <a:uLnTx/>
              <a:uFillTx/>
              <a:latin typeface="方正兰亭黑简体" panose="02000000000000000000" pitchFamily="2" charset="-122"/>
              <a:ea typeface="方正兰亭黑简体" panose="02000000000000000000" pitchFamily="2" charset="-122"/>
              <a:cs typeface="方正兰亭黑简体" panose="02000000000000000000"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五边形 9"/>
          <p:cNvSpPr/>
          <p:nvPr userDrawn="1"/>
        </p:nvSpPr>
        <p:spPr>
          <a:xfrm>
            <a:off x="6449360" y="1211580"/>
            <a:ext cx="3207547" cy="725170"/>
          </a:xfrm>
          <a:prstGeom prst="homePlate">
            <a:avLst/>
          </a:prstGeom>
          <a:solidFill>
            <a:srgbClr val="0070D8">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标题 2"/>
          <p:cNvSpPr>
            <a:spLocks noGrp="1"/>
          </p:cNvSpPr>
          <p:nvPr>
            <p:ph type="title"/>
          </p:nvPr>
        </p:nvSpPr>
        <p:spPr>
          <a:xfrm>
            <a:off x="581025" y="637540"/>
            <a:ext cx="2891155" cy="936625"/>
          </a:xfrm>
        </p:spPr>
        <p:txBody>
          <a:bodyPr/>
          <a:lstStyle/>
          <a:p>
            <a:r>
              <a:rPr lang="zh-CN" altLang="en-US"/>
              <a:t>目录</a:t>
            </a:r>
            <a:endParaRPr lang="zh-CN" altLang="en-US"/>
          </a:p>
        </p:txBody>
      </p:sp>
      <p:sp>
        <p:nvSpPr>
          <p:cNvPr id="70" name="文本占位符 4"/>
          <p:cNvSpPr>
            <a:spLocks noGrp="1"/>
          </p:cNvSpPr>
          <p:nvPr>
            <p:ph type="body" idx="13"/>
          </p:nvPr>
        </p:nvSpPr>
        <p:spPr>
          <a:xfrm>
            <a:off x="5322272" y="1238736"/>
            <a:ext cx="717550" cy="723900"/>
          </a:xfrm>
          <a:solidFill>
            <a:srgbClr val="0070D8"/>
          </a:solidFill>
        </p:spPr>
        <p:txBody>
          <a:bodyPr vert="horz" lIns="0" tIns="0" rIns="0" bIns="107950" rtlCol="0" anchor="ctr" anchorCtr="0">
            <a:noAutofit/>
          </a:bodyPr>
          <a:lstStyle/>
          <a:p>
            <a:r>
              <a:rPr lang="en-US" altLang="zh-CN" dirty="0"/>
              <a:t>01</a:t>
            </a:r>
            <a:endParaRPr lang="en-US" altLang="zh-CN" dirty="0"/>
          </a:p>
        </p:txBody>
      </p:sp>
      <p:sp>
        <p:nvSpPr>
          <p:cNvPr id="71" name="文本占位符 5"/>
          <p:cNvSpPr>
            <a:spLocks noGrp="1"/>
          </p:cNvSpPr>
          <p:nvPr>
            <p:ph type="body" idx="14"/>
          </p:nvPr>
        </p:nvSpPr>
        <p:spPr>
          <a:xfrm>
            <a:off x="6470352" y="3621872"/>
            <a:ext cx="4837430" cy="734695"/>
          </a:xfrm>
        </p:spPr>
        <p:txBody>
          <a:bodyPr/>
          <a:lstStyle/>
          <a:p>
            <a:r>
              <a:rPr lang="zh-CN" altLang="en-US" spc="150" dirty="0">
                <a:uFillTx/>
                <a:sym typeface="+mn-ea"/>
              </a:rPr>
              <a:t>业务场景介绍</a:t>
            </a:r>
            <a:endParaRPr lang="zh-CN" altLang="en-US" spc="150" dirty="0">
              <a:uFillTx/>
              <a:sym typeface="+mn-ea"/>
            </a:endParaRPr>
          </a:p>
        </p:txBody>
      </p:sp>
      <p:sp>
        <p:nvSpPr>
          <p:cNvPr id="72" name="文本占位符 6"/>
          <p:cNvSpPr>
            <a:spLocks noGrp="1"/>
          </p:cNvSpPr>
          <p:nvPr>
            <p:ph type="body" idx="16"/>
          </p:nvPr>
        </p:nvSpPr>
        <p:spPr>
          <a:xfrm>
            <a:off x="5322272" y="3602870"/>
            <a:ext cx="717550" cy="723900"/>
          </a:xfrm>
          <a:solidFill>
            <a:schemeClr val="tx1">
              <a:lumMod val="50000"/>
              <a:lumOff val="50000"/>
            </a:schemeClr>
          </a:solidFill>
        </p:spPr>
        <p:txBody>
          <a:bodyPr vert="horz" lIns="0" tIns="0" rIns="0" bIns="107950" rtlCol="0" anchor="ctr" anchorCtr="0">
            <a:noAutofit/>
          </a:bodyPr>
          <a:lstStyle/>
          <a:p>
            <a:r>
              <a:rPr lang="en-US" altLang="zh-CN" dirty="0"/>
              <a:t>03</a:t>
            </a:r>
            <a:endParaRPr dirty="0"/>
          </a:p>
        </p:txBody>
      </p:sp>
      <p:sp>
        <p:nvSpPr>
          <p:cNvPr id="73" name="文本占位符 7"/>
          <p:cNvSpPr>
            <a:spLocks noGrp="1"/>
          </p:cNvSpPr>
          <p:nvPr>
            <p:ph type="body" idx="17"/>
          </p:nvPr>
        </p:nvSpPr>
        <p:spPr>
          <a:xfrm>
            <a:off x="6473490" y="1252220"/>
            <a:ext cx="2514637" cy="734695"/>
          </a:xfrm>
        </p:spPr>
        <p:txBody>
          <a:bodyPr/>
          <a:lstStyle/>
          <a:p>
            <a:r>
              <a:rPr lang="zh-CN" altLang="en-US" spc="150" dirty="0">
                <a:uFillTx/>
              </a:rPr>
              <a:t>产品方案介绍</a:t>
            </a:r>
            <a:endParaRPr lang="zh-CN" altLang="en-US" spc="150" dirty="0">
              <a:uFillTx/>
            </a:endParaRPr>
          </a:p>
        </p:txBody>
      </p:sp>
      <p:sp>
        <p:nvSpPr>
          <p:cNvPr id="75" name="灯片编号占位符 1"/>
          <p:cNvSpPr>
            <a:spLocks noGrp="1"/>
          </p:cNvSpPr>
          <p:nvPr>
            <p:ph type="sldNum" sz="quarter" idx="12"/>
          </p:nvPr>
        </p:nvSpPr>
        <p:spPr>
          <a:xfrm>
            <a:off x="11160760" y="5954395"/>
            <a:ext cx="1031240" cy="365125"/>
          </a:xfrm>
        </p:spPr>
        <p:txBody>
          <a:bodyPr/>
          <a:lstStyle/>
          <a:p>
            <a:fld id="{E077DA78-E013-4A8C-AD75-63A150561B10}" type="slidenum">
              <a:rPr/>
            </a:fld>
            <a:endParaRPr lang="zh-CN" altLang="en-US" dirty="0"/>
          </a:p>
        </p:txBody>
      </p:sp>
      <p:sp>
        <p:nvSpPr>
          <p:cNvPr id="76" name="文本占位符 7"/>
          <p:cNvSpPr txBox="1"/>
          <p:nvPr>
            <p:custDataLst>
              <p:tags r:id="rId1"/>
            </p:custDataLst>
          </p:nvPr>
        </p:nvSpPr>
        <p:spPr>
          <a:xfrm>
            <a:off x="6470352" y="4894925"/>
            <a:ext cx="4837430" cy="734695"/>
          </a:xfrm>
          <a:prstGeom prst="rect">
            <a:avLst/>
          </a:prstGeom>
        </p:spPr>
        <p:txBody>
          <a:bodyPr vert="horz" lIns="91440" tIns="45720" rIns="91440" bIns="45720" rtlCol="0">
            <a:normAutofit/>
          </a:bodyPr>
          <a:lstStyle>
            <a:lvl1pPr marL="0" indent="0" algn="l" defTabSz="914400" rtl="0" eaLnBrk="1" fontAlgn="auto" latinLnBrk="0" hangingPunct="1">
              <a:lnSpc>
                <a:spcPct val="150000"/>
              </a:lnSpc>
              <a:spcBef>
                <a:spcPts val="0"/>
              </a:spcBef>
              <a:spcAft>
                <a:spcPts val="1000"/>
              </a:spcAft>
              <a:buFont typeface="Arial" panose="020B0604020202020204" pitchFamily="34" charset="0"/>
              <a:buNone/>
              <a:defRPr sz="2000" u="none" strike="noStrike" kern="1200" cap="none" spc="150" normalizeH="0" baseline="0">
                <a:solidFill>
                  <a:srgbClr val="262626"/>
                </a:solidFill>
                <a:uFillTx/>
                <a:latin typeface="+mn-lt"/>
                <a:ea typeface="+mn-ea"/>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创新价值介绍</a:t>
            </a:r>
            <a:endParaRPr lang="zh-CN" altLang="en-US" dirty="0"/>
          </a:p>
        </p:txBody>
      </p:sp>
      <p:sp>
        <p:nvSpPr>
          <p:cNvPr id="77" name="文本占位符 8"/>
          <p:cNvSpPr txBox="1"/>
          <p:nvPr>
            <p:custDataLst>
              <p:tags r:id="rId2"/>
            </p:custDataLst>
          </p:nvPr>
        </p:nvSpPr>
        <p:spPr>
          <a:xfrm>
            <a:off x="5322272" y="4854285"/>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defTabSz="914400" rtl="0" eaLnBrk="1" fontAlgn="auto" latinLnBrk="0" hangingPunct="1">
              <a:lnSpc>
                <a:spcPct val="150000"/>
              </a:lnSpc>
              <a:spcBef>
                <a:spcPts val="0"/>
              </a:spcBef>
              <a:spcAft>
                <a:spcPts val="1000"/>
              </a:spcAft>
              <a:buFont typeface="Arial" panose="020B0604020202020204" pitchFamily="34" charset="0"/>
              <a:buNone/>
              <a:defRPr sz="2800" b="1" u="none" strike="noStrike" kern="1200" cap="none" spc="150" normalizeH="0" baseline="0">
                <a:solidFill>
                  <a:schemeClr val="bg1"/>
                </a:solidFill>
                <a:uFillTx/>
                <a:latin typeface="微软雅黑" panose="020B0503020204020204" charset="-122"/>
                <a:ea typeface="微软雅黑" panose="020B0503020204020204" charset="-122"/>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04</a:t>
            </a:r>
            <a:endParaRPr dirty="0"/>
          </a:p>
        </p:txBody>
      </p:sp>
      <p:sp>
        <p:nvSpPr>
          <p:cNvPr id="2" name="文本占位符 5"/>
          <p:cNvSpPr txBox="1"/>
          <p:nvPr>
            <p:custDataLst>
              <p:tags r:id="rId3"/>
            </p:custDataLst>
          </p:nvPr>
        </p:nvSpPr>
        <p:spPr>
          <a:xfrm>
            <a:off x="6470352" y="2437681"/>
            <a:ext cx="4837430" cy="734695"/>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pc="150" dirty="0">
                <a:uFillTx/>
                <a:sym typeface="+mn-ea"/>
              </a:rPr>
              <a:t>需求设计介绍</a:t>
            </a:r>
            <a:endParaRPr lang="zh-CN" altLang="en-US" spc="150" dirty="0">
              <a:uFillTx/>
              <a:sym typeface="+mn-ea"/>
            </a:endParaRPr>
          </a:p>
        </p:txBody>
      </p:sp>
      <p:sp>
        <p:nvSpPr>
          <p:cNvPr id="3" name="文本占位符 6"/>
          <p:cNvSpPr txBox="1"/>
          <p:nvPr>
            <p:custDataLst>
              <p:tags r:id="rId4"/>
            </p:custDataLst>
          </p:nvPr>
        </p:nvSpPr>
        <p:spPr>
          <a:xfrm>
            <a:off x="5322272" y="2397041"/>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defTabSz="914400" rtl="0" eaLnBrk="1" latinLnBrk="0" hangingPunct="1">
              <a:lnSpc>
                <a:spcPct val="150000"/>
              </a:lnSpc>
              <a:spcBef>
                <a:spcPts val="1000"/>
              </a:spcBef>
              <a:buFont typeface="Arial" panose="020B0604020202020204" pitchFamily="34" charset="0"/>
              <a:buNone/>
              <a:defRPr sz="2800" b="1" kern="1200">
                <a:solidFill>
                  <a:schemeClr val="bg1"/>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02</a:t>
            </a: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189865"/>
            <a:ext cx="11643360" cy="646493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Subtitle 1"/>
          <p:cNvSpPr txBox="1"/>
          <p:nvPr/>
        </p:nvSpPr>
        <p:spPr>
          <a:xfrm>
            <a:off x="631190" y="114935"/>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30000"/>
              </a:lnSpc>
              <a:spcBef>
                <a:spcPct val="0"/>
              </a:spcBef>
              <a:spcAft>
                <a:spcPct val="0"/>
              </a:spcAft>
              <a:buNone/>
            </a:pPr>
            <a:r>
              <a:rPr lang="zh-CN" altLang="en-US"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项目背景</a:t>
            </a:r>
            <a:r>
              <a:rPr lang="en-US" altLang="zh-CN"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 </a:t>
            </a:r>
            <a:r>
              <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rPr>
              <a:t>背景与趋势</a:t>
            </a:r>
            <a:endPar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endParaRPr>
          </a:p>
          <a:p>
            <a:pPr marL="0" indent="0" eaLnBrk="0" fontAlgn="base" hangingPunct="0">
              <a:lnSpc>
                <a:spcPct val="130000"/>
              </a:lnSpc>
              <a:spcBef>
                <a:spcPct val="0"/>
              </a:spcBef>
              <a:spcAft>
                <a:spcPct val="0"/>
              </a:spcAft>
              <a:buNone/>
            </a:pPr>
            <a:r>
              <a:rPr lang="zh-CN" altLang="en-US" sz="18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大模型时代的应用开发范式转移</a:t>
            </a:r>
            <a:endParaRPr lang="zh-CN" altLang="en-US" sz="18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
        <p:nvSpPr>
          <p:cNvPr id="9" name="矩形 8"/>
          <p:cNvSpPr/>
          <p:nvPr>
            <p:custDataLst>
              <p:tags r:id="rId2"/>
            </p:custDataLst>
          </p:nvPr>
        </p:nvSpPr>
        <p:spPr>
          <a:xfrm>
            <a:off x="631190" y="5993130"/>
            <a:ext cx="10843260" cy="661670"/>
          </a:xfrm>
          <a:prstGeom prst="rect">
            <a:avLst/>
          </a:prstGeom>
          <a:noFill/>
        </p:spPr>
        <p:txBody>
          <a:bodyPr wrap="square" lIns="0" tIns="0" rIns="0" bIns="0" rtlCol="0" anchor="t" anchorCtr="0">
            <a:noAutofit/>
          </a:bodyPr>
          <a:lstStyle/>
          <a:p>
            <a:pPr indent="457200"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知识应用的需求不断转变，大模型可以带来更精准、更智能的业务决策，但其落地需要完善的数据准备和知识转换。在这种背景下，</a:t>
            </a:r>
            <a:r>
              <a:rPr lang="zh-CN" altLang="en-US" sz="1400" dirty="0">
                <a:solidFill>
                  <a:srgbClr val="C00000"/>
                </a:solidFill>
                <a:latin typeface="+mn-ea"/>
                <a:cs typeface="+mn-ea"/>
                <a:sym typeface="+mn-ea"/>
              </a:rPr>
              <a:t>知识图谱与LLMs深度集成的</a:t>
            </a:r>
            <a:r>
              <a:rPr lang="zh-CN" altLang="en-US" sz="1400" dirty="0">
                <a:solidFill>
                  <a:srgbClr val="C00000"/>
                </a:solidFill>
                <a:latin typeface="+mn-ea"/>
                <a:cs typeface="+mn-ea"/>
                <a:sym typeface="+mn-ea"/>
              </a:rPr>
              <a:t>教辅智能体</a:t>
            </a:r>
            <a:r>
              <a:rPr lang="zh-CN" altLang="en-US" sz="1400" dirty="0">
                <a:solidFill>
                  <a:schemeClr val="tx1">
                    <a:lumMod val="85000"/>
                    <a:lumOff val="15000"/>
                  </a:schemeClr>
                </a:solidFill>
                <a:latin typeface="+mn-ea"/>
                <a:cs typeface="+mn-ea"/>
                <a:sym typeface="+mn-ea"/>
              </a:rPr>
              <a:t>成为解决这些问题的关键。它不仅能够处理结构化数据，还能高效整合非结构化和半结构化数据。</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endParaRPr lang="zh-CN" altLang="en-US" sz="1400" dirty="0">
              <a:solidFill>
                <a:schemeClr val="tx1">
                  <a:lumMod val="85000"/>
                  <a:lumOff val="15000"/>
                </a:schemeClr>
              </a:solidFill>
              <a:latin typeface="+mn-ea"/>
              <a:cs typeface="+mn-ea"/>
              <a:sym typeface="+mn-ea"/>
            </a:endParaRPr>
          </a:p>
        </p:txBody>
      </p:sp>
      <p:pic>
        <p:nvPicPr>
          <p:cNvPr id="17" name="图片 16"/>
          <p:cNvPicPr>
            <a:picLocks noChangeAspect="1"/>
          </p:cNvPicPr>
          <p:nvPr/>
        </p:nvPicPr>
        <p:blipFill>
          <a:blip r:embed="rId3"/>
          <a:stretch>
            <a:fillRect/>
          </a:stretch>
        </p:blipFill>
        <p:spPr>
          <a:xfrm>
            <a:off x="631190" y="1151890"/>
            <a:ext cx="10872000" cy="4841161"/>
          </a:xfrm>
          <a:prstGeom prst="rect">
            <a:avLst/>
          </a:prstGeom>
        </p:spPr>
      </p:pic>
      <p:sp>
        <p:nvSpPr>
          <p:cNvPr id="19" name="五边形 18"/>
          <p:cNvSpPr/>
          <p:nvPr>
            <p:custDataLst>
              <p:tags r:id="rId4"/>
            </p:custDataLst>
          </p:nvPr>
        </p:nvSpPr>
        <p:spPr>
          <a:xfrm>
            <a:off x="4573905" y="242570"/>
            <a:ext cx="1390650" cy="478155"/>
          </a:xfrm>
          <a:prstGeom prst="homePlate">
            <a:avLst/>
          </a:prstGeom>
          <a:gradFill>
            <a:gsLst>
              <a:gs pos="25000">
                <a:srgbClr val="FFD83A"/>
              </a:gs>
              <a:gs pos="75000">
                <a:srgbClr val="FFFD6D"/>
              </a:gs>
              <a:gs pos="0">
                <a:srgbClr val="F8C334"/>
              </a:gs>
              <a:gs pos="100000">
                <a:srgbClr val="FFFEB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r>
              <a:rPr lang="zh-CN" altLang="en-US"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mn-ea"/>
                <a:sym typeface="Arial" panose="020B0604020202020204" pitchFamily="34" charset="0"/>
              </a:rPr>
              <a:t>项目背景</a:t>
            </a:r>
            <a:endParaRPr lang="zh-CN" altLang="en-US"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21" name="任意多边形 20"/>
          <p:cNvSpPr/>
          <p:nvPr>
            <p:custDataLst>
              <p:tags r:id="rId5"/>
            </p:custDataLst>
          </p:nvPr>
        </p:nvSpPr>
        <p:spPr>
          <a:xfrm>
            <a:off x="5935345" y="240030"/>
            <a:ext cx="1485900" cy="480060"/>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产品介绍</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25" name="任意多边形 24"/>
          <p:cNvSpPr/>
          <p:nvPr>
            <p:custDataLst>
              <p:tags r:id="rId6"/>
            </p:custDataLst>
          </p:nvPr>
        </p:nvSpPr>
        <p:spPr>
          <a:xfrm>
            <a:off x="7390130" y="222250"/>
            <a:ext cx="1398270" cy="499110"/>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buClrTx/>
              <a:buSzTx/>
              <a:buFontTx/>
            </a:pP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亮点创新</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26" name="任意多边形 25"/>
          <p:cNvSpPr/>
          <p:nvPr>
            <p:custDataLst>
              <p:tags r:id="rId7"/>
            </p:custDataLst>
          </p:nvPr>
        </p:nvSpPr>
        <p:spPr>
          <a:xfrm>
            <a:off x="8759190" y="242570"/>
            <a:ext cx="1424305" cy="478790"/>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buClrTx/>
              <a:buSzTx/>
              <a:buFontTx/>
            </a:pP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知识产权</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27" name="任意多边形 26"/>
          <p:cNvSpPr/>
          <p:nvPr>
            <p:custDataLst>
              <p:tags r:id="rId8"/>
            </p:custDataLst>
          </p:nvPr>
        </p:nvSpPr>
        <p:spPr>
          <a:xfrm>
            <a:off x="10113010" y="240030"/>
            <a:ext cx="1390650" cy="498475"/>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buClrTx/>
              <a:buSzTx/>
              <a:buFontTx/>
            </a:pP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技术实现</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21615"/>
            <a:ext cx="11643360" cy="63925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a:stretch>
            <a:fillRect/>
          </a:stretch>
        </p:blipFill>
        <p:spPr>
          <a:xfrm>
            <a:off x="667385" y="1253490"/>
            <a:ext cx="10908000" cy="3897046"/>
          </a:xfrm>
          <a:prstGeom prst="rect">
            <a:avLst/>
          </a:prstGeom>
        </p:spPr>
      </p:pic>
      <p:sp>
        <p:nvSpPr>
          <p:cNvPr id="9" name="矩形 8"/>
          <p:cNvSpPr/>
          <p:nvPr>
            <p:custDataLst>
              <p:tags r:id="rId3"/>
            </p:custDataLst>
          </p:nvPr>
        </p:nvSpPr>
        <p:spPr>
          <a:xfrm>
            <a:off x="631190" y="5209540"/>
            <a:ext cx="10843260" cy="1370965"/>
          </a:xfrm>
          <a:prstGeom prst="rect">
            <a:avLst/>
          </a:prstGeom>
          <a:noFill/>
        </p:spPr>
        <p:txBody>
          <a:bodyPr wrap="square" lIns="0" tIns="0" rIns="0" bIns="0" rtlCol="0" anchor="t" anchorCtr="0">
            <a:noAutofit/>
          </a:bodyPr>
          <a:p>
            <a:pPr indent="457200" algn="just">
              <a:lnSpc>
                <a:spcPct val="150000"/>
              </a:lnSpc>
              <a:spcBef>
                <a:spcPct val="0"/>
              </a:spcBef>
              <a:spcAft>
                <a:spcPct val="0"/>
              </a:spcAft>
            </a:pPr>
            <a:r>
              <a:rPr lang="zh-CN" altLang="en-US" sz="1400" dirty="0">
                <a:latin typeface="+mn-ea"/>
                <a:cs typeface="+mn-ea"/>
                <a:sym typeface="+mn-ea"/>
              </a:rPr>
              <a:t>有效掌握计算机科学领域</a:t>
            </a:r>
            <a:r>
              <a:rPr lang="zh-CN" altLang="en-US" sz="1400" dirty="0">
                <a:latin typeface="+mn-ea"/>
                <a:cs typeface="+mn-ea"/>
                <a:sym typeface="+mn-ea"/>
              </a:rPr>
              <a:t>的知识，从庞大的数据集中提取有价值的信息变得尤为关键。然而，传统的线性知识表示方法已无法满足学习者整合和理解复杂知识体系的需求。</a:t>
            </a:r>
            <a:endParaRPr lang="zh-CN" altLang="en-US" sz="1400" dirty="0">
              <a:latin typeface="+mn-ea"/>
              <a:cs typeface="+mn-ea"/>
              <a:sym typeface="+mn-ea"/>
            </a:endParaRPr>
          </a:p>
          <a:p>
            <a:pPr indent="457200" algn="just">
              <a:lnSpc>
                <a:spcPct val="150000"/>
              </a:lnSpc>
              <a:spcBef>
                <a:spcPct val="0"/>
              </a:spcBef>
              <a:spcAft>
                <a:spcPct val="0"/>
              </a:spcAft>
            </a:pPr>
            <a:r>
              <a:rPr lang="zh-CN" altLang="en-US" sz="1400" dirty="0">
                <a:latin typeface="+mn-ea"/>
                <a:cs typeface="+mn-ea"/>
                <a:sym typeface="+mn-ea"/>
              </a:rPr>
              <a:t>面对该挑战，大语言模型作为一种新兴的学习工具，虽然在普及性、通用性方面表现出色，但在连接不同知识点和挖掘深层次联系方面存在局限。为了克服这一缺陷，我们将知识图谱与一个</a:t>
            </a:r>
            <a:r>
              <a:rPr lang="zh-CN" altLang="en-US" sz="1400" dirty="0">
                <a:solidFill>
                  <a:srgbClr val="C00000"/>
                </a:solidFill>
                <a:latin typeface="+mn-ea"/>
                <a:cs typeface="+mn-ea"/>
                <a:sym typeface="+mn-ea"/>
              </a:rPr>
              <a:t>能够理解知识点间复杂关系</a:t>
            </a:r>
            <a:r>
              <a:rPr lang="zh-CN" altLang="en-US" sz="1400" dirty="0">
                <a:latin typeface="+mn-ea"/>
                <a:cs typeface="+mn-ea"/>
                <a:sym typeface="+mn-ea"/>
              </a:rPr>
              <a:t>的大模型</a:t>
            </a:r>
            <a:r>
              <a:rPr lang="zh-CN" altLang="en-US" sz="1400" dirty="0">
                <a:latin typeface="+mn-ea"/>
                <a:cs typeface="+mn-ea"/>
                <a:sym typeface="+mn-ea"/>
              </a:rPr>
              <a:t>相结合，集成为一个综合的学习</a:t>
            </a:r>
            <a:r>
              <a:rPr lang="zh-CN" altLang="en-US" sz="1400" dirty="0">
                <a:latin typeface="+mn-ea"/>
                <a:cs typeface="+mn-ea"/>
                <a:sym typeface="+mn-ea"/>
              </a:rPr>
              <a:t>系统。</a:t>
            </a:r>
            <a:endParaRPr lang="zh-CN" altLang="en-US" sz="1400" dirty="0">
              <a:latin typeface="+mn-ea"/>
              <a:cs typeface="+mn-ea"/>
              <a:sym typeface="+mn-ea"/>
            </a:endParaRPr>
          </a:p>
        </p:txBody>
      </p:sp>
      <p:sp>
        <p:nvSpPr>
          <p:cNvPr id="2" name="Subtitle 1"/>
          <p:cNvSpPr txBox="1"/>
          <p:nvPr/>
        </p:nvSpPr>
        <p:spPr>
          <a:xfrm>
            <a:off x="631190" y="133350"/>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30000"/>
              </a:lnSpc>
              <a:spcBef>
                <a:spcPct val="0"/>
              </a:spcBef>
              <a:spcAft>
                <a:spcPct val="0"/>
              </a:spcAft>
              <a:buNone/>
            </a:pPr>
            <a:r>
              <a:rPr lang="zh-CN" altLang="en-US"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产品介绍</a:t>
            </a:r>
            <a:r>
              <a:rPr lang="en-US" altLang="zh-CN"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 </a:t>
            </a:r>
            <a:r>
              <a:rPr lang="zh-CN" altLang="en-US"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校园智能体</a:t>
            </a:r>
            <a:endParaRPr lang="zh-CN" altLang="en-US" sz="3000" b="1" dirty="0">
              <a:solidFill>
                <a:schemeClr val="accent5">
                  <a:lumMod val="75000"/>
                </a:schemeClr>
              </a:solidFill>
              <a:latin typeface="方正兰亭黑简体" panose="02000000000000000000" pitchFamily="2" charset="-122"/>
              <a:ea typeface="方正兰亭黑简体" panose="02000000000000000000" pitchFamily="2" charset="-122"/>
              <a:cs typeface="Arial" panose="020B0604020202020204" pitchFamily="34" charset="0"/>
            </a:endParaRPr>
          </a:p>
          <a:p>
            <a:pPr marL="0" indent="0" eaLnBrk="0" fontAlgn="base" hangingPunct="0">
              <a:lnSpc>
                <a:spcPct val="150000"/>
              </a:lnSpc>
              <a:spcBef>
                <a:spcPct val="0"/>
              </a:spcBef>
              <a:spcAft>
                <a:spcPct val="0"/>
              </a:spcAft>
              <a:buNone/>
            </a:pPr>
            <a:r>
              <a:rPr kumimoji="1" lang="zh-CN" altLang="en-US" sz="1800" dirty="0">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构建知识图谱与LLM</a:t>
            </a:r>
            <a:r>
              <a:rPr kumimoji="1" lang="en-US" altLang="zh-CN" sz="1800" dirty="0">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s</a:t>
            </a:r>
            <a:r>
              <a:rPr kumimoji="1" lang="zh-CN" altLang="en-US" sz="1800" dirty="0">
                <a:latin typeface="方正兰亭黑简体" panose="02000000000000000000" pitchFamily="2" charset="-122"/>
                <a:ea typeface="方正兰亭黑简体" panose="02000000000000000000" pitchFamily="2" charset="-122"/>
                <a:cs typeface="方正兰亭黑简体" panose="02000000000000000000" pitchFamily="2" charset="-122"/>
                <a:sym typeface="+mn-ea"/>
              </a:rPr>
              <a:t>深度集成的教辅智能体</a:t>
            </a:r>
            <a:endParaRPr lang="zh-CN" altLang="en-US" sz="18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
        <p:nvSpPr>
          <p:cNvPr id="21" name="任意多边形 20"/>
          <p:cNvSpPr/>
          <p:nvPr>
            <p:custDataLst>
              <p:tags r:id="rId4"/>
            </p:custDataLst>
          </p:nvPr>
        </p:nvSpPr>
        <p:spPr>
          <a:xfrm>
            <a:off x="6189980" y="258445"/>
            <a:ext cx="1485900" cy="480060"/>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25000">
                <a:srgbClr val="FFD83A"/>
              </a:gs>
              <a:gs pos="75000">
                <a:srgbClr val="FFFD6D"/>
              </a:gs>
              <a:gs pos="0">
                <a:srgbClr val="F8C334"/>
              </a:gs>
              <a:gs pos="100000">
                <a:srgbClr val="FFFEB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r>
              <a:rPr lang="zh-CN" altLang="en-US"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mn-ea"/>
                <a:sym typeface="Arial" panose="020B0604020202020204" pitchFamily="34" charset="0"/>
              </a:rPr>
              <a:t>产品介绍</a:t>
            </a:r>
            <a:endParaRPr lang="zh-CN" altLang="en-US"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25" name="任意多边形 24"/>
          <p:cNvSpPr/>
          <p:nvPr>
            <p:custDataLst>
              <p:tags r:id="rId5"/>
            </p:custDataLst>
          </p:nvPr>
        </p:nvSpPr>
        <p:spPr>
          <a:xfrm>
            <a:off x="7644765" y="240665"/>
            <a:ext cx="1398270" cy="499110"/>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buClrTx/>
              <a:buSzTx/>
              <a:buFontTx/>
            </a:pP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亮点创新</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26" name="任意多边形 25"/>
          <p:cNvSpPr/>
          <p:nvPr>
            <p:custDataLst>
              <p:tags r:id="rId6"/>
            </p:custDataLst>
          </p:nvPr>
        </p:nvSpPr>
        <p:spPr>
          <a:xfrm>
            <a:off x="9013825" y="260985"/>
            <a:ext cx="1424305" cy="478790"/>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buClrTx/>
              <a:buSzTx/>
              <a:buFontTx/>
            </a:pP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知识产权</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27" name="任意多边形 26"/>
          <p:cNvSpPr/>
          <p:nvPr>
            <p:custDataLst>
              <p:tags r:id="rId7"/>
            </p:custDataLst>
          </p:nvPr>
        </p:nvSpPr>
        <p:spPr>
          <a:xfrm>
            <a:off x="10367645" y="258445"/>
            <a:ext cx="1390650" cy="498475"/>
          </a:xfrm>
          <a:custGeom>
            <a:avLst/>
            <a:gdLst>
              <a:gd name="connsiteX0" fmla="*/ 0 w 2044284"/>
              <a:gd name="connsiteY0" fmla="*/ 0 h 734516"/>
              <a:gd name="connsiteX1" fmla="*/ 1677027 w 2044284"/>
              <a:gd name="connsiteY1" fmla="*/ 0 h 734516"/>
              <a:gd name="connsiteX2" fmla="*/ 2044284 w 2044284"/>
              <a:gd name="connsiteY2" fmla="*/ 367259 h 734516"/>
              <a:gd name="connsiteX3" fmla="*/ 1677027 w 2044284"/>
              <a:gd name="connsiteY3" fmla="*/ 734516 h 734516"/>
              <a:gd name="connsiteX4" fmla="*/ 6359 w 2044284"/>
              <a:gd name="connsiteY4" fmla="*/ 734516 h 734516"/>
              <a:gd name="connsiteX5" fmla="*/ 366815 w 2044284"/>
              <a:gd name="connsiteY5" fmla="*/ 374060 h 734516"/>
              <a:gd name="connsiteX6" fmla="*/ 0 w 2044284"/>
              <a:gd name="connsiteY6" fmla="*/ 7244 h 73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4284" h="734516">
                <a:moveTo>
                  <a:pt x="0" y="0"/>
                </a:moveTo>
                <a:lnTo>
                  <a:pt x="1677027" y="0"/>
                </a:lnTo>
                <a:lnTo>
                  <a:pt x="2044284" y="367259"/>
                </a:lnTo>
                <a:lnTo>
                  <a:pt x="1677027" y="734516"/>
                </a:lnTo>
                <a:lnTo>
                  <a:pt x="6359" y="734516"/>
                </a:lnTo>
                <a:lnTo>
                  <a:pt x="366815" y="374060"/>
                </a:lnTo>
                <a:lnTo>
                  <a:pt x="0" y="7244"/>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buClrTx/>
              <a:buSzTx/>
              <a:buFontTx/>
            </a:pP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技术实现</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
        <p:nvSpPr>
          <p:cNvPr id="3" name="任意多边形 2"/>
          <p:cNvSpPr/>
          <p:nvPr>
            <p:custDataLst>
              <p:tags r:id="rId8"/>
            </p:custDataLst>
          </p:nvPr>
        </p:nvSpPr>
        <p:spPr>
          <a:xfrm>
            <a:off x="4851400" y="260985"/>
            <a:ext cx="1398270" cy="499110"/>
          </a:xfrm>
          <a:custGeom>
            <a:avLst/>
            <a:gdLst>
              <a:gd name="connsiteX0" fmla="*/ 0 w 2202"/>
              <a:gd name="connsiteY0" fmla="*/ 0 h 786"/>
              <a:gd name="connsiteX1" fmla="*/ 1806 w 2202"/>
              <a:gd name="connsiteY1" fmla="*/ 0 h 786"/>
              <a:gd name="connsiteX2" fmla="*/ 2202 w 2202"/>
              <a:gd name="connsiteY2" fmla="*/ 393 h 786"/>
              <a:gd name="connsiteX3" fmla="*/ 1806 w 2202"/>
              <a:gd name="connsiteY3" fmla="*/ 786 h 786"/>
              <a:gd name="connsiteX4" fmla="*/ 7 w 2202"/>
              <a:gd name="connsiteY4" fmla="*/ 786 h 786"/>
              <a:gd name="connsiteX5" fmla="*/ 7 w 2202"/>
              <a:gd name="connsiteY5" fmla="*/ 520 h 786"/>
              <a:gd name="connsiteX6" fmla="*/ 0 w 2202"/>
              <a:gd name="connsiteY6" fmla="*/ 8 h 786"/>
              <a:gd name="connsiteX7" fmla="*/ 0 w 2202"/>
              <a:gd name="connsiteY7" fmla="*/ 0 h 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2" h="786">
                <a:moveTo>
                  <a:pt x="0" y="0"/>
                </a:moveTo>
                <a:lnTo>
                  <a:pt x="1806" y="0"/>
                </a:lnTo>
                <a:lnTo>
                  <a:pt x="2202" y="393"/>
                </a:lnTo>
                <a:lnTo>
                  <a:pt x="1806" y="786"/>
                </a:lnTo>
                <a:lnTo>
                  <a:pt x="7" y="786"/>
                </a:lnTo>
                <a:lnTo>
                  <a:pt x="7" y="520"/>
                </a:lnTo>
                <a:lnTo>
                  <a:pt x="0" y="8"/>
                </a:lnTo>
                <a:lnTo>
                  <a:pt x="0" y="0"/>
                </a:lnTo>
                <a:close/>
              </a:path>
            </a:pathLst>
          </a:custGeom>
          <a:gradFill>
            <a:gsLst>
              <a:gs pos="48687">
                <a:srgbClr val="8AB6E8"/>
              </a:gs>
              <a:gs pos="3000">
                <a:schemeClr val="accent5">
                  <a:lumMod val="75000"/>
                </a:schemeClr>
              </a:gs>
              <a:gs pos="100000">
                <a:srgbClr val="526EF8"/>
              </a:gs>
            </a:gsLst>
            <a:lin ang="18900000" scaled="1"/>
          </a:gradFill>
          <a:ln>
            <a:noFill/>
          </a:ln>
          <a:effectLst>
            <a:outerShdw blurRad="63500" sx="102000" sy="102000" algn="ctr" rotWithShape="0">
              <a:prstClr val="black">
                <a:alpha val="40000"/>
              </a:prstClr>
            </a:outerShdw>
          </a:effectLst>
        </p:spPr>
        <p:style>
          <a:lnRef idx="2">
            <a:srgbClr val="FA8550">
              <a:shade val="50000"/>
            </a:srgbClr>
          </a:lnRef>
          <a:fillRef idx="1">
            <a:srgbClr val="FA8550"/>
          </a:fillRef>
          <a:effectRef idx="0">
            <a:srgbClr val="FA8550"/>
          </a:effectRef>
          <a:fontRef idx="minor">
            <a:sysClr val="window" lastClr="FFFFFF"/>
          </a:fontRef>
        </p:style>
        <p:txBody>
          <a:bodyPr rot="0" spcFirstLastPara="0" vertOverflow="overflow" horzOverflow="overflow" vert="horz" wrap="square" lIns="91440" tIns="45720" rIns="91440" bIns="45720" numCol="1" spcCol="0" rtlCol="0" fromWordArt="0" anchor="ctr" anchorCtr="0" forceAA="0" compatLnSpc="1">
            <a:normAutofit/>
          </a:bodyPr>
          <a:p>
            <a:pPr algn="ctr">
              <a:buClrTx/>
              <a:buSzTx/>
              <a:buFontTx/>
            </a:pPr>
            <a:r>
              <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rPr>
              <a:t>项目背景</a:t>
            </a:r>
            <a:endParaRPr lang="zh-CN" altLang="en-US" b="1" dirty="0">
              <a:solidFill>
                <a:sysClr val="window" lastClr="FFFFFF"/>
              </a:solidFill>
              <a:latin typeface="方正兰亭黑简体" panose="02000000000000000000" pitchFamily="2" charset="-122"/>
              <a:ea typeface="方正兰亭黑简体" panose="02000000000000000000" pitchFamily="2"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Subtitle 1"/>
          <p:cNvSpPr txBox="1"/>
          <p:nvPr/>
        </p:nvSpPr>
        <p:spPr>
          <a:xfrm>
            <a:off x="667385" y="455295"/>
            <a:ext cx="10736580" cy="4584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产品介绍</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元数据知识化</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3" name="图片 2" descr="4db79b6fd022e2d6891369c19039bda"/>
          <p:cNvPicPr>
            <a:picLocks noChangeAspect="1"/>
          </p:cNvPicPr>
          <p:nvPr/>
        </p:nvPicPr>
        <p:blipFill>
          <a:blip r:embed="rId2"/>
          <a:srcRect t="18094"/>
          <a:stretch>
            <a:fillRect/>
          </a:stretch>
        </p:blipFill>
        <p:spPr>
          <a:xfrm>
            <a:off x="495935" y="1551305"/>
            <a:ext cx="10993120" cy="4910455"/>
          </a:xfrm>
          <a:prstGeom prst="rect">
            <a:avLst/>
          </a:prstGeom>
        </p:spPr>
      </p:pic>
      <p:sp>
        <p:nvSpPr>
          <p:cNvPr id="2" name="矩形 1"/>
          <p:cNvSpPr/>
          <p:nvPr>
            <p:custDataLst>
              <p:tags r:id="rId3"/>
            </p:custDataLst>
          </p:nvPr>
        </p:nvSpPr>
        <p:spPr>
          <a:xfrm>
            <a:off x="667385" y="914400"/>
            <a:ext cx="10843260" cy="105791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dirty="0">
                <a:latin typeface="+mn-ea"/>
                <a:cs typeface="+mn-ea"/>
                <a:sym typeface="+mn-ea"/>
              </a:rPr>
              <a:t>大模型的应用过程中，大数据</a:t>
            </a:r>
            <a:r>
              <a:rPr lang="zh-CN" altLang="en-US" sz="1400" dirty="0">
                <a:latin typeface="+mn-ea"/>
                <a:cs typeface="+mn-ea"/>
                <a:sym typeface="+mn-ea"/>
              </a:rPr>
              <a:t>处理是实现智能应用的基础；元数据知识化是大数据管理的关键一步。</a:t>
            </a:r>
            <a:endParaRPr lang="zh-CN" altLang="en-US" sz="1400" dirty="0">
              <a:latin typeface="+mn-ea"/>
              <a:cs typeface="+mn-ea"/>
              <a:sym typeface="+mn-ea"/>
            </a:endParaRPr>
          </a:p>
          <a:p>
            <a:pPr algn="just">
              <a:lnSpc>
                <a:spcPct val="150000"/>
              </a:lnSpc>
              <a:spcBef>
                <a:spcPct val="0"/>
              </a:spcBef>
              <a:spcAft>
                <a:spcPct val="0"/>
              </a:spcAft>
            </a:pPr>
            <a:r>
              <a:rPr lang="zh-CN" altLang="en-US" sz="1400" dirty="0">
                <a:latin typeface="+mn-ea"/>
                <a:cs typeface="+mn-ea"/>
                <a:sym typeface="+mn-ea"/>
              </a:rPr>
              <a:t>元数据知识化不仅提升多模数据的完整性和准确性，还是赋能后续的知识转换和应用</a:t>
            </a:r>
            <a:endParaRPr lang="zh-CN" altLang="en-US" sz="1400" dirty="0">
              <a:latin typeface="+mn-ea"/>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2826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8"/>
          <p:cNvSpPr>
            <a:spLocks noGrp="1"/>
          </p:cNvSpPr>
          <p:nvPr>
            <p:ph type="title"/>
          </p:nvPr>
        </p:nvSpPr>
        <p:spPr>
          <a:xfrm>
            <a:off x="709295" y="345005"/>
            <a:ext cx="10515599" cy="363600"/>
          </a:xfrm>
        </p:spPr>
        <p:txBody>
          <a:bodyPr>
            <a:normAutofit fontScale="90000"/>
          </a:bodyPr>
          <a:lstStyle/>
          <a:p>
            <a:r>
              <a:rPr lang="en-US" altLang="zh-CN" sz="222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KG-</a:t>
            </a:r>
            <a:r>
              <a:rPr lang="zh-CN" altLang="en-US" sz="222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RAG</a:t>
            </a:r>
            <a:r>
              <a:rPr lang="en-US" altLang="zh-CN" sz="222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a:t>
            </a:r>
            <a:r>
              <a:rPr lang="zh-CN" altLang="en-US" sz="222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知识图谱引入知识检索增强生成</a:t>
            </a:r>
            <a:endParaRPr lang="zh-CN" altLang="en-US" sz="222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
        <p:nvSpPr>
          <p:cNvPr id="25" name="文本框 24"/>
          <p:cNvSpPr txBox="1"/>
          <p:nvPr/>
        </p:nvSpPr>
        <p:spPr>
          <a:xfrm>
            <a:off x="791210" y="708660"/>
            <a:ext cx="10945495" cy="392430"/>
          </a:xfrm>
          <a:prstGeom prst="rect">
            <a:avLst/>
          </a:prstGeom>
          <a:noFill/>
        </p:spPr>
        <p:txBody>
          <a:bodyPr wrap="square" rtlCol="0" anchor="t">
            <a:spAutoFit/>
          </a:bodyPr>
          <a:lstStyle/>
          <a:p>
            <a:pPr marR="0" lvl="0" indent="0" algn="l" defTabSz="914400" rtl="0" eaLnBrk="0" fontAlgn="auto" hangingPunct="0">
              <a:lnSpc>
                <a:spcPct val="140000"/>
              </a:lnSpc>
              <a:spcBef>
                <a:spcPts val="0"/>
              </a:spcBef>
              <a:spcAft>
                <a:spcPts val="0"/>
              </a:spcAft>
              <a:buClrTx/>
              <a:buSzTx/>
              <a:buFontTx/>
              <a:buNone/>
              <a:defRPr/>
            </a:pPr>
            <a:r>
              <a:rPr lang="zh-CN" altLang="en-US" sz="1400" dirty="0">
                <a:solidFill>
                  <a:schemeClr val="tx1"/>
                </a:solidFill>
                <a:latin typeface="Arial" panose="020B0604020202020204" pitchFamily="34" charset="0"/>
                <a:ea typeface="汉仪旗黑-55简" panose="00020600040101010101" charset="-122"/>
                <a:cs typeface="OPPOSans R" panose="00020600040101010101" charset="-122"/>
              </a:rPr>
              <a:t>提供多模态知识导入、解析、加工、检索、问答</a:t>
            </a:r>
            <a:r>
              <a:rPr lang="zh-CN" altLang="en-US" sz="1400" b="1" dirty="0">
                <a:solidFill>
                  <a:schemeClr val="tx1"/>
                </a:solidFill>
                <a:latin typeface="Arial" panose="020B0604020202020204" pitchFamily="34" charset="0"/>
                <a:ea typeface="汉仪旗黑-55简" panose="00020600040101010101" charset="-122"/>
                <a:cs typeface="OPPOSans R" panose="00020600040101010101" charset="-122"/>
              </a:rPr>
              <a:t>一站式、全链路、智能化知识服务，</a:t>
            </a:r>
            <a:r>
              <a:rPr lang="zh-CN" altLang="en-US" sz="1400" dirty="0">
                <a:solidFill>
                  <a:schemeClr val="tx1"/>
                </a:solidFill>
                <a:latin typeface="Arial" panose="020B0604020202020204" pitchFamily="34" charset="0"/>
                <a:ea typeface="汉仪旗黑-55简" panose="00020600040101010101" charset="-122"/>
                <a:cs typeface="OPPOSans R" panose="00020600040101010101" charset="-122"/>
              </a:rPr>
              <a:t>发掘知识资产价值，</a:t>
            </a:r>
            <a:r>
              <a:rPr lang="zh-CN" altLang="en-US" sz="1400" b="1" dirty="0">
                <a:solidFill>
                  <a:schemeClr val="tx1"/>
                </a:solidFill>
                <a:latin typeface="Arial" panose="020B0604020202020204" pitchFamily="34" charset="0"/>
                <a:ea typeface="汉仪旗黑-55简" panose="00020600040101010101" charset="-122"/>
                <a:cs typeface="OPPOSans R" panose="00020600040101010101" charset="-122"/>
              </a:rPr>
              <a:t>赋能智能化</a:t>
            </a:r>
            <a:r>
              <a:rPr lang="zh-CN" altLang="en-US" sz="1400" b="1" dirty="0">
                <a:solidFill>
                  <a:schemeClr val="tx1"/>
                </a:solidFill>
                <a:latin typeface="Arial" panose="020B0604020202020204" pitchFamily="34" charset="0"/>
                <a:ea typeface="汉仪旗黑-55简" panose="00020600040101010101" charset="-122"/>
                <a:cs typeface="OPPOSans R" panose="00020600040101010101" charset="-122"/>
              </a:rPr>
              <a:t>校园场景应用落地</a:t>
            </a:r>
            <a:r>
              <a:rPr lang="zh-CN" altLang="en-US" sz="1400" dirty="0">
                <a:solidFill>
                  <a:schemeClr val="tx1"/>
                </a:solidFill>
                <a:latin typeface="Arial" panose="020B0604020202020204" pitchFamily="34" charset="0"/>
                <a:ea typeface="汉仪旗黑-55简" panose="00020600040101010101" charset="-122"/>
                <a:cs typeface="OPPOSans R" panose="00020600040101010101" charset="-122"/>
              </a:rPr>
              <a:t>。</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 name="流程图: 过程 25"/>
          <p:cNvSpPr/>
          <p:nvPr/>
        </p:nvSpPr>
        <p:spPr>
          <a:xfrm>
            <a:off x="483870" y="1301614"/>
            <a:ext cx="770255" cy="5050758"/>
          </a:xfrm>
          <a:prstGeom prst="flowChartProcess">
            <a:avLst/>
          </a:prstGeom>
          <a:noFill/>
          <a:ln>
            <a:solidFill>
              <a:srgbClr val="6267F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dirty="0">
                <a:solidFill>
                  <a:prstClr val="black"/>
                </a:solidFill>
                <a:latin typeface="Arial" panose="020B0604020202020204"/>
                <a:ea typeface="微软雅黑" panose="020B0503020204020204" charset="-122"/>
              </a:rPr>
              <a:t>多模态</a:t>
            </a:r>
            <a:endParaRPr lang="en-US" altLang="zh-CN" sz="1400" b="1" dirty="0">
              <a:solidFill>
                <a:prstClr val="black"/>
              </a:solidFill>
              <a:latin typeface="Arial" panose="020B0604020202020204"/>
              <a:ea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知识</a:t>
            </a:r>
            <a:endPar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p:sp>
        <p:nvSpPr>
          <p:cNvPr id="27" name="矩形 26"/>
          <p:cNvSpPr/>
          <p:nvPr/>
        </p:nvSpPr>
        <p:spPr>
          <a:xfrm>
            <a:off x="1823562" y="1305392"/>
            <a:ext cx="8175625" cy="5050758"/>
          </a:xfrm>
          <a:prstGeom prst="rect">
            <a:avLst/>
          </a:prstGeom>
          <a:solidFill>
            <a:schemeClr val="bg1"/>
          </a:solidFill>
          <a:ln w="6350">
            <a:solidFill>
              <a:srgbClr val="005ECE"/>
            </a:solidFill>
          </a:ln>
          <a:effectLst>
            <a:outerShdw blurRad="165100" algn="ctr" rotWithShape="0">
              <a:srgbClr val="005EC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rPr>
              <a:t>KG-RAG</a:t>
            </a: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rPr>
              <a:t>知识检索增强生成</a:t>
            </a:r>
            <a:endPar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p:txBody>
      </p:sp>
      <p:sp>
        <p:nvSpPr>
          <p:cNvPr id="28" name="箭头: 右 114"/>
          <p:cNvSpPr/>
          <p:nvPr/>
        </p:nvSpPr>
        <p:spPr>
          <a:xfrm>
            <a:off x="1344930" y="3435182"/>
            <a:ext cx="371475" cy="507365"/>
          </a:xfrm>
          <a:prstGeom prst="rightArrow">
            <a:avLst>
              <a:gd name="adj1" fmla="val 50000"/>
              <a:gd name="adj2" fmla="val 56929"/>
            </a:avLst>
          </a:prstGeom>
          <a:gradFill flip="none" rotWithShape="1">
            <a:gsLst>
              <a:gs pos="0">
                <a:schemeClr val="bg1">
                  <a:lumMod val="75000"/>
                </a:schemeClr>
              </a:gs>
              <a:gs pos="100000">
                <a:schemeClr val="bg1"/>
              </a:gs>
            </a:gsLst>
            <a:lin ang="10800000" scaled="1"/>
            <a:tileRect/>
          </a:gradFill>
          <a:ln w="6350">
            <a:gradFill flip="none" rotWithShape="1">
              <a:gsLst>
                <a:gs pos="0">
                  <a:schemeClr val="bg1">
                    <a:lumMod val="50000"/>
                  </a:schemeClr>
                </a:gs>
                <a:gs pos="100000">
                  <a:schemeClr val="bg1"/>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9" name="梯形 28"/>
          <p:cNvSpPr/>
          <p:nvPr/>
        </p:nvSpPr>
        <p:spPr>
          <a:xfrm>
            <a:off x="2132756" y="5771017"/>
            <a:ext cx="7544435" cy="464373"/>
          </a:xfrm>
          <a:prstGeom prst="trapezoid">
            <a:avLst>
              <a:gd name="adj" fmla="val 58163"/>
            </a:avLst>
          </a:prstGeom>
          <a:solidFill>
            <a:srgbClr val="005ECE"/>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prstClr val="white"/>
                </a:solidFill>
                <a:latin typeface="Arial" panose="020B0604020202020204"/>
                <a:ea typeface="微软雅黑" panose="020B0503020204020204" charset="-122"/>
                <a:sym typeface="+mn-ea"/>
              </a:rPr>
              <a:t>基础支撑</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sym typeface="+mn-ea"/>
            </a:endParaRPr>
          </a:p>
        </p:txBody>
      </p:sp>
      <p:grpSp>
        <p:nvGrpSpPr>
          <p:cNvPr id="30" name="组合 29"/>
          <p:cNvGrpSpPr/>
          <p:nvPr/>
        </p:nvGrpSpPr>
        <p:grpSpPr>
          <a:xfrm>
            <a:off x="3225528" y="5867867"/>
            <a:ext cx="6060033" cy="271450"/>
            <a:chOff x="5509" y="19720"/>
            <a:chExt cx="7701" cy="571"/>
          </a:xfrm>
        </p:grpSpPr>
        <p:sp>
          <p:nvSpPr>
            <p:cNvPr id="36" name="矩形 35"/>
            <p:cNvSpPr/>
            <p:nvPr/>
          </p:nvSpPr>
          <p:spPr>
            <a:xfrm>
              <a:off x="7104" y="19733"/>
              <a:ext cx="1314" cy="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rPr>
                <a:t>租户管理</a:t>
              </a:r>
              <a:endPar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endParaRPr>
            </a:p>
          </p:txBody>
        </p:sp>
        <p:sp>
          <p:nvSpPr>
            <p:cNvPr id="37" name="矩形 36"/>
            <p:cNvSpPr/>
            <p:nvPr/>
          </p:nvSpPr>
          <p:spPr>
            <a:xfrm>
              <a:off x="10322" y="19738"/>
              <a:ext cx="1355" cy="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rPr>
                <a:t>效果测评</a:t>
              </a:r>
              <a:endPar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endParaRPr>
            </a:p>
          </p:txBody>
        </p:sp>
        <p:sp>
          <p:nvSpPr>
            <p:cNvPr id="38" name="矩形 37"/>
            <p:cNvSpPr/>
            <p:nvPr/>
          </p:nvSpPr>
          <p:spPr>
            <a:xfrm>
              <a:off x="8700" y="19733"/>
              <a:ext cx="1340" cy="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rPr>
                <a:t>知识安全</a:t>
              </a:r>
              <a:endPar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endParaRPr>
            </a:p>
          </p:txBody>
        </p:sp>
        <p:sp>
          <p:nvSpPr>
            <p:cNvPr id="39" name="矩形 38"/>
            <p:cNvSpPr/>
            <p:nvPr/>
          </p:nvSpPr>
          <p:spPr>
            <a:xfrm>
              <a:off x="11958" y="19737"/>
              <a:ext cx="1252" cy="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rPr>
                <a:t>知识运营</a:t>
              </a:r>
              <a:endPar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endParaRPr>
            </a:p>
          </p:txBody>
        </p:sp>
        <p:sp>
          <p:nvSpPr>
            <p:cNvPr id="40" name="矩形 39"/>
            <p:cNvSpPr/>
            <p:nvPr/>
          </p:nvSpPr>
          <p:spPr>
            <a:xfrm>
              <a:off x="5509" y="19720"/>
              <a:ext cx="1314" cy="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微软雅黑" panose="020B0503020204020204" charset="-122"/>
                  <a:ea typeface="微软雅黑" panose="020B0503020204020204" charset="-122"/>
                  <a:sym typeface="+mn-ea"/>
                </a:rPr>
                <a:t>模型服务接入</a:t>
              </a:r>
              <a:endParaRPr kumimoji="0" lang="zh-CN" altLang="en-US" sz="1000" b="0" i="0" u="none" strike="noStrike" kern="1200" cap="none" spc="0" normalizeH="0" baseline="0" noProof="0" dirty="0">
                <a:ln>
                  <a:noFill/>
                </a:ln>
                <a:solidFill>
                  <a:srgbClr val="005ECE"/>
                </a:solidFill>
                <a:effectLst/>
                <a:uLnTx/>
                <a:uFillTx/>
                <a:latin typeface="微软雅黑" panose="020B0503020204020204" charset="-122"/>
                <a:ea typeface="微软雅黑" panose="020B0503020204020204" charset="-122"/>
                <a:cs typeface="+mn-cs"/>
                <a:sym typeface="+mn-ea"/>
              </a:endParaRPr>
            </a:p>
          </p:txBody>
        </p:sp>
      </p:grpSp>
      <p:grpSp>
        <p:nvGrpSpPr>
          <p:cNvPr id="41" name="组合 40"/>
          <p:cNvGrpSpPr/>
          <p:nvPr/>
        </p:nvGrpSpPr>
        <p:grpSpPr>
          <a:xfrm>
            <a:off x="3130868" y="5577037"/>
            <a:ext cx="5653405" cy="86995"/>
            <a:chOff x="4741" y="19272"/>
            <a:chExt cx="8903" cy="126"/>
          </a:xfrm>
        </p:grpSpPr>
        <p:sp>
          <p:nvSpPr>
            <p:cNvPr id="42" name="箭头: V 形 300"/>
            <p:cNvSpPr/>
            <p:nvPr/>
          </p:nvSpPr>
          <p:spPr>
            <a:xfrm rot="16200000">
              <a:off x="4825" y="19188"/>
              <a:ext cx="126" cy="294"/>
            </a:xfrm>
            <a:prstGeom prst="chevron">
              <a:avLst/>
            </a:prstGeom>
            <a:gradFill flip="none" rotWithShape="1">
              <a:gsLst>
                <a:gs pos="0">
                  <a:srgbClr val="005ECE">
                    <a:alpha val="50000"/>
                  </a:srgbClr>
                </a:gs>
                <a:gs pos="100000">
                  <a:srgbClr val="005ECE">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charset="-122"/>
                <a:cs typeface="+mn-cs"/>
              </a:endParaRPr>
            </a:p>
          </p:txBody>
        </p:sp>
        <p:sp>
          <p:nvSpPr>
            <p:cNvPr id="50" name="箭头: V 形 300"/>
            <p:cNvSpPr/>
            <p:nvPr/>
          </p:nvSpPr>
          <p:spPr>
            <a:xfrm rot="16200000">
              <a:off x="7750" y="19188"/>
              <a:ext cx="126" cy="294"/>
            </a:xfrm>
            <a:prstGeom prst="chevron">
              <a:avLst/>
            </a:prstGeom>
            <a:gradFill flip="none" rotWithShape="1">
              <a:gsLst>
                <a:gs pos="0">
                  <a:srgbClr val="005ECE">
                    <a:alpha val="50000"/>
                  </a:srgbClr>
                </a:gs>
                <a:gs pos="100000">
                  <a:srgbClr val="005ECE">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charset="-122"/>
                <a:cs typeface="+mn-cs"/>
              </a:endParaRPr>
            </a:p>
          </p:txBody>
        </p:sp>
        <p:sp>
          <p:nvSpPr>
            <p:cNvPr id="51" name="箭头: V 形 300"/>
            <p:cNvSpPr/>
            <p:nvPr/>
          </p:nvSpPr>
          <p:spPr>
            <a:xfrm rot="16200000">
              <a:off x="10706" y="19188"/>
              <a:ext cx="126" cy="294"/>
            </a:xfrm>
            <a:prstGeom prst="chevron">
              <a:avLst/>
            </a:prstGeom>
            <a:gradFill flip="none" rotWithShape="1">
              <a:gsLst>
                <a:gs pos="0">
                  <a:srgbClr val="005ECE">
                    <a:alpha val="50000"/>
                  </a:srgbClr>
                </a:gs>
                <a:gs pos="100000">
                  <a:srgbClr val="005ECE">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charset="-122"/>
                <a:cs typeface="+mn-cs"/>
              </a:endParaRPr>
            </a:p>
          </p:txBody>
        </p:sp>
        <p:sp>
          <p:nvSpPr>
            <p:cNvPr id="53" name="箭头: V 形 300"/>
            <p:cNvSpPr/>
            <p:nvPr/>
          </p:nvSpPr>
          <p:spPr>
            <a:xfrm rot="16200000">
              <a:off x="13434" y="19188"/>
              <a:ext cx="126" cy="294"/>
            </a:xfrm>
            <a:prstGeom prst="chevron">
              <a:avLst/>
            </a:prstGeom>
            <a:gradFill flip="none" rotWithShape="1">
              <a:gsLst>
                <a:gs pos="0">
                  <a:srgbClr val="005ECE">
                    <a:alpha val="50000"/>
                  </a:srgbClr>
                </a:gs>
                <a:gs pos="100000">
                  <a:srgbClr val="005ECE">
                    <a:alpha val="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charset="-122"/>
                <a:cs typeface="+mn-cs"/>
              </a:endParaRPr>
            </a:p>
          </p:txBody>
        </p:sp>
      </p:grpSp>
      <p:sp>
        <p:nvSpPr>
          <p:cNvPr id="54" name="箭头: 右 114"/>
          <p:cNvSpPr/>
          <p:nvPr/>
        </p:nvSpPr>
        <p:spPr>
          <a:xfrm>
            <a:off x="10160000" y="2927817"/>
            <a:ext cx="371475" cy="507365"/>
          </a:xfrm>
          <a:prstGeom prst="rightArrow">
            <a:avLst>
              <a:gd name="adj1" fmla="val 50000"/>
              <a:gd name="adj2" fmla="val 56929"/>
            </a:avLst>
          </a:prstGeom>
          <a:gradFill flip="none" rotWithShape="1">
            <a:gsLst>
              <a:gs pos="0">
                <a:srgbClr val="005ECE">
                  <a:alpha val="28000"/>
                </a:srgbClr>
              </a:gs>
              <a:gs pos="100000">
                <a:srgbClr val="005ECE">
                  <a:alpha val="0"/>
                </a:srgbClr>
              </a:gs>
            </a:gsLst>
            <a:lin ang="10800000" scaled="1"/>
            <a:tileRect/>
          </a:gradFill>
          <a:ln w="6350">
            <a:gradFill flip="none" rotWithShape="1">
              <a:gsLst>
                <a:gs pos="0">
                  <a:srgbClr val="005ECE"/>
                </a:gs>
                <a:gs pos="100000">
                  <a:srgbClr val="005ECE">
                    <a:alpha val="0"/>
                  </a:srgb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55" name="组合 54"/>
          <p:cNvGrpSpPr/>
          <p:nvPr/>
        </p:nvGrpSpPr>
        <p:grpSpPr>
          <a:xfrm>
            <a:off x="4116378" y="1604783"/>
            <a:ext cx="1543050" cy="2840708"/>
            <a:chOff x="3890565" y="1961847"/>
            <a:chExt cx="1543050" cy="3686175"/>
          </a:xfrm>
        </p:grpSpPr>
        <p:sp>
          <p:nvSpPr>
            <p:cNvPr id="56" name="矩形: 圆顶角 198"/>
            <p:cNvSpPr/>
            <p:nvPr/>
          </p:nvSpPr>
          <p:spPr>
            <a:xfrm>
              <a:off x="3890565" y="1961847"/>
              <a:ext cx="1543050" cy="379730"/>
            </a:xfrm>
            <a:prstGeom prst="round2SameRect">
              <a:avLst>
                <a:gd name="adj1" fmla="val 22057"/>
                <a:gd name="adj2" fmla="val 0"/>
              </a:avLst>
            </a:prstGeom>
            <a:solidFill>
              <a:srgbClr val="005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sym typeface="+mn-ea"/>
                </a:rPr>
                <a:t>知识治理</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sym typeface="+mn-ea"/>
              </a:endParaRPr>
            </a:p>
          </p:txBody>
        </p:sp>
        <p:sp>
          <p:nvSpPr>
            <p:cNvPr id="57" name="矩形 56"/>
            <p:cNvSpPr/>
            <p:nvPr/>
          </p:nvSpPr>
          <p:spPr>
            <a:xfrm>
              <a:off x="4138850" y="2457782"/>
              <a:ext cx="1054100" cy="1470025"/>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prstClr val="white"/>
                  </a:solidFill>
                  <a:latin typeface="微软雅黑" panose="020B0503020204020204" charset="-122"/>
                  <a:ea typeface="微软雅黑" panose="020B0503020204020204" charset="-122"/>
                  <a:sym typeface="+mn-ea"/>
                </a:rPr>
                <a:t>知识解析</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 name="矩形 58"/>
            <p:cNvSpPr/>
            <p:nvPr/>
          </p:nvSpPr>
          <p:spPr>
            <a:xfrm>
              <a:off x="4227750" y="2734642"/>
              <a:ext cx="8730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rPr>
                <a:t>文档版面分析</a:t>
              </a:r>
              <a:endPar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62" name="矩形 61"/>
            <p:cNvSpPr/>
            <p:nvPr/>
          </p:nvSpPr>
          <p:spPr>
            <a:xfrm>
              <a:off x="4227750" y="3031822"/>
              <a:ext cx="873045" cy="208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文档表格分析</a:t>
              </a:r>
              <a:endPar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64" name="矩形 63"/>
            <p:cNvSpPr/>
            <p:nvPr/>
          </p:nvSpPr>
          <p:spPr>
            <a:xfrm>
              <a:off x="4227750" y="3329002"/>
              <a:ext cx="870664" cy="208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dirty="0">
                  <a:solidFill>
                    <a:srgbClr val="005ECE"/>
                  </a:solidFill>
                  <a:latin typeface="Arial" panose="020B0604020202020204"/>
                  <a:ea typeface="微软雅黑" panose="020B0503020204020204" charset="-122"/>
                </a:rPr>
                <a:t>文字图像识别</a:t>
              </a:r>
              <a:endPar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65" name="矩形 64"/>
            <p:cNvSpPr/>
            <p:nvPr/>
          </p:nvSpPr>
          <p:spPr>
            <a:xfrm>
              <a:off x="4227750" y="3626182"/>
              <a:ext cx="873045" cy="2082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标题层级划分</a:t>
              </a:r>
              <a:endPar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66" name="矩形 65"/>
            <p:cNvSpPr/>
            <p:nvPr/>
          </p:nvSpPr>
          <p:spPr>
            <a:xfrm>
              <a:off x="4138850" y="4039567"/>
              <a:ext cx="1054100" cy="1561926"/>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知识治理</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67" name="矩形 66"/>
            <p:cNvSpPr/>
            <p:nvPr/>
          </p:nvSpPr>
          <p:spPr>
            <a:xfrm>
              <a:off x="4265850" y="4284042"/>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预处理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68" name="矩形 67"/>
            <p:cNvSpPr/>
            <p:nvPr/>
          </p:nvSpPr>
          <p:spPr>
            <a:xfrm>
              <a:off x="4254813" y="4820692"/>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知识校对</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70" name="矩形 69"/>
            <p:cNvSpPr/>
            <p:nvPr/>
          </p:nvSpPr>
          <p:spPr>
            <a:xfrm>
              <a:off x="4254813" y="5089017"/>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人工纠错</a:t>
              </a:r>
              <a:endParaRPr kumimoji="0" lang="en-US" altLang="zh-CN"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71" name="矩形: 圆角 197"/>
            <p:cNvSpPr/>
            <p:nvPr/>
          </p:nvSpPr>
          <p:spPr>
            <a:xfrm>
              <a:off x="3894375" y="2008837"/>
              <a:ext cx="1534160" cy="3639185"/>
            </a:xfrm>
            <a:prstGeom prst="roundRect">
              <a:avLst>
                <a:gd name="adj" fmla="val 9557"/>
              </a:avLst>
            </a:prstGeom>
            <a:noFill/>
            <a:ln w="6350">
              <a:solidFill>
                <a:srgbClr val="005E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76" name="矩形 75"/>
            <p:cNvSpPr/>
            <p:nvPr/>
          </p:nvSpPr>
          <p:spPr>
            <a:xfrm>
              <a:off x="4263641" y="4552367"/>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同指</a:t>
              </a: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消解</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77" name="矩形 76"/>
            <p:cNvSpPr/>
            <p:nvPr/>
          </p:nvSpPr>
          <p:spPr>
            <a:xfrm>
              <a:off x="4254813" y="5357343"/>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知识标签</a:t>
              </a:r>
              <a:endParaRPr kumimoji="0" lang="en-US" altLang="zh-CN"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grpSp>
      <p:sp>
        <p:nvSpPr>
          <p:cNvPr id="80" name="文本框 79"/>
          <p:cNvSpPr txBox="1"/>
          <p:nvPr/>
        </p:nvSpPr>
        <p:spPr>
          <a:xfrm>
            <a:off x="5713006" y="2656389"/>
            <a:ext cx="369332" cy="1349538"/>
          </a:xfrm>
          <a:prstGeom prst="rect">
            <a:avLst/>
          </a:prstGeom>
          <a:noFill/>
        </p:spPr>
        <p:txBody>
          <a:bodyPr vert="mongolian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rPr>
              <a:t>高质量多模态</a:t>
            </a:r>
            <a:r>
              <a:rPr lang="zh-CN" altLang="en-US" sz="1200" dirty="0">
                <a:solidFill>
                  <a:prstClr val="white">
                    <a:lumMod val="50000"/>
                  </a:prstClr>
                </a:solidFill>
                <a:latin typeface="Arial" panose="020B0604020202020204"/>
                <a:ea typeface="微软雅黑" panose="020B0503020204020204" charset="-122"/>
              </a:rPr>
              <a:t>知识</a:t>
            </a:r>
            <a:endPar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endParaRPr>
          </a:p>
        </p:txBody>
      </p:sp>
      <p:sp>
        <p:nvSpPr>
          <p:cNvPr id="84" name="文本框 83"/>
          <p:cNvSpPr txBox="1"/>
          <p:nvPr/>
        </p:nvSpPr>
        <p:spPr>
          <a:xfrm>
            <a:off x="3712489" y="2670368"/>
            <a:ext cx="369332" cy="1227455"/>
          </a:xfrm>
          <a:prstGeom prst="rect">
            <a:avLst/>
          </a:prstGeom>
          <a:noFill/>
        </p:spPr>
        <p:txBody>
          <a:bodyPr vert="mongolian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rPr>
              <a:t>原始多模态知识</a:t>
            </a:r>
            <a:endPar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endParaRPr>
          </a:p>
        </p:txBody>
      </p:sp>
      <p:sp>
        <p:nvSpPr>
          <p:cNvPr id="85" name="文本框 84"/>
          <p:cNvSpPr txBox="1"/>
          <p:nvPr/>
        </p:nvSpPr>
        <p:spPr>
          <a:xfrm>
            <a:off x="10056337" y="2403922"/>
            <a:ext cx="621982" cy="4616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sym typeface="+mn-ea"/>
              </a:rPr>
              <a:t>知识</a:t>
            </a:r>
            <a:endParaRPr kumimoji="0" lang="en-US" altLang="zh-CN"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sym typeface="+mn-ea"/>
              </a:rPr>
              <a:t>供应</a:t>
            </a:r>
            <a:endPar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sym typeface="+mn-ea"/>
            </a:endParaRPr>
          </a:p>
        </p:txBody>
      </p:sp>
      <p:sp>
        <p:nvSpPr>
          <p:cNvPr id="91" name="文本框 90"/>
          <p:cNvSpPr txBox="1"/>
          <p:nvPr/>
        </p:nvSpPr>
        <p:spPr>
          <a:xfrm>
            <a:off x="7750810" y="2481580"/>
            <a:ext cx="367030" cy="1851660"/>
          </a:xfrm>
          <a:prstGeom prst="rect">
            <a:avLst/>
          </a:prstGeom>
          <a:noFill/>
        </p:spPr>
        <p:txBody>
          <a:bodyPr vert="mongolian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rPr>
              <a:t>高质量</a:t>
            </a:r>
            <a:r>
              <a:rPr kumimoji="0" lang="en-US" altLang="zh-CN"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rPr>
              <a:t>KG-RAG</a:t>
            </a:r>
            <a:r>
              <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rPr>
              <a:t>应用</a:t>
            </a:r>
            <a:endPar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endParaRPr>
          </a:p>
        </p:txBody>
      </p:sp>
      <p:pic>
        <p:nvPicPr>
          <p:cNvPr id="93" name="picture 614"/>
          <p:cNvPicPr>
            <a:picLocks noChangeAspect="1"/>
          </p:cNvPicPr>
          <p:nvPr/>
        </p:nvPicPr>
        <p:blipFill>
          <a:blip r:embed="rId2"/>
          <a:stretch>
            <a:fillRect/>
          </a:stretch>
        </p:blipFill>
        <p:spPr>
          <a:xfrm rot="21600000">
            <a:off x="627301" y="3113236"/>
            <a:ext cx="425450" cy="425450"/>
          </a:xfrm>
          <a:prstGeom prst="rect">
            <a:avLst/>
          </a:prstGeom>
        </p:spPr>
      </p:pic>
      <p:pic>
        <p:nvPicPr>
          <p:cNvPr id="152" name="picture 618"/>
          <p:cNvPicPr>
            <a:picLocks noChangeAspect="1"/>
          </p:cNvPicPr>
          <p:nvPr/>
        </p:nvPicPr>
        <p:blipFill>
          <a:blip r:embed="rId3"/>
          <a:stretch>
            <a:fillRect/>
          </a:stretch>
        </p:blipFill>
        <p:spPr>
          <a:xfrm rot="21600000">
            <a:off x="633968" y="2116287"/>
            <a:ext cx="444500" cy="405765"/>
          </a:xfrm>
          <a:prstGeom prst="rect">
            <a:avLst/>
          </a:prstGeom>
        </p:spPr>
      </p:pic>
      <p:pic>
        <p:nvPicPr>
          <p:cNvPr id="153" name="picture 620"/>
          <p:cNvPicPr>
            <a:picLocks noChangeAspect="1"/>
          </p:cNvPicPr>
          <p:nvPr/>
        </p:nvPicPr>
        <p:blipFill>
          <a:blip r:embed="rId4"/>
          <a:stretch>
            <a:fillRect/>
          </a:stretch>
        </p:blipFill>
        <p:spPr>
          <a:xfrm rot="21600000">
            <a:off x="630556" y="4019698"/>
            <a:ext cx="403860" cy="403860"/>
          </a:xfrm>
          <a:prstGeom prst="rect">
            <a:avLst/>
          </a:prstGeom>
        </p:spPr>
      </p:pic>
      <p:pic>
        <p:nvPicPr>
          <p:cNvPr id="154" name="picture 622"/>
          <p:cNvPicPr>
            <a:picLocks noChangeAspect="1"/>
          </p:cNvPicPr>
          <p:nvPr/>
        </p:nvPicPr>
        <p:blipFill>
          <a:blip r:embed="rId5"/>
          <a:stretch>
            <a:fillRect/>
          </a:stretch>
        </p:blipFill>
        <p:spPr>
          <a:xfrm rot="21600000">
            <a:off x="643573" y="5078238"/>
            <a:ext cx="380365" cy="358140"/>
          </a:xfrm>
          <a:prstGeom prst="rect">
            <a:avLst/>
          </a:prstGeom>
        </p:spPr>
      </p:pic>
      <p:sp>
        <p:nvSpPr>
          <p:cNvPr id="155" name="textbox 626"/>
          <p:cNvSpPr/>
          <p:nvPr/>
        </p:nvSpPr>
        <p:spPr>
          <a:xfrm>
            <a:off x="699135" y="4559767"/>
            <a:ext cx="496570" cy="317500"/>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87000"/>
              </a:lnSpc>
              <a:spcBef>
                <a:spcPts val="0"/>
              </a:spcBef>
              <a:spcAft>
                <a:spcPts val="0"/>
              </a:spcAft>
              <a:buClrTx/>
              <a:buSzTx/>
              <a:buFontTx/>
              <a:buNone/>
              <a:defRPr/>
            </a:pPr>
            <a:endParaRPr kumimoji="0" sz="1200" b="0" i="0" u="none" strike="noStrike" kern="1200" cap="none" spc="0" normalizeH="0" baseline="0" noProof="0" dirty="0">
              <a:ln>
                <a:noFill/>
              </a:ln>
              <a:solidFill>
                <a:prstClr val="black"/>
              </a:solidFill>
              <a:effectLst/>
              <a:uLnTx/>
              <a:uFillTx/>
              <a:latin typeface="Arial" panose="020B0604020202020204"/>
              <a:ea typeface="Arial" panose="020B0604020202020204"/>
              <a:cs typeface="Arial" panose="020B0604020202020204"/>
            </a:endParaRPr>
          </a:p>
          <a:p>
            <a:pPr marL="12700" marR="0" lvl="0" indent="0" algn="l" defTabSz="914400" rtl="0" eaLnBrk="0" fontAlgn="auto" latinLnBrk="0" hangingPunct="1">
              <a:lnSpc>
                <a:spcPct val="89000"/>
              </a:lnSpc>
              <a:spcBef>
                <a:spcPts val="0"/>
              </a:spcBef>
              <a:spcAft>
                <a:spcPts val="0"/>
              </a:spcAft>
              <a:buClrTx/>
              <a:buSzTx/>
              <a:buFontTx/>
              <a:buNone/>
              <a:defRPr/>
            </a:pPr>
            <a:endParaRPr kumimoji="0" sz="1200" b="0" i="0" u="none" strike="noStrike" kern="0" cap="none" spc="-20" normalizeH="0" baseline="0" noProof="0" dirty="0">
              <a:ln>
                <a:noFill/>
              </a:ln>
              <a:solidFill>
                <a:srgbClr val="000000">
                  <a:alpha val="100000"/>
                </a:srgbClr>
              </a:solidFill>
              <a:effectLst/>
              <a:uLnTx/>
              <a:uFillTx/>
              <a:latin typeface="PingFang SC"/>
              <a:ea typeface="PingFang SC"/>
              <a:cs typeface="PingFang SC"/>
            </a:endParaRPr>
          </a:p>
        </p:txBody>
      </p:sp>
      <p:sp>
        <p:nvSpPr>
          <p:cNvPr id="156" name="textbox 628"/>
          <p:cNvSpPr/>
          <p:nvPr/>
        </p:nvSpPr>
        <p:spPr>
          <a:xfrm>
            <a:off x="643176" y="3440896"/>
            <a:ext cx="491490" cy="306705"/>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85000"/>
              </a:lnSpc>
              <a:spcBef>
                <a:spcPts val="0"/>
              </a:spcBef>
              <a:spcAft>
                <a:spcPts val="0"/>
              </a:spcAft>
              <a:buClrTx/>
              <a:buSzTx/>
              <a:buFontTx/>
              <a:buNone/>
              <a:defRPr/>
            </a:pPr>
            <a:endParaRPr kumimoji="0" sz="1200" b="0" i="0" u="none" strike="noStrike" kern="1200" cap="none" spc="0" normalizeH="0" baseline="0" noProof="0" dirty="0">
              <a:ln>
                <a:noFill/>
              </a:ln>
              <a:solidFill>
                <a:prstClr val="black"/>
              </a:solidFill>
              <a:effectLst/>
              <a:uLnTx/>
              <a:uFillTx/>
              <a:latin typeface="Arial" panose="020B0604020202020204"/>
              <a:ea typeface="Arial" panose="020B0604020202020204"/>
              <a:cs typeface="Arial" panose="020B0604020202020204"/>
            </a:endParaRPr>
          </a:p>
          <a:p>
            <a:pPr marL="12700" marR="0" lvl="0" indent="0" algn="l" defTabSz="914400" rtl="0" eaLnBrk="0" fontAlgn="auto" latinLnBrk="0" hangingPunct="1">
              <a:lnSpc>
                <a:spcPct val="90000"/>
              </a:lnSpc>
              <a:spcBef>
                <a:spcPts val="0"/>
              </a:spcBef>
              <a:spcAft>
                <a:spcPts val="0"/>
              </a:spcAft>
              <a:buClrTx/>
              <a:buSzTx/>
              <a:buFontTx/>
              <a:buNone/>
              <a:defRPr/>
            </a:pPr>
            <a:r>
              <a:rPr kumimoji="0" sz="1200" b="0" i="0" u="none" strike="noStrike" kern="0" cap="none" spc="-30" normalizeH="0" baseline="0" noProof="0" dirty="0">
                <a:ln>
                  <a:noFill/>
                </a:ln>
                <a:solidFill>
                  <a:srgbClr val="000000">
                    <a:alpha val="100000"/>
                  </a:srgbClr>
                </a:solidFill>
                <a:effectLst/>
                <a:uLnTx/>
                <a:uFillTx/>
                <a:latin typeface="PingFang SC"/>
                <a:ea typeface="PingFang SC"/>
                <a:cs typeface="PingFang SC"/>
              </a:rPr>
              <a:t>音频</a:t>
            </a:r>
            <a:endParaRPr kumimoji="0" sz="1200" b="0" i="0" u="none" strike="noStrike" kern="0" cap="none" spc="-30" normalizeH="0" baseline="0" noProof="0" dirty="0">
              <a:ln>
                <a:noFill/>
              </a:ln>
              <a:solidFill>
                <a:srgbClr val="000000">
                  <a:alpha val="100000"/>
                </a:srgbClr>
              </a:solidFill>
              <a:effectLst/>
              <a:uLnTx/>
              <a:uFillTx/>
              <a:latin typeface="PingFang SC"/>
              <a:ea typeface="PingFang SC"/>
              <a:cs typeface="PingFang SC"/>
            </a:endParaRPr>
          </a:p>
        </p:txBody>
      </p:sp>
      <p:sp>
        <p:nvSpPr>
          <p:cNvPr id="157" name="textbox 630"/>
          <p:cNvSpPr/>
          <p:nvPr/>
        </p:nvSpPr>
        <p:spPr>
          <a:xfrm>
            <a:off x="667068" y="5367163"/>
            <a:ext cx="494030" cy="313055"/>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81000"/>
              </a:lnSpc>
              <a:spcBef>
                <a:spcPts val="0"/>
              </a:spcBef>
              <a:spcAft>
                <a:spcPts val="0"/>
              </a:spcAft>
              <a:buClrTx/>
              <a:buSzTx/>
              <a:buFontTx/>
              <a:buNone/>
              <a:defRPr/>
            </a:pPr>
            <a:endParaRPr kumimoji="0" sz="1200" b="0" i="0" u="none" strike="noStrike" kern="1200" cap="none" spc="0" normalizeH="0" baseline="0" noProof="0" dirty="0">
              <a:ln>
                <a:noFill/>
              </a:ln>
              <a:solidFill>
                <a:prstClr val="black"/>
              </a:solidFill>
              <a:effectLst/>
              <a:uLnTx/>
              <a:uFillTx/>
              <a:latin typeface="Arial" panose="020B0604020202020204"/>
              <a:ea typeface="Arial" panose="020B0604020202020204"/>
              <a:cs typeface="Arial" panose="020B0604020202020204"/>
            </a:endParaRPr>
          </a:p>
          <a:p>
            <a:pPr marL="12700" marR="0" lvl="0" indent="0" algn="l" defTabSz="914400" rtl="0" eaLnBrk="0" fontAlgn="auto" latinLnBrk="0" hangingPunct="1">
              <a:lnSpc>
                <a:spcPct val="90000"/>
              </a:lnSpc>
              <a:spcBef>
                <a:spcPts val="0"/>
              </a:spcBef>
              <a:spcAft>
                <a:spcPts val="0"/>
              </a:spcAft>
              <a:buClrTx/>
              <a:buSzTx/>
              <a:buFontTx/>
              <a:buNone/>
              <a:defRPr/>
            </a:pPr>
            <a:r>
              <a:rPr kumimoji="0" sz="1200" b="0" i="0" u="none" strike="noStrike" kern="0" cap="none" spc="-20" normalizeH="0" baseline="0" noProof="0" dirty="0">
                <a:ln>
                  <a:noFill/>
                </a:ln>
                <a:solidFill>
                  <a:srgbClr val="000000">
                    <a:alpha val="100000"/>
                  </a:srgbClr>
                </a:solidFill>
                <a:effectLst/>
                <a:uLnTx/>
                <a:uFillTx/>
                <a:latin typeface="PingFang SC"/>
                <a:ea typeface="PingFang SC"/>
                <a:cs typeface="PingFang SC"/>
              </a:rPr>
              <a:t>文本</a:t>
            </a:r>
            <a:endParaRPr kumimoji="0" sz="1200" b="0" i="0" u="none" strike="noStrike" kern="0" cap="none" spc="-20" normalizeH="0" baseline="0" noProof="0" dirty="0">
              <a:ln>
                <a:noFill/>
              </a:ln>
              <a:solidFill>
                <a:srgbClr val="000000">
                  <a:alpha val="100000"/>
                </a:srgbClr>
              </a:solidFill>
              <a:effectLst/>
              <a:uLnTx/>
              <a:uFillTx/>
              <a:latin typeface="PingFang SC"/>
              <a:ea typeface="PingFang SC"/>
              <a:cs typeface="PingFang SC"/>
            </a:endParaRPr>
          </a:p>
        </p:txBody>
      </p:sp>
      <p:sp>
        <p:nvSpPr>
          <p:cNvPr id="158" name="textbox 634"/>
          <p:cNvSpPr/>
          <p:nvPr/>
        </p:nvSpPr>
        <p:spPr>
          <a:xfrm>
            <a:off x="672465" y="2871937"/>
            <a:ext cx="480060" cy="203200"/>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84000"/>
              </a:lnSpc>
              <a:spcBef>
                <a:spcPts val="0"/>
              </a:spcBef>
              <a:spcAft>
                <a:spcPts val="0"/>
              </a:spcAft>
              <a:buClrTx/>
              <a:buSzTx/>
              <a:buFontTx/>
              <a:buNone/>
              <a:defRPr/>
            </a:pPr>
            <a:endParaRPr kumimoji="0" sz="1200" b="0" i="0" u="none" strike="noStrike" kern="1200" cap="none" spc="0" normalizeH="0" baseline="0" noProof="0" dirty="0">
              <a:ln>
                <a:noFill/>
              </a:ln>
              <a:solidFill>
                <a:prstClr val="black"/>
              </a:solidFill>
              <a:effectLst/>
              <a:uLnTx/>
              <a:uFillTx/>
              <a:latin typeface="Arial" panose="020B0604020202020204"/>
              <a:ea typeface="Arial" panose="020B0604020202020204"/>
              <a:cs typeface="Arial" panose="020B0604020202020204"/>
            </a:endParaRPr>
          </a:p>
          <a:p>
            <a:pPr marL="12700" marR="0" lvl="0" indent="0" algn="l" defTabSz="914400" rtl="0" eaLnBrk="0" fontAlgn="auto" latinLnBrk="0" hangingPunct="1">
              <a:lnSpc>
                <a:spcPct val="89000"/>
              </a:lnSpc>
              <a:spcBef>
                <a:spcPts val="0"/>
              </a:spcBef>
              <a:spcAft>
                <a:spcPts val="0"/>
              </a:spcAft>
              <a:buClrTx/>
              <a:buSzTx/>
              <a:buFontTx/>
              <a:buNone/>
              <a:defRPr/>
            </a:pPr>
            <a:endParaRPr kumimoji="0" sz="1200" b="0" i="0" u="none" strike="noStrike" kern="0" cap="none" spc="-50" normalizeH="0" baseline="0" noProof="0" dirty="0">
              <a:ln>
                <a:noFill/>
              </a:ln>
              <a:solidFill>
                <a:srgbClr val="000000">
                  <a:alpha val="100000"/>
                </a:srgbClr>
              </a:solidFill>
              <a:effectLst/>
              <a:uLnTx/>
              <a:uFillTx/>
              <a:latin typeface="PingFang SC"/>
              <a:ea typeface="PingFang SC"/>
              <a:cs typeface="PingFang SC"/>
            </a:endParaRPr>
          </a:p>
        </p:txBody>
      </p:sp>
      <p:sp>
        <p:nvSpPr>
          <p:cNvPr id="159" name="文本框 158"/>
          <p:cNvSpPr txBox="1"/>
          <p:nvPr/>
        </p:nvSpPr>
        <p:spPr>
          <a:xfrm>
            <a:off x="608966" y="4469278"/>
            <a:ext cx="511810" cy="27559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sz="1200" b="0" i="0" u="none" strike="noStrike" kern="0" cap="none" spc="-20" normalizeH="0" baseline="0" noProof="0" dirty="0">
                <a:ln>
                  <a:noFill/>
                </a:ln>
                <a:solidFill>
                  <a:srgbClr val="000000">
                    <a:alpha val="100000"/>
                  </a:srgbClr>
                </a:solidFill>
                <a:effectLst/>
                <a:uLnTx/>
                <a:uFillTx/>
                <a:latin typeface="PingFang SC"/>
                <a:ea typeface="PingFang SC"/>
                <a:cs typeface="PingFang SC"/>
                <a:sym typeface="+mn-ea"/>
              </a:rPr>
              <a:t>视频</a:t>
            </a:r>
            <a:endParaRPr kumimoji="0" lang="zh-CN" altLang="en-US" sz="1200" b="0" i="0" u="none" strike="noStrike" kern="0" cap="none" spc="-20" normalizeH="0" baseline="0" noProof="0" dirty="0">
              <a:ln>
                <a:noFill/>
              </a:ln>
              <a:solidFill>
                <a:srgbClr val="000000">
                  <a:alpha val="100000"/>
                </a:srgbClr>
              </a:solidFill>
              <a:effectLst/>
              <a:uLnTx/>
              <a:uFillTx/>
              <a:latin typeface="PingFang SC"/>
              <a:ea typeface="PingFang SC"/>
              <a:cs typeface="PingFang SC"/>
              <a:sym typeface="+mn-ea"/>
            </a:endParaRPr>
          </a:p>
        </p:txBody>
      </p:sp>
      <p:sp>
        <p:nvSpPr>
          <p:cNvPr id="160" name="文本框 159"/>
          <p:cNvSpPr txBox="1"/>
          <p:nvPr/>
        </p:nvSpPr>
        <p:spPr>
          <a:xfrm>
            <a:off x="602218" y="2598252"/>
            <a:ext cx="525780" cy="255270"/>
          </a:xfrm>
          <a:prstGeom prst="rect">
            <a:avLst/>
          </a:prstGeom>
          <a:noFill/>
        </p:spPr>
        <p:txBody>
          <a:bodyPr wrap="square" rtlCol="0" anchor="t">
            <a:spAutoFit/>
          </a:bodyPr>
          <a:lstStyle/>
          <a:p>
            <a:pPr marL="12700" marR="0" lvl="0" indent="0" algn="l" defTabSz="914400" rtl="0" eaLnBrk="0" fontAlgn="auto" latinLnBrk="0" hangingPunct="1">
              <a:lnSpc>
                <a:spcPct val="89000"/>
              </a:lnSpc>
              <a:spcBef>
                <a:spcPts val="0"/>
              </a:spcBef>
              <a:spcAft>
                <a:spcPts val="0"/>
              </a:spcAft>
              <a:buClrTx/>
              <a:buSzTx/>
              <a:buFontTx/>
              <a:buNone/>
              <a:defRPr/>
            </a:pPr>
            <a:r>
              <a:rPr kumimoji="0" sz="1200" b="0" i="0" u="none" strike="noStrike" kern="0" cap="none" spc="-50" normalizeH="0" baseline="0" noProof="0" dirty="0">
                <a:ln>
                  <a:noFill/>
                </a:ln>
                <a:solidFill>
                  <a:srgbClr val="000000">
                    <a:alpha val="100000"/>
                  </a:srgbClr>
                </a:solidFill>
                <a:effectLst/>
                <a:uLnTx/>
                <a:uFillTx/>
                <a:latin typeface="PingFang SC"/>
                <a:ea typeface="PingFang SC"/>
                <a:cs typeface="PingFang SC"/>
                <a:sym typeface="+mn-ea"/>
              </a:rPr>
              <a:t>图像</a:t>
            </a:r>
            <a:endParaRPr kumimoji="0" lang="zh-CN" altLang="en-US" sz="1200" b="0" i="0" u="none" strike="noStrike" kern="0" cap="none" spc="-50" normalizeH="0" baseline="0" noProof="0" dirty="0">
              <a:ln>
                <a:noFill/>
              </a:ln>
              <a:solidFill>
                <a:srgbClr val="000000">
                  <a:alpha val="100000"/>
                </a:srgbClr>
              </a:solidFill>
              <a:effectLst/>
              <a:uLnTx/>
              <a:uFillTx/>
              <a:latin typeface="PingFang SC"/>
              <a:ea typeface="PingFang SC"/>
              <a:cs typeface="PingFang SC"/>
              <a:sym typeface="+mn-ea"/>
            </a:endParaRPr>
          </a:p>
        </p:txBody>
      </p:sp>
      <p:sp>
        <p:nvSpPr>
          <p:cNvPr id="161" name="箭头: 右 114"/>
          <p:cNvSpPr/>
          <p:nvPr/>
        </p:nvSpPr>
        <p:spPr>
          <a:xfrm>
            <a:off x="10149523" y="4615648"/>
            <a:ext cx="371475" cy="507365"/>
          </a:xfrm>
          <a:prstGeom prst="rightArrow">
            <a:avLst>
              <a:gd name="adj1" fmla="val 50000"/>
              <a:gd name="adj2" fmla="val 56929"/>
            </a:avLst>
          </a:prstGeom>
          <a:gradFill flip="none" rotWithShape="1">
            <a:gsLst>
              <a:gs pos="0">
                <a:srgbClr val="005ECE">
                  <a:alpha val="28000"/>
                </a:srgbClr>
              </a:gs>
              <a:gs pos="100000">
                <a:srgbClr val="005ECE">
                  <a:alpha val="0"/>
                </a:srgbClr>
              </a:gs>
            </a:gsLst>
            <a:lin ang="10800000" scaled="1"/>
            <a:tileRect/>
          </a:gradFill>
          <a:ln w="6350">
            <a:gradFill flip="none" rotWithShape="1">
              <a:gsLst>
                <a:gs pos="0">
                  <a:srgbClr val="005ECE"/>
                </a:gs>
                <a:gs pos="100000">
                  <a:srgbClr val="005ECE">
                    <a:alpha val="0"/>
                  </a:srgb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2" name="文本框 161"/>
          <p:cNvSpPr txBox="1"/>
          <p:nvPr/>
        </p:nvSpPr>
        <p:spPr>
          <a:xfrm>
            <a:off x="10089356" y="4106560"/>
            <a:ext cx="621982" cy="46166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prstClr val="white">
                    <a:lumMod val="50000"/>
                  </a:prstClr>
                </a:solidFill>
                <a:latin typeface="Arial" panose="020B0604020202020204"/>
                <a:ea typeface="微软雅黑" panose="020B0503020204020204" charset="-122"/>
                <a:sym typeface="+mn-ea"/>
              </a:rPr>
              <a:t>智能</a:t>
            </a:r>
            <a:endParaRPr lang="en-US" altLang="zh-CN" sz="1200" dirty="0">
              <a:solidFill>
                <a:prstClr val="white">
                  <a:lumMod val="50000"/>
                </a:prstClr>
              </a:solidFill>
              <a:latin typeface="Arial" panose="020B0604020202020204"/>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sym typeface="+mn-ea"/>
              </a:rPr>
              <a:t>应用</a:t>
            </a:r>
            <a:endPar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a:ea typeface="微软雅黑" panose="020B0503020204020204" charset="-122"/>
              <a:cs typeface="+mn-cs"/>
              <a:sym typeface="+mn-ea"/>
            </a:endParaRPr>
          </a:p>
        </p:txBody>
      </p:sp>
      <p:sp>
        <p:nvSpPr>
          <p:cNvPr id="163" name="流程图: 过程 162"/>
          <p:cNvSpPr/>
          <p:nvPr/>
        </p:nvSpPr>
        <p:spPr>
          <a:xfrm>
            <a:off x="10626725" y="1305560"/>
            <a:ext cx="1020445" cy="5041900"/>
          </a:xfrm>
          <a:prstGeom prst="flowChartProcess">
            <a:avLst/>
          </a:prstGeom>
          <a:noFill/>
          <a:ln>
            <a:solidFill>
              <a:srgbClr val="6267F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rPr>
              <a:t>智能场景</a:t>
            </a:r>
            <a:endParaRPr kumimoji="0" lang="en-US" altLang="zh-CN"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dirty="0">
                <a:solidFill>
                  <a:prstClr val="black"/>
                </a:solidFill>
                <a:latin typeface="Arial" panose="020B0604020202020204"/>
                <a:ea typeface="微软雅黑" panose="020B0503020204020204" charset="-122"/>
              </a:rPr>
              <a:t>应用</a:t>
            </a:r>
            <a:endParaRPr kumimoji="0" lang="zh-CN" altLang="en-US" sz="1400" b="1"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p:sp>
        <p:nvSpPr>
          <p:cNvPr id="164" name="圆角矩形 83"/>
          <p:cNvSpPr/>
          <p:nvPr/>
        </p:nvSpPr>
        <p:spPr>
          <a:xfrm>
            <a:off x="10721975" y="2078990"/>
            <a:ext cx="850900" cy="5143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rPr>
              <a:t>图书馆</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rPr>
              <a:t>智能客服</a:t>
            </a:r>
            <a:endPar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endParaRPr>
          </a:p>
        </p:txBody>
      </p:sp>
      <p:grpSp>
        <p:nvGrpSpPr>
          <p:cNvPr id="165" name="组合 164"/>
          <p:cNvGrpSpPr/>
          <p:nvPr/>
        </p:nvGrpSpPr>
        <p:grpSpPr>
          <a:xfrm>
            <a:off x="2106441" y="1624725"/>
            <a:ext cx="1543050" cy="2832250"/>
            <a:chOff x="1917700" y="1952625"/>
            <a:chExt cx="1543050" cy="3686175"/>
          </a:xfrm>
        </p:grpSpPr>
        <p:sp>
          <p:nvSpPr>
            <p:cNvPr id="166" name="矩形: 圆角 197"/>
            <p:cNvSpPr/>
            <p:nvPr/>
          </p:nvSpPr>
          <p:spPr>
            <a:xfrm>
              <a:off x="1920875" y="1999615"/>
              <a:ext cx="1534160" cy="3639185"/>
            </a:xfrm>
            <a:prstGeom prst="roundRect">
              <a:avLst>
                <a:gd name="adj" fmla="val 9557"/>
              </a:avLst>
            </a:prstGeom>
            <a:noFill/>
            <a:ln w="6350">
              <a:solidFill>
                <a:srgbClr val="005E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67" name="矩形: 圆顶角 198"/>
            <p:cNvSpPr/>
            <p:nvPr/>
          </p:nvSpPr>
          <p:spPr>
            <a:xfrm>
              <a:off x="1917700" y="1952625"/>
              <a:ext cx="1543050" cy="379730"/>
            </a:xfrm>
            <a:prstGeom prst="round2SameRect">
              <a:avLst>
                <a:gd name="adj1" fmla="val 22057"/>
                <a:gd name="adj2" fmla="val 0"/>
              </a:avLst>
            </a:prstGeom>
            <a:solidFill>
              <a:srgbClr val="005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prstClr val="white"/>
                  </a:solidFill>
                  <a:latin typeface="Arial" panose="020B0604020202020204"/>
                  <a:ea typeface="微软雅黑" panose="020B0503020204020204" charset="-122"/>
                  <a:sym typeface="+mn-ea"/>
                </a:rPr>
                <a:t>知识采集</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sym typeface="+mn-ea"/>
              </a:endParaRPr>
            </a:p>
          </p:txBody>
        </p:sp>
        <p:sp>
          <p:nvSpPr>
            <p:cNvPr id="168" name="矩形 167"/>
            <p:cNvSpPr/>
            <p:nvPr/>
          </p:nvSpPr>
          <p:spPr>
            <a:xfrm>
              <a:off x="2129790" y="2448560"/>
              <a:ext cx="1136650" cy="1826260"/>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prstClr val="white"/>
                  </a:solidFill>
                  <a:latin typeface="微软雅黑" panose="020B0503020204020204" charset="-122"/>
                  <a:ea typeface="微软雅黑" panose="020B0503020204020204" charset="-122"/>
                </a:rPr>
                <a:t>多模态知识</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69" name="矩形 168"/>
            <p:cNvSpPr/>
            <p:nvPr/>
          </p:nvSpPr>
          <p:spPr>
            <a:xfrm>
              <a:off x="2297431" y="2760346"/>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sym typeface="+mn-ea"/>
                </a:rPr>
                <a:t>文档知识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170" name="矩形 169"/>
            <p:cNvSpPr/>
            <p:nvPr/>
          </p:nvSpPr>
          <p:spPr>
            <a:xfrm>
              <a:off x="2297431" y="3067686"/>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rgbClr val="005ECE"/>
                  </a:solidFill>
                  <a:latin typeface="Arial" panose="020B0604020202020204"/>
                  <a:ea typeface="微软雅黑" panose="020B0503020204020204" charset="-122"/>
                </a:rPr>
                <a:t>FAQ</a:t>
              </a:r>
              <a:r>
                <a:rPr lang="zh-CN" altLang="en-US" sz="1000" dirty="0">
                  <a:solidFill>
                    <a:srgbClr val="005ECE"/>
                  </a:solidFill>
                  <a:latin typeface="Arial" panose="020B0604020202020204"/>
                  <a:ea typeface="微软雅黑" panose="020B0503020204020204" charset="-122"/>
                </a:rPr>
                <a:t>知识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71" name="矩形 170"/>
            <p:cNvSpPr/>
            <p:nvPr/>
          </p:nvSpPr>
          <p:spPr>
            <a:xfrm>
              <a:off x="2297748" y="3364866"/>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rgbClr val="005ECE"/>
                  </a:solidFill>
                  <a:latin typeface="Arial" panose="020B0604020202020204"/>
                  <a:ea typeface="微软雅黑" panose="020B0503020204020204" charset="-122"/>
                </a:rPr>
                <a:t>Web</a:t>
              </a:r>
              <a:r>
                <a:rPr lang="zh-CN" altLang="en-US" sz="1000" dirty="0">
                  <a:solidFill>
                    <a:srgbClr val="005ECE"/>
                  </a:solidFill>
                  <a:latin typeface="Arial" panose="020B0604020202020204"/>
                  <a:ea typeface="微软雅黑" panose="020B0503020204020204" charset="-122"/>
                </a:rPr>
                <a:t>知识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72" name="矩形 171"/>
            <p:cNvSpPr/>
            <p:nvPr/>
          </p:nvSpPr>
          <p:spPr>
            <a:xfrm>
              <a:off x="2288857" y="3648709"/>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图片知识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73" name="矩形 172"/>
            <p:cNvSpPr/>
            <p:nvPr/>
          </p:nvSpPr>
          <p:spPr>
            <a:xfrm>
              <a:off x="2289174" y="3945889"/>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dirty="0">
                  <a:solidFill>
                    <a:srgbClr val="005ECE"/>
                  </a:solidFill>
                  <a:latin typeface="Arial" panose="020B0604020202020204"/>
                  <a:ea typeface="微软雅黑" panose="020B0503020204020204" charset="-122"/>
                </a:rPr>
                <a:t>音视频知识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74" name="矩形 173"/>
            <p:cNvSpPr/>
            <p:nvPr/>
          </p:nvSpPr>
          <p:spPr>
            <a:xfrm>
              <a:off x="2119075" y="4351655"/>
              <a:ext cx="1136650" cy="1227455"/>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prstClr val="white"/>
                  </a:solidFill>
                  <a:latin typeface="微软雅黑" panose="020B0503020204020204" charset="-122"/>
                  <a:ea typeface="微软雅黑" panose="020B0503020204020204" charset="-122"/>
                </a:rPr>
                <a:t>采集方式</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5" name="矩形 174"/>
            <p:cNvSpPr/>
            <p:nvPr/>
          </p:nvSpPr>
          <p:spPr>
            <a:xfrm>
              <a:off x="2286716" y="4663441"/>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sym typeface="+mn-ea"/>
                </a:rPr>
                <a:t>本地上传</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176" name="矩形 175"/>
            <p:cNvSpPr/>
            <p:nvPr/>
          </p:nvSpPr>
          <p:spPr>
            <a:xfrm>
              <a:off x="2286716" y="4970781"/>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对象存储</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77" name="矩形 176"/>
            <p:cNvSpPr/>
            <p:nvPr/>
          </p:nvSpPr>
          <p:spPr>
            <a:xfrm>
              <a:off x="2287033" y="5267961"/>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知识接入</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grpSp>
      <p:sp>
        <p:nvSpPr>
          <p:cNvPr id="178" name="圆角矩形 83"/>
          <p:cNvSpPr/>
          <p:nvPr/>
        </p:nvSpPr>
        <p:spPr>
          <a:xfrm>
            <a:off x="10721975" y="2788285"/>
            <a:ext cx="850900" cy="5143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rPr>
              <a:t>知识库</a:t>
            </a:r>
            <a:endPar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rPr>
              <a:t>问答</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p:txBody>
      </p:sp>
      <p:sp>
        <p:nvSpPr>
          <p:cNvPr id="179" name="圆角矩形 83"/>
          <p:cNvSpPr/>
          <p:nvPr/>
        </p:nvSpPr>
        <p:spPr>
          <a:xfrm>
            <a:off x="10721975" y="3498215"/>
            <a:ext cx="850900" cy="5143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prstClr val="black"/>
                </a:solidFill>
                <a:latin typeface="Arial" panose="020B0604020202020204"/>
                <a:ea typeface="微软雅黑" panose="020B0503020204020204" charset="-122"/>
                <a:sym typeface="+mn-ea"/>
              </a:rPr>
              <a:t>广播</a:t>
            </a:r>
            <a:r>
              <a:rPr lang="zh-CN" altLang="en-US" sz="1200" dirty="0">
                <a:solidFill>
                  <a:prstClr val="black"/>
                </a:solidFill>
                <a:latin typeface="Arial" panose="020B0604020202020204"/>
                <a:ea typeface="微软雅黑" panose="020B0503020204020204" charset="-122"/>
                <a:sym typeface="+mn-ea"/>
              </a:rPr>
              <a:t>站语音助手</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p:txBody>
      </p:sp>
      <p:sp>
        <p:nvSpPr>
          <p:cNvPr id="180" name="圆角矩形 83"/>
          <p:cNvSpPr/>
          <p:nvPr/>
        </p:nvSpPr>
        <p:spPr>
          <a:xfrm>
            <a:off x="10721975" y="4207510"/>
            <a:ext cx="850900" cy="5143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rPr>
              <a:t>智能报告分析</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p:txBody>
      </p:sp>
      <p:sp>
        <p:nvSpPr>
          <p:cNvPr id="181" name="圆角矩形 83"/>
          <p:cNvSpPr/>
          <p:nvPr/>
        </p:nvSpPr>
        <p:spPr>
          <a:xfrm>
            <a:off x="10736580" y="4916805"/>
            <a:ext cx="835660" cy="5143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prstClr val="black"/>
                </a:solidFill>
                <a:latin typeface="Arial" panose="020B0604020202020204"/>
                <a:ea typeface="微软雅黑" panose="020B0503020204020204" charset="-122"/>
                <a:sym typeface="+mn-ea"/>
              </a:rPr>
              <a:t>教务方案审查</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p:txBody>
      </p:sp>
      <p:sp>
        <p:nvSpPr>
          <p:cNvPr id="182" name="圆角矩形 83"/>
          <p:cNvSpPr/>
          <p:nvPr/>
        </p:nvSpPr>
        <p:spPr>
          <a:xfrm>
            <a:off x="10744994" y="5626328"/>
            <a:ext cx="758190" cy="514382"/>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prstClr val="black"/>
                </a:solidFill>
                <a:latin typeface="Arial" panose="020B0604020202020204"/>
                <a:ea typeface="微软雅黑" panose="020B0503020204020204" charset="-122"/>
                <a:sym typeface="+mn-ea"/>
              </a:rPr>
              <a:t>更多</a:t>
            </a:r>
            <a:endParaRPr kumimoji="0" lang="en-US" altLang="zh-CN" sz="1200" b="0" i="0" u="none" strike="noStrike" kern="1200" cap="none" spc="0" normalizeH="0" baseline="0" noProof="0" dirty="0">
              <a:ln>
                <a:noFill/>
              </a:ln>
              <a:solidFill>
                <a:prstClr val="black"/>
              </a:solidFill>
              <a:effectLst/>
              <a:uLnTx/>
              <a:uFillTx/>
              <a:latin typeface="Arial" panose="020B0604020202020204"/>
              <a:ea typeface="微软雅黑" panose="020B0503020204020204" charset="-122"/>
              <a:cs typeface="+mn-cs"/>
              <a:sym typeface="+mn-ea"/>
            </a:endParaRPr>
          </a:p>
        </p:txBody>
      </p:sp>
      <p:grpSp>
        <p:nvGrpSpPr>
          <p:cNvPr id="183" name="组合 182"/>
          <p:cNvGrpSpPr/>
          <p:nvPr/>
        </p:nvGrpSpPr>
        <p:grpSpPr>
          <a:xfrm>
            <a:off x="8148491" y="1608631"/>
            <a:ext cx="1543050" cy="2838500"/>
            <a:chOff x="8147079" y="1998330"/>
            <a:chExt cx="1543050" cy="3674745"/>
          </a:xfrm>
        </p:grpSpPr>
        <p:grpSp>
          <p:nvGrpSpPr>
            <p:cNvPr id="184" name="组合 183"/>
            <p:cNvGrpSpPr/>
            <p:nvPr/>
          </p:nvGrpSpPr>
          <p:grpSpPr>
            <a:xfrm>
              <a:off x="8147079" y="1998330"/>
              <a:ext cx="1543050" cy="3674745"/>
              <a:chOff x="8069660" y="1964055"/>
              <a:chExt cx="1543050" cy="3674745"/>
            </a:xfrm>
          </p:grpSpPr>
          <p:sp>
            <p:nvSpPr>
              <p:cNvPr id="185" name="矩形: 圆角 197"/>
              <p:cNvSpPr/>
              <p:nvPr/>
            </p:nvSpPr>
            <p:spPr>
              <a:xfrm>
                <a:off x="8073470" y="2011680"/>
                <a:ext cx="1534160" cy="3627120"/>
              </a:xfrm>
              <a:prstGeom prst="roundRect">
                <a:avLst>
                  <a:gd name="adj" fmla="val 9557"/>
                </a:avLst>
              </a:prstGeom>
              <a:noFill/>
              <a:ln w="6350">
                <a:solidFill>
                  <a:srgbClr val="005E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6" name="矩形: 圆顶角 198"/>
              <p:cNvSpPr/>
              <p:nvPr/>
            </p:nvSpPr>
            <p:spPr>
              <a:xfrm>
                <a:off x="8069660" y="1964055"/>
                <a:ext cx="1543050" cy="379730"/>
              </a:xfrm>
              <a:prstGeom prst="round2SameRect">
                <a:avLst>
                  <a:gd name="adj1" fmla="val 22057"/>
                  <a:gd name="adj2" fmla="val 0"/>
                </a:avLst>
              </a:prstGeom>
              <a:solidFill>
                <a:srgbClr val="005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sym typeface="+mn-ea"/>
                  </a:rPr>
                  <a:t>知识应用</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sym typeface="+mn-ea"/>
                </a:endParaRPr>
              </a:p>
            </p:txBody>
          </p:sp>
          <p:sp>
            <p:nvSpPr>
              <p:cNvPr id="187" name="矩形 186"/>
              <p:cNvSpPr/>
              <p:nvPr/>
            </p:nvSpPr>
            <p:spPr>
              <a:xfrm>
                <a:off x="8278893" y="3755359"/>
                <a:ext cx="1136650" cy="1200817"/>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prstClr val="white"/>
                    </a:solidFill>
                    <a:latin typeface="微软雅黑" panose="020B0503020204020204" charset="-122"/>
                    <a:ea typeface="微软雅黑" panose="020B0503020204020204" charset="-122"/>
                  </a:rPr>
                  <a:t>多模态知识检索</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88" name="矩形 187"/>
              <p:cNvSpPr/>
              <p:nvPr/>
            </p:nvSpPr>
            <p:spPr>
              <a:xfrm>
                <a:off x="8456059" y="4067145"/>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sym typeface="+mn-ea"/>
                  </a:rPr>
                  <a:t>全文检索</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189" name="矩形 188"/>
              <p:cNvSpPr/>
              <p:nvPr/>
            </p:nvSpPr>
            <p:spPr>
              <a:xfrm>
                <a:off x="8456059" y="4374485"/>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语义检索</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90" name="矩形 189"/>
              <p:cNvSpPr/>
              <p:nvPr/>
            </p:nvSpPr>
            <p:spPr>
              <a:xfrm>
                <a:off x="8465901" y="4671665"/>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混合检索</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91" name="矩形 190"/>
              <p:cNvSpPr/>
              <p:nvPr/>
            </p:nvSpPr>
            <p:spPr>
              <a:xfrm>
                <a:off x="8289370" y="2449195"/>
                <a:ext cx="1136650" cy="1275081"/>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prstClr val="white"/>
                    </a:solidFill>
                    <a:latin typeface="微软雅黑" panose="020B0503020204020204" charset="-122"/>
                    <a:ea typeface="微软雅黑" panose="020B0503020204020204" charset="-122"/>
                  </a:rPr>
                  <a:t>多模态知识问答</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92" name="矩形 191"/>
              <p:cNvSpPr/>
              <p:nvPr/>
            </p:nvSpPr>
            <p:spPr>
              <a:xfrm>
                <a:off x="8476061" y="2760981"/>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rPr>
                  <a:t>图文问答</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193" name="矩形 192"/>
              <p:cNvSpPr/>
              <p:nvPr/>
            </p:nvSpPr>
            <p:spPr>
              <a:xfrm>
                <a:off x="8476061" y="3068321"/>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知识</a:t>
                </a: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溯源</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194" name="矩形 193"/>
              <p:cNvSpPr/>
              <p:nvPr/>
            </p:nvSpPr>
            <p:spPr>
              <a:xfrm>
                <a:off x="8485903" y="3365501"/>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搜索问答</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grpSp>
        <p:grpSp>
          <p:nvGrpSpPr>
            <p:cNvPr id="195" name="组合 194"/>
            <p:cNvGrpSpPr/>
            <p:nvPr/>
          </p:nvGrpSpPr>
          <p:grpSpPr>
            <a:xfrm>
              <a:off x="8354061" y="5035359"/>
              <a:ext cx="1136650" cy="600409"/>
              <a:chOff x="8354061" y="5035359"/>
              <a:chExt cx="1136650" cy="600409"/>
            </a:xfrm>
          </p:grpSpPr>
          <p:sp>
            <p:nvSpPr>
              <p:cNvPr id="196" name="矩形 195"/>
              <p:cNvSpPr/>
              <p:nvPr/>
            </p:nvSpPr>
            <p:spPr>
              <a:xfrm>
                <a:off x="8354061" y="5035359"/>
                <a:ext cx="1136650" cy="600409"/>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97" name="矩形 196"/>
              <p:cNvSpPr/>
              <p:nvPr/>
            </p:nvSpPr>
            <p:spPr>
              <a:xfrm>
                <a:off x="8488707" y="5110649"/>
                <a:ext cx="898286"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rPr>
                  <a:t>文档结构化</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198" name="矩形 197"/>
              <p:cNvSpPr/>
              <p:nvPr/>
            </p:nvSpPr>
            <p:spPr>
              <a:xfrm>
                <a:off x="8488707" y="5376334"/>
                <a:ext cx="898286"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rPr>
                  <a:t>文档信息提取</a:t>
                </a:r>
                <a:endPar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grpSp>
      </p:grpSp>
      <p:grpSp>
        <p:nvGrpSpPr>
          <p:cNvPr id="199" name="组合 198"/>
          <p:cNvGrpSpPr/>
          <p:nvPr/>
        </p:nvGrpSpPr>
        <p:grpSpPr>
          <a:xfrm>
            <a:off x="6130438" y="1608537"/>
            <a:ext cx="1543050" cy="2843580"/>
            <a:chOff x="6136034" y="1993250"/>
            <a:chExt cx="1543050" cy="3679190"/>
          </a:xfrm>
        </p:grpSpPr>
        <p:grpSp>
          <p:nvGrpSpPr>
            <p:cNvPr id="200" name="组合 199"/>
            <p:cNvGrpSpPr/>
            <p:nvPr/>
          </p:nvGrpSpPr>
          <p:grpSpPr>
            <a:xfrm>
              <a:off x="6136034" y="1993250"/>
              <a:ext cx="1543050" cy="3679190"/>
              <a:chOff x="5824220" y="1958975"/>
              <a:chExt cx="1543050" cy="3679190"/>
            </a:xfrm>
          </p:grpSpPr>
          <p:sp>
            <p:nvSpPr>
              <p:cNvPr id="201" name="矩形: 圆角 197"/>
              <p:cNvSpPr/>
              <p:nvPr/>
            </p:nvSpPr>
            <p:spPr>
              <a:xfrm>
                <a:off x="5828030" y="2005330"/>
                <a:ext cx="1534160" cy="3632835"/>
              </a:xfrm>
              <a:prstGeom prst="roundRect">
                <a:avLst>
                  <a:gd name="adj" fmla="val 9557"/>
                </a:avLst>
              </a:prstGeom>
              <a:noFill/>
              <a:ln w="6350">
                <a:solidFill>
                  <a:srgbClr val="005E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02" name="矩形: 圆顶角 198"/>
              <p:cNvSpPr/>
              <p:nvPr/>
            </p:nvSpPr>
            <p:spPr>
              <a:xfrm>
                <a:off x="5824220" y="1958975"/>
                <a:ext cx="1543050" cy="379730"/>
              </a:xfrm>
              <a:prstGeom prst="round2SameRect">
                <a:avLst>
                  <a:gd name="adj1" fmla="val 22057"/>
                  <a:gd name="adj2" fmla="val 0"/>
                </a:avLst>
              </a:prstGeom>
              <a:solidFill>
                <a:srgbClr val="005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prstClr val="white"/>
                    </a:solidFill>
                    <a:latin typeface="Arial" panose="020B0604020202020204"/>
                    <a:ea typeface="微软雅黑" panose="020B0503020204020204" charset="-122"/>
                    <a:sym typeface="+mn-ea"/>
                  </a:rPr>
                  <a:t>知识索引</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sym typeface="+mn-ea"/>
                </a:endParaRPr>
              </a:p>
            </p:txBody>
          </p:sp>
          <p:sp>
            <p:nvSpPr>
              <p:cNvPr id="203" name="矩形 202"/>
              <p:cNvSpPr/>
              <p:nvPr/>
            </p:nvSpPr>
            <p:spPr>
              <a:xfrm>
                <a:off x="6035358" y="2448560"/>
                <a:ext cx="1136650" cy="1283802"/>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prstClr val="white"/>
                    </a:solidFill>
                    <a:latin typeface="微软雅黑" panose="020B0503020204020204" charset="-122"/>
                    <a:ea typeface="微软雅黑" panose="020B0503020204020204" charset="-122"/>
                  </a:rPr>
                  <a:t>知识分块</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4" name="矩形 203"/>
              <p:cNvSpPr/>
              <p:nvPr/>
            </p:nvSpPr>
            <p:spPr>
              <a:xfrm>
                <a:off x="6211466" y="2677103"/>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sym typeface="+mn-ea"/>
                  </a:rPr>
                  <a:t>段落切分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205" name="矩形 204"/>
              <p:cNvSpPr/>
              <p:nvPr/>
            </p:nvSpPr>
            <p:spPr>
              <a:xfrm>
                <a:off x="6202999" y="2932215"/>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章节切分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206" name="矩形 205"/>
              <p:cNvSpPr/>
              <p:nvPr/>
            </p:nvSpPr>
            <p:spPr>
              <a:xfrm>
                <a:off x="6208544" y="3193579"/>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dirty="0">
                    <a:solidFill>
                      <a:srgbClr val="005ECE"/>
                    </a:solidFill>
                    <a:latin typeface="Arial" panose="020B0604020202020204"/>
                    <a:ea typeface="微软雅黑" panose="020B0503020204020204" charset="-122"/>
                  </a:rPr>
                  <a:t>分隔符切分</a:t>
                </a:r>
                <a:endPar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207" name="矩形 206"/>
              <p:cNvSpPr/>
              <p:nvPr/>
            </p:nvSpPr>
            <p:spPr>
              <a:xfrm>
                <a:off x="6199271" y="3446415"/>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dirty="0">
                    <a:solidFill>
                      <a:srgbClr val="005ECE"/>
                    </a:solidFill>
                    <a:latin typeface="Arial" panose="020B0604020202020204"/>
                    <a:ea typeface="微软雅黑" panose="020B0503020204020204" charset="-122"/>
                  </a:rPr>
                  <a:t>字符长度切分</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208" name="矩形 207"/>
              <p:cNvSpPr/>
              <p:nvPr/>
            </p:nvSpPr>
            <p:spPr>
              <a:xfrm>
                <a:off x="6030079" y="4554835"/>
                <a:ext cx="1136650" cy="1043066"/>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索引构建</a:t>
                </a: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9" name="矩形 208"/>
              <p:cNvSpPr/>
              <p:nvPr/>
            </p:nvSpPr>
            <p:spPr>
              <a:xfrm>
                <a:off x="6197720" y="4785951"/>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rPr>
                  <a:t>向量索引</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210" name="矩形 209"/>
              <p:cNvSpPr/>
              <p:nvPr/>
            </p:nvSpPr>
            <p:spPr>
              <a:xfrm>
                <a:off x="6197720" y="5059424"/>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rgbClr val="005ECE"/>
                    </a:solidFill>
                    <a:latin typeface="Arial" panose="020B0604020202020204"/>
                    <a:ea typeface="微软雅黑" panose="020B0503020204020204" charset="-122"/>
                  </a:rPr>
                  <a:t>倒排索引</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sp>
            <p:nvSpPr>
              <p:cNvPr id="211" name="矩形 210"/>
              <p:cNvSpPr/>
              <p:nvPr/>
            </p:nvSpPr>
            <p:spPr>
              <a:xfrm>
                <a:off x="6198037" y="5339670"/>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900" dirty="0">
                    <a:solidFill>
                      <a:srgbClr val="005ECE"/>
                    </a:solidFill>
                    <a:latin typeface="Arial" panose="020B0604020202020204"/>
                    <a:ea typeface="微软雅黑" panose="020B0503020204020204" charset="-122"/>
                  </a:rPr>
                  <a:t>混合索引</a:t>
                </a:r>
                <a:endParaRPr kumimoji="0" lang="zh-CN" altLang="en-US" sz="9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grpSp>
        <p:sp>
          <p:nvSpPr>
            <p:cNvPr id="212" name="矩形 211"/>
            <p:cNvSpPr/>
            <p:nvPr/>
          </p:nvSpPr>
          <p:spPr>
            <a:xfrm>
              <a:off x="6341723" y="3805809"/>
              <a:ext cx="1136650" cy="737103"/>
            </a:xfrm>
            <a:prstGeom prst="rect">
              <a:avLst/>
            </a:prstGeom>
            <a:solidFill>
              <a:srgbClr val="005EC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问答萃取</a:t>
              </a:r>
              <a:endParaRPr kumimoji="0" lang="zh-CN" altLang="en-US" sz="9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13" name="矩形 212"/>
            <p:cNvSpPr/>
            <p:nvPr/>
          </p:nvSpPr>
          <p:spPr>
            <a:xfrm>
              <a:off x="6517831" y="4017418"/>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rPr>
                <a:t>问答生成</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sym typeface="+mn-ea"/>
              </a:endParaRPr>
            </a:p>
          </p:txBody>
        </p:sp>
        <p:sp>
          <p:nvSpPr>
            <p:cNvPr id="214" name="矩形 213"/>
            <p:cNvSpPr/>
            <p:nvPr/>
          </p:nvSpPr>
          <p:spPr>
            <a:xfrm>
              <a:off x="6509364" y="4272530"/>
              <a:ext cx="817245" cy="2089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rPr>
                <a:t>问答校验</a:t>
              </a:r>
              <a:endParaRPr kumimoji="0" lang="zh-CN" altLang="en-US" sz="1000" b="0" i="0" u="none" strike="noStrike" kern="1200" cap="none" spc="0" normalizeH="0" baseline="0" noProof="0" dirty="0">
                <a:ln>
                  <a:noFill/>
                </a:ln>
                <a:solidFill>
                  <a:srgbClr val="005ECE"/>
                </a:solidFill>
                <a:effectLst/>
                <a:uLnTx/>
                <a:uFillTx/>
                <a:latin typeface="Arial" panose="020B0604020202020204"/>
                <a:ea typeface="微软雅黑" panose="020B0503020204020204" charset="-122"/>
                <a:cs typeface="+mn-cs"/>
              </a:endParaRPr>
            </a:p>
          </p:txBody>
        </p:sp>
      </p:grpSp>
      <p:pic>
        <p:nvPicPr>
          <p:cNvPr id="215" name="图片 214"/>
          <p:cNvPicPr>
            <a:picLocks noChangeAspect="1"/>
          </p:cNvPicPr>
          <p:nvPr/>
        </p:nvPicPr>
        <p:blipFill>
          <a:blip r:embed="rId6"/>
          <a:stretch>
            <a:fillRect/>
          </a:stretch>
        </p:blipFill>
        <p:spPr>
          <a:xfrm>
            <a:off x="4096068" y="4474275"/>
            <a:ext cx="1418596" cy="1050556"/>
          </a:xfrm>
          <a:prstGeom prst="rect">
            <a:avLst/>
          </a:prstGeom>
        </p:spPr>
      </p:pic>
      <p:pic>
        <p:nvPicPr>
          <p:cNvPr id="216" name="图片 215"/>
          <p:cNvPicPr>
            <a:picLocks noChangeAspect="1"/>
          </p:cNvPicPr>
          <p:nvPr/>
        </p:nvPicPr>
        <p:blipFill>
          <a:blip r:embed="rId7"/>
          <a:stretch>
            <a:fillRect/>
          </a:stretch>
        </p:blipFill>
        <p:spPr>
          <a:xfrm>
            <a:off x="6089015" y="4490148"/>
            <a:ext cx="1674953" cy="1049740"/>
          </a:xfrm>
          <a:prstGeom prst="rect">
            <a:avLst/>
          </a:prstGeom>
        </p:spPr>
      </p:pic>
      <p:pic>
        <p:nvPicPr>
          <p:cNvPr id="217" name="图片 216"/>
          <p:cNvPicPr>
            <a:picLocks noChangeAspect="1"/>
          </p:cNvPicPr>
          <p:nvPr/>
        </p:nvPicPr>
        <p:blipFill>
          <a:blip r:embed="rId8"/>
          <a:stretch>
            <a:fillRect/>
          </a:stretch>
        </p:blipFill>
        <p:spPr>
          <a:xfrm>
            <a:off x="8117756" y="4508229"/>
            <a:ext cx="1612503" cy="1032770"/>
          </a:xfrm>
          <a:prstGeom prst="rect">
            <a:avLst/>
          </a:prstGeom>
        </p:spPr>
      </p:pic>
      <p:pic>
        <p:nvPicPr>
          <p:cNvPr id="218" name="图片 217"/>
          <p:cNvPicPr>
            <a:picLocks noChangeAspect="1"/>
          </p:cNvPicPr>
          <p:nvPr/>
        </p:nvPicPr>
        <p:blipFill>
          <a:blip r:embed="rId9"/>
          <a:stretch>
            <a:fillRect/>
          </a:stretch>
        </p:blipFill>
        <p:spPr>
          <a:xfrm>
            <a:off x="2248231" y="4696411"/>
            <a:ext cx="1248155" cy="258239"/>
          </a:xfrm>
          <a:prstGeom prst="rect">
            <a:avLst/>
          </a:prstGeom>
        </p:spPr>
      </p:pic>
      <p:pic>
        <p:nvPicPr>
          <p:cNvPr id="219" name="图片 218"/>
          <p:cNvPicPr>
            <a:picLocks noChangeAspect="1"/>
          </p:cNvPicPr>
          <p:nvPr/>
        </p:nvPicPr>
        <p:blipFill>
          <a:blip r:embed="rId10"/>
          <a:stretch>
            <a:fillRect/>
          </a:stretch>
        </p:blipFill>
        <p:spPr>
          <a:xfrm>
            <a:off x="2276806" y="5042613"/>
            <a:ext cx="976249" cy="293871"/>
          </a:xfrm>
          <a:prstGeom prst="rect">
            <a:avLst/>
          </a:prstGeom>
        </p:spPr>
      </p:pic>
      <p:sp>
        <p:nvSpPr>
          <p:cNvPr id="220" name="箭头: 右 114"/>
          <p:cNvSpPr/>
          <p:nvPr/>
        </p:nvSpPr>
        <p:spPr>
          <a:xfrm>
            <a:off x="3621489" y="4634790"/>
            <a:ext cx="371475" cy="507365"/>
          </a:xfrm>
          <a:prstGeom prst="rightArrow">
            <a:avLst>
              <a:gd name="adj1" fmla="val 50000"/>
              <a:gd name="adj2" fmla="val 56929"/>
            </a:avLst>
          </a:prstGeom>
          <a:gradFill flip="none" rotWithShape="1">
            <a:gsLst>
              <a:gs pos="0">
                <a:schemeClr val="bg1">
                  <a:lumMod val="75000"/>
                </a:schemeClr>
              </a:gs>
              <a:gs pos="100000">
                <a:schemeClr val="bg1"/>
              </a:gs>
            </a:gsLst>
            <a:lin ang="10800000" scaled="1"/>
            <a:tileRect/>
          </a:gradFill>
          <a:ln w="6350">
            <a:gradFill flip="none" rotWithShape="1">
              <a:gsLst>
                <a:gs pos="0">
                  <a:schemeClr val="bg1">
                    <a:lumMod val="50000"/>
                  </a:schemeClr>
                </a:gs>
                <a:gs pos="100000">
                  <a:schemeClr val="bg1"/>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1" name="箭头: 右 114"/>
          <p:cNvSpPr/>
          <p:nvPr/>
        </p:nvSpPr>
        <p:spPr>
          <a:xfrm>
            <a:off x="5653241" y="4644092"/>
            <a:ext cx="371475" cy="507365"/>
          </a:xfrm>
          <a:prstGeom prst="rightArrow">
            <a:avLst>
              <a:gd name="adj1" fmla="val 50000"/>
              <a:gd name="adj2" fmla="val 56929"/>
            </a:avLst>
          </a:prstGeom>
          <a:gradFill flip="none" rotWithShape="1">
            <a:gsLst>
              <a:gs pos="0">
                <a:schemeClr val="bg1">
                  <a:lumMod val="75000"/>
                </a:schemeClr>
              </a:gs>
              <a:gs pos="100000">
                <a:schemeClr val="bg1"/>
              </a:gs>
            </a:gsLst>
            <a:lin ang="10800000" scaled="1"/>
            <a:tileRect/>
          </a:gradFill>
          <a:ln w="6350">
            <a:gradFill flip="none" rotWithShape="1">
              <a:gsLst>
                <a:gs pos="0">
                  <a:schemeClr val="bg1">
                    <a:lumMod val="50000"/>
                  </a:schemeClr>
                </a:gs>
                <a:gs pos="100000">
                  <a:schemeClr val="bg1"/>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2" name="箭头: 右 114"/>
          <p:cNvSpPr/>
          <p:nvPr/>
        </p:nvSpPr>
        <p:spPr>
          <a:xfrm>
            <a:off x="7771205" y="4644092"/>
            <a:ext cx="371475" cy="507365"/>
          </a:xfrm>
          <a:prstGeom prst="rightArrow">
            <a:avLst>
              <a:gd name="adj1" fmla="val 50000"/>
              <a:gd name="adj2" fmla="val 56929"/>
            </a:avLst>
          </a:prstGeom>
          <a:gradFill flip="none" rotWithShape="1">
            <a:gsLst>
              <a:gs pos="0">
                <a:schemeClr val="bg1">
                  <a:lumMod val="75000"/>
                </a:schemeClr>
              </a:gs>
              <a:gs pos="100000">
                <a:schemeClr val="bg1"/>
              </a:gs>
            </a:gsLst>
            <a:lin ang="10800000" scaled="1"/>
            <a:tileRect/>
          </a:gradFill>
          <a:ln w="6350">
            <a:gradFill flip="none" rotWithShape="1">
              <a:gsLst>
                <a:gs pos="0">
                  <a:schemeClr val="bg1">
                    <a:lumMod val="50000"/>
                  </a:schemeClr>
                </a:gs>
                <a:gs pos="100000">
                  <a:schemeClr val="bg1"/>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cb40078e1c576360e4f1c57a901e660"/>
          <p:cNvPicPr>
            <a:picLocks noChangeAspect="1"/>
          </p:cNvPicPr>
          <p:nvPr/>
        </p:nvPicPr>
        <p:blipFill>
          <a:blip r:embed="rId2"/>
          <a:srcRect l="2465" t="4644" r="2084" b="4351"/>
          <a:stretch>
            <a:fillRect/>
          </a:stretch>
        </p:blipFill>
        <p:spPr>
          <a:xfrm>
            <a:off x="546100" y="937260"/>
            <a:ext cx="11112500" cy="5524500"/>
          </a:xfrm>
          <a:prstGeom prst="rect">
            <a:avLst/>
          </a:prstGeom>
        </p:spPr>
      </p:pic>
      <p:sp>
        <p:nvSpPr>
          <p:cNvPr id="7" name="Subtitle 1"/>
          <p:cNvSpPr txBox="1"/>
          <p:nvPr/>
        </p:nvSpPr>
        <p:spPr>
          <a:xfrm>
            <a:off x="667385" y="455295"/>
            <a:ext cx="10736580" cy="4997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产品介绍</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场景落地</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
        <p:nvSpPr>
          <p:cNvPr id="162" name="文本框 4"/>
          <p:cNvSpPr txBox="1">
            <a:spLocks noChangeArrowheads="1"/>
          </p:cNvSpPr>
          <p:nvPr/>
        </p:nvSpPr>
        <p:spPr bwMode="auto">
          <a:xfrm>
            <a:off x="256" y="7630362"/>
            <a:ext cx="1026366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charset="-122"/>
                <a:ea typeface="微软雅黑" panose="020B0503020204020204" charset="-122"/>
              </a:defRPr>
            </a:lvl1pPr>
            <a:lvl2pPr marL="742950" indent="-285750">
              <a:defRPr>
                <a:solidFill>
                  <a:schemeClr val="tx1"/>
                </a:solidFill>
                <a:latin typeface="微软雅黑" panose="020B0503020204020204" charset="-122"/>
                <a:ea typeface="微软雅黑" panose="020B0503020204020204" charset="-122"/>
              </a:defRPr>
            </a:lvl2pPr>
            <a:lvl3pPr marL="1143000" indent="-228600">
              <a:defRPr>
                <a:solidFill>
                  <a:schemeClr val="tx1"/>
                </a:solidFill>
                <a:latin typeface="微软雅黑" panose="020B0503020204020204" charset="-122"/>
                <a:ea typeface="微软雅黑" panose="020B0503020204020204" charset="-122"/>
              </a:defRPr>
            </a:lvl3pPr>
            <a:lvl4pPr marL="1600200" indent="-228600">
              <a:defRPr>
                <a:solidFill>
                  <a:schemeClr val="tx1"/>
                </a:solidFill>
                <a:latin typeface="微软雅黑" panose="020B0503020204020204" charset="-122"/>
                <a:ea typeface="微软雅黑" panose="020B0503020204020204" charset="-122"/>
              </a:defRPr>
            </a:lvl4pPr>
            <a:lvl5pPr marL="2057400" indent="-228600">
              <a:defRPr>
                <a:solidFill>
                  <a:schemeClr val="tx1"/>
                </a:solidFill>
                <a:latin typeface="微软雅黑" panose="020B0503020204020204" charset="-122"/>
                <a:ea typeface="微软雅黑" panose="020B0503020204020204" charset="-122"/>
              </a:defRPr>
            </a:lvl5pPr>
            <a:lvl6pPr marL="25146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6pPr>
            <a:lvl7pPr marL="29718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7pPr>
            <a:lvl8pPr marL="34290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8pPr>
            <a:lvl9pPr marL="3886200" indent="-228600" eaLnBrk="0" fontAlgn="base" hangingPunct="0">
              <a:spcBef>
                <a:spcPct val="0"/>
              </a:spcBef>
              <a:spcAft>
                <a:spcPct val="0"/>
              </a:spcAft>
              <a:defRPr>
                <a:solidFill>
                  <a:schemeClr val="tx1"/>
                </a:solidFill>
                <a:latin typeface="微软雅黑" panose="020B0503020204020204" charset="-122"/>
                <a:ea typeface="微软雅黑" panose="020B0503020204020204"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rgbClr val="005BAC"/>
                </a:solidFill>
                <a:latin typeface="Arial" panose="020B0604020202020204" pitchFamily="34" charset="0"/>
                <a:ea typeface="汉仪文黑-85简" panose="00020600040101010101" charset="-122"/>
                <a:sym typeface="微软雅黑" panose="020B0503020204020204" charset="-122"/>
              </a:rPr>
              <a:t>业务场景支撑能力分析</a:t>
            </a:r>
            <a:endParaRPr lang="zh-CN" altLang="en-US" sz="2000" b="1" dirty="0">
              <a:solidFill>
                <a:srgbClr val="005BAC"/>
              </a:solidFill>
              <a:latin typeface="Arial" panose="020B0604020202020204" pitchFamily="34" charset="0"/>
              <a:ea typeface="汉仪文黑-85简" panose="00020600040101010101" charset="-122"/>
              <a:sym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Subtitle 1"/>
          <p:cNvSpPr txBox="1"/>
          <p:nvPr/>
        </p:nvSpPr>
        <p:spPr>
          <a:xfrm>
            <a:off x="667385" y="455295"/>
            <a:ext cx="10736580" cy="4997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产品介绍</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需求设计</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
        <p:nvSpPr>
          <p:cNvPr id="12" name="任意多边形: 形状 16"/>
          <p:cNvSpPr/>
          <p:nvPr>
            <p:custDataLst>
              <p:tags r:id="rId2"/>
            </p:custDataLst>
          </p:nvPr>
        </p:nvSpPr>
        <p:spPr>
          <a:xfrm>
            <a:off x="718820" y="1247458"/>
            <a:ext cx="6374765" cy="388620"/>
          </a:xfrm>
          <a:custGeom>
            <a:avLst/>
            <a:gdLst>
              <a:gd name="connsiteX0" fmla="*/ 10039 w 10039"/>
              <a:gd name="connsiteY0" fmla="*/ 0 h 647"/>
              <a:gd name="connsiteX1" fmla="*/ 10039 w 10039"/>
              <a:gd name="connsiteY1" fmla="*/ 342 h 647"/>
              <a:gd name="connsiteX2" fmla="*/ 9122 w 10039"/>
              <a:gd name="connsiteY2" fmla="*/ 647 h 647"/>
              <a:gd name="connsiteX3" fmla="*/ 0 w 10039"/>
              <a:gd name="connsiteY3" fmla="*/ 647 h 647"/>
              <a:gd name="connsiteX4" fmla="*/ 0 w 10039"/>
              <a:gd name="connsiteY4" fmla="*/ 305 h 647"/>
              <a:gd name="connsiteX5" fmla="*/ 336 w 10039"/>
              <a:gd name="connsiteY5" fmla="*/ 7 h 647"/>
              <a:gd name="connsiteX6" fmla="*/ 10039 w 10039"/>
              <a:gd name="connsiteY6" fmla="*/ 0 h 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 h="647">
                <a:moveTo>
                  <a:pt x="10039" y="0"/>
                </a:moveTo>
                <a:lnTo>
                  <a:pt x="10039" y="342"/>
                </a:lnTo>
                <a:lnTo>
                  <a:pt x="9122" y="647"/>
                </a:lnTo>
                <a:lnTo>
                  <a:pt x="0" y="647"/>
                </a:lnTo>
                <a:lnTo>
                  <a:pt x="0" y="305"/>
                </a:lnTo>
                <a:lnTo>
                  <a:pt x="336" y="7"/>
                </a:lnTo>
                <a:lnTo>
                  <a:pt x="10039" y="0"/>
                </a:lnTo>
                <a:close/>
              </a:path>
            </a:pathLst>
          </a:custGeom>
          <a:noFill/>
          <a:ln w="6350">
            <a:gradFill>
              <a:gsLst>
                <a:gs pos="0">
                  <a:schemeClr val="accent1">
                    <a:alpha val="100000"/>
                  </a:schemeClr>
                </a:gs>
                <a:gs pos="100000">
                  <a:schemeClr val="accent1">
                    <a:alpha val="0"/>
                  </a:schemeClr>
                </a:gs>
              </a:gsLst>
              <a:lin ang="0" scaled="1"/>
            </a:gradFill>
          </a:ln>
        </p:spPr>
        <p:txBody>
          <a:bodyPr rot="0" spcFirstLastPara="0" vert="horz" wrap="square" lIns="252095" tIns="0" rIns="0" bIns="0" numCol="1" spcCol="0" rtlCol="0" fromWordArt="0" anchor="ctr" anchorCtr="0" forceAA="0" compatLnSpc="0">
            <a:noAutofit/>
          </a:bodyPr>
          <a:lstStyle/>
          <a:p>
            <a:pPr lvl="0" algn="l">
              <a:buClrTx/>
              <a:buSzTx/>
              <a:buFontTx/>
            </a:pPr>
            <a:r>
              <a:rPr lang="zh-CN" altLang="en-US" sz="2000" b="1">
                <a:latin typeface="+mn-ea"/>
                <a:cs typeface="+mn-ea"/>
                <a:sym typeface="+mn-ea"/>
              </a:rPr>
              <a:t>市面上大部分大</a:t>
            </a:r>
            <a:r>
              <a:rPr lang="zh-CN" altLang="en-US" sz="2000" b="1">
                <a:latin typeface="+mn-ea"/>
                <a:cs typeface="+mn-ea"/>
                <a:sym typeface="+mn-ea"/>
              </a:rPr>
              <a:t>语言模型的通病</a:t>
            </a:r>
            <a:endParaRPr lang="zh-CN" altLang="en-US" sz="2000" b="1">
              <a:solidFill>
                <a:schemeClr val="tx1"/>
              </a:solidFill>
              <a:latin typeface="+mn-ea"/>
              <a:cs typeface="+mn-ea"/>
              <a:sym typeface="+mn-ea"/>
            </a:endParaRPr>
          </a:p>
        </p:txBody>
      </p:sp>
      <p:sp>
        <p:nvSpPr>
          <p:cNvPr id="13" name="任意多边形: 形状 14"/>
          <p:cNvSpPr/>
          <p:nvPr>
            <p:custDataLst>
              <p:tags r:id="rId3"/>
            </p:custDataLst>
          </p:nvPr>
        </p:nvSpPr>
        <p:spPr>
          <a:xfrm>
            <a:off x="667385" y="1477963"/>
            <a:ext cx="161925" cy="2159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5">
              <a:lumMod val="7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任意多边形: 形状 120"/>
          <p:cNvSpPr/>
          <p:nvPr>
            <p:custDataLst>
              <p:tags r:id="rId4"/>
            </p:custDataLst>
          </p:nvPr>
        </p:nvSpPr>
        <p:spPr>
          <a:xfrm flipV="1">
            <a:off x="949960" y="1184593"/>
            <a:ext cx="3743960" cy="36195"/>
          </a:xfrm>
          <a:custGeom>
            <a:avLst/>
            <a:gdLst>
              <a:gd name="connsiteX0" fmla="*/ 1157786 w 1179613"/>
              <a:gd name="connsiteY0" fmla="*/ 21889 h 21889"/>
              <a:gd name="connsiteX1" fmla="*/ 1179613 w 1179613"/>
              <a:gd name="connsiteY1" fmla="*/ 0 h 21889"/>
              <a:gd name="connsiteX2" fmla="*/ 0 w 1179613"/>
              <a:gd name="connsiteY2" fmla="*/ 0 h 21889"/>
              <a:gd name="connsiteX3" fmla="*/ 21889 w 1179613"/>
              <a:gd name="connsiteY3" fmla="*/ 21889 h 21889"/>
              <a:gd name="connsiteX4" fmla="*/ 1157786 w 1179613"/>
              <a:gd name="connsiteY4" fmla="*/ 21889 h 2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613" h="21889">
                <a:moveTo>
                  <a:pt x="1157786" y="21889"/>
                </a:moveTo>
                <a:lnTo>
                  <a:pt x="1179613" y="0"/>
                </a:lnTo>
                <a:lnTo>
                  <a:pt x="0" y="0"/>
                </a:lnTo>
                <a:lnTo>
                  <a:pt x="21889" y="21889"/>
                </a:lnTo>
                <a:lnTo>
                  <a:pt x="1157786" y="21889"/>
                </a:lnTo>
                <a:close/>
              </a:path>
            </a:pathLst>
          </a:custGeom>
          <a:solidFill>
            <a:schemeClr val="accent5">
              <a:lumMod val="75000"/>
            </a:schemeClr>
          </a:solidFill>
          <a:ln w="617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矩形 8"/>
          <p:cNvSpPr/>
          <p:nvPr>
            <p:custDataLst>
              <p:tags r:id="rId5"/>
            </p:custDataLst>
          </p:nvPr>
        </p:nvSpPr>
        <p:spPr>
          <a:xfrm>
            <a:off x="667385" y="1737043"/>
            <a:ext cx="6426200" cy="1057910"/>
          </a:xfrm>
          <a:prstGeom prst="rect">
            <a:avLst/>
          </a:prstGeom>
          <a:noFill/>
        </p:spPr>
        <p:txBody>
          <a:bodyPr wrap="square" lIns="0" tIns="0" rIns="0" bIns="0" rtlCol="0" anchor="t" anchorCtr="0">
            <a:noAutofit/>
          </a:bodyPr>
          <a:lstStyle/>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脱离相关教材的考点。</a:t>
            </a:r>
            <a:endParaRPr lang="zh-CN" altLang="en-US" sz="1400" dirty="0">
              <a:solidFill>
                <a:schemeClr val="tx1">
                  <a:lumMod val="85000"/>
                  <a:lumOff val="15000"/>
                </a:schemeClr>
              </a:solidFill>
              <a:latin typeface="+mn-ea"/>
              <a:cs typeface="+mn-ea"/>
              <a:sym typeface="+mn-ea"/>
            </a:endParaRPr>
          </a:p>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与</a:t>
            </a:r>
            <a:r>
              <a:rPr lang="en-US" altLang="zh-CN" sz="1400" dirty="0">
                <a:solidFill>
                  <a:schemeClr val="tx1">
                    <a:lumMod val="85000"/>
                    <a:lumOff val="15000"/>
                  </a:schemeClr>
                </a:solidFill>
                <a:latin typeface="+mn-ea"/>
                <a:cs typeface="+mn-ea"/>
                <a:sym typeface="+mn-ea"/>
              </a:rPr>
              <a:t>AI</a:t>
            </a:r>
            <a:r>
              <a:rPr lang="zh-CN" altLang="en-US" sz="1400" dirty="0">
                <a:solidFill>
                  <a:schemeClr val="tx1">
                    <a:lumMod val="85000"/>
                    <a:lumOff val="15000"/>
                  </a:schemeClr>
                </a:solidFill>
                <a:latin typeface="+mn-ea"/>
                <a:cs typeface="+mn-ea"/>
                <a:sym typeface="+mn-ea"/>
              </a:rPr>
              <a:t>沟通中回复角度单一。</a:t>
            </a:r>
            <a:endParaRPr lang="zh-CN" altLang="en-US" sz="1400" dirty="0">
              <a:solidFill>
                <a:schemeClr val="tx1">
                  <a:lumMod val="85000"/>
                  <a:lumOff val="15000"/>
                </a:schemeClr>
              </a:solidFill>
              <a:latin typeface="+mn-ea"/>
              <a:cs typeface="+mn-ea"/>
              <a:sym typeface="+mn-ea"/>
            </a:endParaRPr>
          </a:p>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无法处理复杂的拍照搜索题目。</a:t>
            </a:r>
            <a:endParaRPr lang="zh-CN" altLang="en-US" sz="1400" dirty="0">
              <a:solidFill>
                <a:schemeClr val="tx1">
                  <a:lumMod val="85000"/>
                  <a:lumOff val="15000"/>
                </a:schemeClr>
              </a:solidFill>
              <a:latin typeface="+mn-ea"/>
              <a:cs typeface="+mn-ea"/>
              <a:sym typeface="+mn-ea"/>
            </a:endParaRPr>
          </a:p>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无法根据教材考纲拓展相应的知识面。</a:t>
            </a:r>
            <a:endParaRPr lang="zh-CN" altLang="en-US" sz="1400" dirty="0">
              <a:solidFill>
                <a:schemeClr val="tx1">
                  <a:lumMod val="85000"/>
                  <a:lumOff val="15000"/>
                </a:schemeClr>
              </a:solidFill>
              <a:latin typeface="+mn-ea"/>
              <a:cs typeface="+mn-ea"/>
              <a:sym typeface="+mn-ea"/>
            </a:endParaRPr>
          </a:p>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只有纯文字笔记文件。</a:t>
            </a:r>
            <a:endParaRPr lang="zh-CN" altLang="en-US" sz="1400" dirty="0">
              <a:solidFill>
                <a:schemeClr val="tx1">
                  <a:lumMod val="85000"/>
                  <a:lumOff val="15000"/>
                </a:schemeClr>
              </a:solidFill>
              <a:latin typeface="+mn-ea"/>
              <a:cs typeface="+mn-ea"/>
              <a:sym typeface="+mn-ea"/>
            </a:endParaRPr>
          </a:p>
        </p:txBody>
      </p:sp>
      <p:sp>
        <p:nvSpPr>
          <p:cNvPr id="10" name="任意多边形: 形状 16"/>
          <p:cNvSpPr/>
          <p:nvPr>
            <p:custDataLst>
              <p:tags r:id="rId6"/>
            </p:custDataLst>
          </p:nvPr>
        </p:nvSpPr>
        <p:spPr>
          <a:xfrm>
            <a:off x="718820" y="4080828"/>
            <a:ext cx="6374765" cy="388620"/>
          </a:xfrm>
          <a:custGeom>
            <a:avLst/>
            <a:gdLst>
              <a:gd name="connsiteX0" fmla="*/ 10039 w 10039"/>
              <a:gd name="connsiteY0" fmla="*/ 0 h 647"/>
              <a:gd name="connsiteX1" fmla="*/ 10039 w 10039"/>
              <a:gd name="connsiteY1" fmla="*/ 342 h 647"/>
              <a:gd name="connsiteX2" fmla="*/ 9122 w 10039"/>
              <a:gd name="connsiteY2" fmla="*/ 647 h 647"/>
              <a:gd name="connsiteX3" fmla="*/ 0 w 10039"/>
              <a:gd name="connsiteY3" fmla="*/ 647 h 647"/>
              <a:gd name="connsiteX4" fmla="*/ 0 w 10039"/>
              <a:gd name="connsiteY4" fmla="*/ 305 h 647"/>
              <a:gd name="connsiteX5" fmla="*/ 336 w 10039"/>
              <a:gd name="connsiteY5" fmla="*/ 7 h 647"/>
              <a:gd name="connsiteX6" fmla="*/ 10039 w 10039"/>
              <a:gd name="connsiteY6" fmla="*/ 0 h 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 h="647">
                <a:moveTo>
                  <a:pt x="10039" y="0"/>
                </a:moveTo>
                <a:lnTo>
                  <a:pt x="10039" y="342"/>
                </a:lnTo>
                <a:lnTo>
                  <a:pt x="9122" y="647"/>
                </a:lnTo>
                <a:lnTo>
                  <a:pt x="0" y="647"/>
                </a:lnTo>
                <a:lnTo>
                  <a:pt x="0" y="305"/>
                </a:lnTo>
                <a:lnTo>
                  <a:pt x="336" y="7"/>
                </a:lnTo>
                <a:lnTo>
                  <a:pt x="10039" y="0"/>
                </a:lnTo>
                <a:close/>
              </a:path>
            </a:pathLst>
          </a:custGeom>
          <a:noFill/>
          <a:ln w="6350">
            <a:gradFill>
              <a:gsLst>
                <a:gs pos="0">
                  <a:schemeClr val="accent1">
                    <a:alpha val="100000"/>
                  </a:schemeClr>
                </a:gs>
                <a:gs pos="100000">
                  <a:schemeClr val="accent1">
                    <a:alpha val="0"/>
                  </a:schemeClr>
                </a:gs>
              </a:gsLst>
              <a:lin ang="0" scaled="1"/>
            </a:gradFill>
          </a:ln>
        </p:spPr>
        <p:txBody>
          <a:bodyPr rot="0" spcFirstLastPara="0" vert="horz" wrap="square" lIns="252095" tIns="0" rIns="0" bIns="0" numCol="1" spcCol="0" rtlCol="0" fromWordArt="0" anchor="ctr" anchorCtr="0" forceAA="0" compatLnSpc="0">
            <a:noAutofit/>
          </a:bodyPr>
          <a:lstStyle/>
          <a:p>
            <a:pPr lvl="0" algn="l">
              <a:buClrTx/>
              <a:buSzTx/>
              <a:buFontTx/>
            </a:pPr>
            <a:r>
              <a:rPr lang="zh-CN" altLang="en-US" sz="2000" b="1">
                <a:solidFill>
                  <a:schemeClr val="tx1"/>
                </a:solidFill>
                <a:latin typeface="+mn-ea"/>
                <a:cs typeface="+mn-ea"/>
                <a:sym typeface="+mn-ea"/>
              </a:rPr>
              <a:t>集成学习系统赋能</a:t>
            </a:r>
            <a:r>
              <a:rPr lang="zh-CN" altLang="en-US" sz="2000" b="1">
                <a:solidFill>
                  <a:schemeClr val="tx1"/>
                </a:solidFill>
                <a:latin typeface="+mn-ea"/>
                <a:cs typeface="+mn-ea"/>
                <a:sym typeface="+mn-ea"/>
              </a:rPr>
              <a:t>的通用</a:t>
            </a:r>
            <a:r>
              <a:rPr lang="zh-CN" altLang="en-US" sz="2000" b="1">
                <a:solidFill>
                  <a:schemeClr val="tx1"/>
                </a:solidFill>
                <a:latin typeface="+mn-ea"/>
                <a:cs typeface="+mn-ea"/>
                <a:sym typeface="+mn-ea"/>
              </a:rPr>
              <a:t>场景</a:t>
            </a:r>
            <a:endParaRPr lang="zh-CN" altLang="en-US" sz="2000" b="1">
              <a:solidFill>
                <a:schemeClr val="tx1"/>
              </a:solidFill>
              <a:latin typeface="+mn-ea"/>
              <a:cs typeface="+mn-ea"/>
              <a:sym typeface="+mn-ea"/>
            </a:endParaRPr>
          </a:p>
        </p:txBody>
      </p:sp>
      <p:sp>
        <p:nvSpPr>
          <p:cNvPr id="11" name="任意多边形: 形状 14"/>
          <p:cNvSpPr/>
          <p:nvPr>
            <p:custDataLst>
              <p:tags r:id="rId7"/>
            </p:custDataLst>
          </p:nvPr>
        </p:nvSpPr>
        <p:spPr>
          <a:xfrm>
            <a:off x="667385" y="4311333"/>
            <a:ext cx="161925" cy="2159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5">
              <a:lumMod val="7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任意多边形: 形状 120"/>
          <p:cNvSpPr/>
          <p:nvPr>
            <p:custDataLst>
              <p:tags r:id="rId8"/>
            </p:custDataLst>
          </p:nvPr>
        </p:nvSpPr>
        <p:spPr>
          <a:xfrm flipV="1">
            <a:off x="949960" y="4017963"/>
            <a:ext cx="3743960" cy="36195"/>
          </a:xfrm>
          <a:custGeom>
            <a:avLst/>
            <a:gdLst>
              <a:gd name="connsiteX0" fmla="*/ 1157786 w 1179613"/>
              <a:gd name="connsiteY0" fmla="*/ 21889 h 21889"/>
              <a:gd name="connsiteX1" fmla="*/ 1179613 w 1179613"/>
              <a:gd name="connsiteY1" fmla="*/ 0 h 21889"/>
              <a:gd name="connsiteX2" fmla="*/ 0 w 1179613"/>
              <a:gd name="connsiteY2" fmla="*/ 0 h 21889"/>
              <a:gd name="connsiteX3" fmla="*/ 21889 w 1179613"/>
              <a:gd name="connsiteY3" fmla="*/ 21889 h 21889"/>
              <a:gd name="connsiteX4" fmla="*/ 1157786 w 1179613"/>
              <a:gd name="connsiteY4" fmla="*/ 21889 h 2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613" h="21889">
                <a:moveTo>
                  <a:pt x="1157786" y="21889"/>
                </a:moveTo>
                <a:lnTo>
                  <a:pt x="1179613" y="0"/>
                </a:lnTo>
                <a:lnTo>
                  <a:pt x="0" y="0"/>
                </a:lnTo>
                <a:lnTo>
                  <a:pt x="21889" y="21889"/>
                </a:lnTo>
                <a:lnTo>
                  <a:pt x="1157786" y="21889"/>
                </a:lnTo>
                <a:close/>
              </a:path>
            </a:pathLst>
          </a:custGeom>
          <a:solidFill>
            <a:schemeClr val="accent5">
              <a:lumMod val="75000"/>
            </a:schemeClr>
          </a:solidFill>
          <a:ln w="6170" cap="flat">
            <a:solidFill>
              <a:srgbClr val="0070C0"/>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矩形 22"/>
          <p:cNvSpPr/>
          <p:nvPr>
            <p:custDataLst>
              <p:tags r:id="rId9"/>
            </p:custDataLst>
          </p:nvPr>
        </p:nvSpPr>
        <p:spPr>
          <a:xfrm>
            <a:off x="667385" y="4570412"/>
            <a:ext cx="6426200" cy="1057910"/>
          </a:xfrm>
          <a:prstGeom prst="rect">
            <a:avLst/>
          </a:prstGeom>
          <a:noFill/>
        </p:spPr>
        <p:txBody>
          <a:bodyPr wrap="square" lIns="0" tIns="0" rIns="0" bIns="0" rtlCol="0" anchor="t" anchorCtr="0">
            <a:noAutofit/>
          </a:bodyPr>
          <a:lstStyle/>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基于知识图谱关联考纲、知识点针对性解答。</a:t>
            </a:r>
            <a:endParaRPr lang="zh-CN" altLang="en-US" sz="1400" dirty="0">
              <a:solidFill>
                <a:schemeClr val="tx1">
                  <a:lumMod val="85000"/>
                  <a:lumOff val="15000"/>
                </a:schemeClr>
              </a:solidFill>
              <a:latin typeface="+mn-ea"/>
              <a:cs typeface="+mn-ea"/>
              <a:sym typeface="+mn-ea"/>
            </a:endParaRPr>
          </a:p>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利用知识图谐对不同的知识点进行关联。</a:t>
            </a:r>
            <a:endParaRPr lang="zh-CN" altLang="en-US" sz="1400" dirty="0">
              <a:solidFill>
                <a:schemeClr val="tx1">
                  <a:lumMod val="85000"/>
                  <a:lumOff val="15000"/>
                </a:schemeClr>
              </a:solidFill>
              <a:latin typeface="+mn-ea"/>
              <a:cs typeface="+mn-ea"/>
              <a:sym typeface="+mn-ea"/>
            </a:endParaRPr>
          </a:p>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拥有多模态的问答功能。</a:t>
            </a:r>
            <a:endParaRPr lang="zh-CN" altLang="en-US" sz="1400" dirty="0">
              <a:solidFill>
                <a:schemeClr val="tx1">
                  <a:lumMod val="85000"/>
                  <a:lumOff val="15000"/>
                </a:schemeClr>
              </a:solidFill>
              <a:latin typeface="+mn-ea"/>
              <a:cs typeface="+mn-ea"/>
              <a:sym typeface="+mn-ea"/>
            </a:endParaRPr>
          </a:p>
          <a:p>
            <a:pPr marL="285750" indent="-285750" algn="just">
              <a:lnSpc>
                <a:spcPct val="150000"/>
              </a:lnSpc>
              <a:spcBef>
                <a:spcPct val="0"/>
              </a:spcBef>
              <a:spcAft>
                <a:spcPct val="0"/>
              </a:spcAft>
              <a:buFont typeface="Arial" panose="020B0604020202020204" pitchFamily="34" charset="0"/>
              <a:buChar char="•"/>
            </a:pPr>
            <a:r>
              <a:rPr lang="zh-CN" altLang="en-US" sz="1400" dirty="0">
                <a:solidFill>
                  <a:schemeClr val="tx1">
                    <a:lumMod val="85000"/>
                    <a:lumOff val="15000"/>
                  </a:schemeClr>
                </a:solidFill>
                <a:latin typeface="+mn-ea"/>
                <a:cs typeface="+mn-ea"/>
                <a:sym typeface="+mn-ea"/>
              </a:rPr>
              <a:t>自动化生成多元学习笔记（包含思维导图、流程图的学习笔记）</a:t>
            </a:r>
            <a:endParaRPr lang="zh-CN" altLang="en-US" sz="1400" dirty="0">
              <a:solidFill>
                <a:schemeClr val="tx1">
                  <a:lumMod val="85000"/>
                  <a:lumOff val="15000"/>
                </a:schemeClr>
              </a:solidFill>
              <a:latin typeface="+mn-ea"/>
              <a:cs typeface="+mn-ea"/>
              <a:sym typeface="+mn-ea"/>
            </a:endParaRPr>
          </a:p>
        </p:txBody>
      </p:sp>
      <p:pic>
        <p:nvPicPr>
          <p:cNvPr id="2" name="图片 1" descr="大挑插入02-第 1 页.drawio"/>
          <p:cNvPicPr>
            <a:picLocks noChangeAspect="1"/>
          </p:cNvPicPr>
          <p:nvPr/>
        </p:nvPicPr>
        <p:blipFill>
          <a:blip r:embed="rId10"/>
          <a:stretch>
            <a:fillRect/>
          </a:stretch>
        </p:blipFill>
        <p:spPr>
          <a:xfrm>
            <a:off x="5163820" y="1247775"/>
            <a:ext cx="6480000" cy="2698568"/>
          </a:xfrm>
          <a:prstGeom prst="rect">
            <a:avLst/>
          </a:prstGeom>
        </p:spPr>
      </p:pic>
      <p:pic>
        <p:nvPicPr>
          <p:cNvPr id="3" name="图片 -2147482516" descr="whiteboard_exported_image (3)"/>
          <p:cNvPicPr>
            <a:picLocks noChangeAspect="1"/>
          </p:cNvPicPr>
          <p:nvPr/>
        </p:nvPicPr>
        <p:blipFill>
          <a:blip r:embed="rId11"/>
          <a:stretch>
            <a:fillRect/>
          </a:stretch>
        </p:blipFill>
        <p:spPr>
          <a:xfrm>
            <a:off x="5829300" y="3946525"/>
            <a:ext cx="5814937" cy="241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标题 2"/>
          <p:cNvSpPr>
            <a:spLocks noGrp="1"/>
          </p:cNvSpPr>
          <p:nvPr>
            <p:ph type="title"/>
          </p:nvPr>
        </p:nvSpPr>
        <p:spPr>
          <a:xfrm>
            <a:off x="581025" y="637540"/>
            <a:ext cx="2891155" cy="936625"/>
          </a:xfrm>
        </p:spPr>
        <p:txBody>
          <a:bodyPr>
            <a:normAutofit fontScale="90000"/>
          </a:bodyPr>
          <a:lstStyle/>
          <a:p>
            <a:r>
              <a:rPr lang="zh-CN" altLang="en-US"/>
              <a:t>目录</a:t>
            </a:r>
            <a:endParaRPr lang="zh-CN" altLang="en-US"/>
          </a:p>
        </p:txBody>
      </p:sp>
      <p:sp>
        <p:nvSpPr>
          <p:cNvPr id="70" name="文本占位符 4"/>
          <p:cNvSpPr>
            <a:spLocks noGrp="1"/>
          </p:cNvSpPr>
          <p:nvPr>
            <p:ph type="body" idx="13"/>
          </p:nvPr>
        </p:nvSpPr>
        <p:spPr>
          <a:xfrm>
            <a:off x="5322272" y="1238736"/>
            <a:ext cx="717550" cy="723900"/>
          </a:xfrm>
          <a:solidFill>
            <a:srgbClr val="7F7F7F"/>
          </a:solidFill>
        </p:spPr>
        <p:txBody>
          <a:bodyPr vert="horz" lIns="0" tIns="0" rIns="0" bIns="107950" rtlCol="0" anchor="ctr" anchorCtr="0">
            <a:noAutofit/>
          </a:bodyPr>
          <a:lstStyle/>
          <a:p>
            <a:r>
              <a:rPr lang="en-US" altLang="zh-CN" dirty="0"/>
              <a:t>01</a:t>
            </a:r>
            <a:endParaRPr lang="en-US" altLang="zh-CN" dirty="0"/>
          </a:p>
        </p:txBody>
      </p:sp>
      <p:sp>
        <p:nvSpPr>
          <p:cNvPr id="71" name="文本占位符 5"/>
          <p:cNvSpPr>
            <a:spLocks noGrp="1"/>
          </p:cNvSpPr>
          <p:nvPr>
            <p:ph type="body" idx="14"/>
          </p:nvPr>
        </p:nvSpPr>
        <p:spPr>
          <a:xfrm>
            <a:off x="6470352" y="3621872"/>
            <a:ext cx="4837430" cy="734695"/>
          </a:xfrm>
        </p:spPr>
        <p:txBody>
          <a:bodyPr/>
          <a:lstStyle/>
          <a:p>
            <a:r>
              <a:rPr lang="zh-CN" altLang="en-US" spc="150" dirty="0">
                <a:uFillTx/>
                <a:sym typeface="+mn-ea"/>
              </a:rPr>
              <a:t>业务场景介绍</a:t>
            </a:r>
            <a:endParaRPr lang="zh-CN" altLang="en-US" spc="150" dirty="0">
              <a:uFillTx/>
              <a:sym typeface="+mn-ea"/>
            </a:endParaRPr>
          </a:p>
        </p:txBody>
      </p:sp>
      <p:sp>
        <p:nvSpPr>
          <p:cNvPr id="72" name="文本占位符 6"/>
          <p:cNvSpPr>
            <a:spLocks noGrp="1"/>
          </p:cNvSpPr>
          <p:nvPr>
            <p:ph type="body" idx="16"/>
          </p:nvPr>
        </p:nvSpPr>
        <p:spPr>
          <a:xfrm>
            <a:off x="5322272" y="3602870"/>
            <a:ext cx="717550" cy="723900"/>
          </a:xfrm>
          <a:solidFill>
            <a:schemeClr val="tx1">
              <a:lumMod val="50000"/>
              <a:lumOff val="50000"/>
            </a:schemeClr>
          </a:solidFill>
        </p:spPr>
        <p:txBody>
          <a:bodyPr vert="horz" lIns="0" tIns="0" rIns="0" bIns="107950" rtlCol="0" anchor="ctr" anchorCtr="0">
            <a:noAutofit/>
          </a:bodyPr>
          <a:lstStyle/>
          <a:p>
            <a:r>
              <a:rPr lang="en-US" altLang="zh-CN" dirty="0"/>
              <a:t>03</a:t>
            </a:r>
            <a:endParaRPr dirty="0"/>
          </a:p>
        </p:txBody>
      </p:sp>
      <p:sp>
        <p:nvSpPr>
          <p:cNvPr id="73" name="文本占位符 7"/>
          <p:cNvSpPr>
            <a:spLocks noGrp="1"/>
          </p:cNvSpPr>
          <p:nvPr>
            <p:ph type="body" idx="17"/>
          </p:nvPr>
        </p:nvSpPr>
        <p:spPr>
          <a:xfrm>
            <a:off x="6473490" y="1252220"/>
            <a:ext cx="2514637" cy="734695"/>
          </a:xfrm>
        </p:spPr>
        <p:txBody>
          <a:bodyPr/>
          <a:lstStyle/>
          <a:p>
            <a:r>
              <a:rPr lang="zh-CN" altLang="en-US" spc="150" dirty="0">
                <a:uFillTx/>
              </a:rPr>
              <a:t>产品方案介绍</a:t>
            </a:r>
            <a:endParaRPr lang="zh-CN" altLang="en-US" spc="150" dirty="0">
              <a:uFillTx/>
            </a:endParaRPr>
          </a:p>
        </p:txBody>
      </p:sp>
      <p:sp>
        <p:nvSpPr>
          <p:cNvPr id="75" name="灯片编号占位符 1"/>
          <p:cNvSpPr>
            <a:spLocks noGrp="1"/>
          </p:cNvSpPr>
          <p:nvPr>
            <p:ph type="sldNum" sz="quarter" idx="12"/>
          </p:nvPr>
        </p:nvSpPr>
        <p:spPr>
          <a:xfrm>
            <a:off x="11160760" y="5954395"/>
            <a:ext cx="1031240" cy="365125"/>
          </a:xfrm>
        </p:spPr>
        <p:txBody>
          <a:bodyPr/>
          <a:lstStyle/>
          <a:p>
            <a:fld id="{E077DA78-E013-4A8C-AD75-63A150561B10}" type="slidenum">
              <a:rPr/>
            </a:fld>
            <a:endParaRPr lang="zh-CN" altLang="en-US" dirty="0"/>
          </a:p>
        </p:txBody>
      </p:sp>
      <p:sp>
        <p:nvSpPr>
          <p:cNvPr id="76" name="文本占位符 7"/>
          <p:cNvSpPr txBox="1"/>
          <p:nvPr>
            <p:custDataLst>
              <p:tags r:id="rId1"/>
            </p:custDataLst>
          </p:nvPr>
        </p:nvSpPr>
        <p:spPr>
          <a:xfrm>
            <a:off x="6470352" y="4894925"/>
            <a:ext cx="4837430" cy="734695"/>
          </a:xfrm>
          <a:prstGeom prst="rect">
            <a:avLst/>
          </a:prstGeom>
        </p:spPr>
        <p:txBody>
          <a:bodyPr vert="horz" lIns="91440" tIns="45720" rIns="91440" bIns="45720" rtlCol="0">
            <a:normAutofit/>
          </a:bodyPr>
          <a:lstStyle>
            <a:lvl1pPr marL="0" indent="0" algn="l" defTabSz="914400" rtl="0" eaLnBrk="1" fontAlgn="auto" latinLnBrk="0" hangingPunct="1">
              <a:lnSpc>
                <a:spcPct val="150000"/>
              </a:lnSpc>
              <a:spcBef>
                <a:spcPts val="0"/>
              </a:spcBef>
              <a:spcAft>
                <a:spcPts val="1000"/>
              </a:spcAft>
              <a:buFont typeface="Arial" panose="020B0604020202020204" pitchFamily="34" charset="0"/>
              <a:buNone/>
              <a:defRPr sz="2000" u="none" strike="noStrike" kern="1200" cap="none" spc="150" normalizeH="0" baseline="0">
                <a:solidFill>
                  <a:srgbClr val="262626"/>
                </a:solidFill>
                <a:uFillTx/>
                <a:latin typeface="+mn-lt"/>
                <a:ea typeface="+mn-ea"/>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创新价值介绍</a:t>
            </a:r>
            <a:endParaRPr lang="zh-CN" altLang="en-US" dirty="0"/>
          </a:p>
        </p:txBody>
      </p:sp>
      <p:sp>
        <p:nvSpPr>
          <p:cNvPr id="77" name="文本占位符 8"/>
          <p:cNvSpPr txBox="1"/>
          <p:nvPr>
            <p:custDataLst>
              <p:tags r:id="rId2"/>
            </p:custDataLst>
          </p:nvPr>
        </p:nvSpPr>
        <p:spPr>
          <a:xfrm>
            <a:off x="5322272" y="4854285"/>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defTabSz="914400" rtl="0" eaLnBrk="1" fontAlgn="auto" latinLnBrk="0" hangingPunct="1">
              <a:lnSpc>
                <a:spcPct val="150000"/>
              </a:lnSpc>
              <a:spcBef>
                <a:spcPts val="0"/>
              </a:spcBef>
              <a:spcAft>
                <a:spcPts val="1000"/>
              </a:spcAft>
              <a:buFont typeface="Arial" panose="020B0604020202020204" pitchFamily="34" charset="0"/>
              <a:buNone/>
              <a:defRPr sz="2800" b="1" u="none" strike="noStrike" kern="1200" cap="none" spc="150" normalizeH="0" baseline="0">
                <a:solidFill>
                  <a:schemeClr val="bg1"/>
                </a:solidFill>
                <a:uFillTx/>
                <a:latin typeface="微软雅黑" panose="020B0503020204020204" charset="-122"/>
                <a:ea typeface="微软雅黑" panose="020B0503020204020204" charset="-122"/>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04</a:t>
            </a:r>
            <a:endParaRPr dirty="0"/>
          </a:p>
        </p:txBody>
      </p:sp>
      <p:sp>
        <p:nvSpPr>
          <p:cNvPr id="2" name="文本占位符 5"/>
          <p:cNvSpPr txBox="1"/>
          <p:nvPr>
            <p:custDataLst>
              <p:tags r:id="rId3"/>
            </p:custDataLst>
          </p:nvPr>
        </p:nvSpPr>
        <p:spPr>
          <a:xfrm>
            <a:off x="6470352" y="2437681"/>
            <a:ext cx="4837430" cy="734695"/>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需求设计介绍</a:t>
            </a:r>
            <a:endParaRPr lang="zh-CN" altLang="en-US" dirty="0">
              <a:sym typeface="+mn-ea"/>
            </a:endParaRPr>
          </a:p>
        </p:txBody>
      </p:sp>
      <p:sp>
        <p:nvSpPr>
          <p:cNvPr id="3" name="文本占位符 6"/>
          <p:cNvSpPr txBox="1"/>
          <p:nvPr>
            <p:custDataLst>
              <p:tags r:id="rId4"/>
            </p:custDataLst>
          </p:nvPr>
        </p:nvSpPr>
        <p:spPr>
          <a:xfrm>
            <a:off x="5322272" y="2397041"/>
            <a:ext cx="717550" cy="723900"/>
          </a:xfrm>
          <a:prstGeom prst="rect">
            <a:avLst/>
          </a:prstGeom>
          <a:solidFill>
            <a:srgbClr val="0070D8"/>
          </a:solidFill>
        </p:spPr>
        <p:txBody>
          <a:bodyPr vert="horz" lIns="0" tIns="0" rIns="0" bIns="107950" rtlCol="0" anchor="ctr" anchorCtr="0">
            <a:noAutofit/>
          </a:bodyPr>
          <a:lstStyle>
            <a:lvl1pPr marL="0" indent="0" algn="ctr" defTabSz="914400" rtl="0" eaLnBrk="1" latinLnBrk="0" hangingPunct="1">
              <a:lnSpc>
                <a:spcPct val="150000"/>
              </a:lnSpc>
              <a:spcBef>
                <a:spcPts val="1000"/>
              </a:spcBef>
              <a:buFont typeface="Arial" panose="020B0604020202020204" pitchFamily="34" charset="0"/>
              <a:buNone/>
              <a:defRPr sz="2800" b="1" kern="1200">
                <a:solidFill>
                  <a:schemeClr val="bg1"/>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02</a:t>
            </a:r>
            <a:endParaRPr lang="en-US" dirty="0"/>
          </a:p>
        </p:txBody>
      </p:sp>
      <p:sp>
        <p:nvSpPr>
          <p:cNvPr id="4" name="五边形 9"/>
          <p:cNvSpPr/>
          <p:nvPr userDrawn="1">
            <p:custDataLst>
              <p:tags r:id="rId5"/>
            </p:custDataLst>
          </p:nvPr>
        </p:nvSpPr>
        <p:spPr>
          <a:xfrm>
            <a:off x="6449360" y="2388235"/>
            <a:ext cx="3207547" cy="725170"/>
          </a:xfrm>
          <a:prstGeom prst="homePlate">
            <a:avLst/>
          </a:prstGeom>
          <a:solidFill>
            <a:srgbClr val="0070D8">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spc="150" dirty="0">
              <a:solidFill>
                <a:srgbClr val="262626"/>
              </a:solidFill>
              <a:uFillTx/>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16" name="文本框 15"/>
          <p:cNvSpPr txBox="1"/>
          <p:nvPr/>
        </p:nvSpPr>
        <p:spPr>
          <a:xfrm>
            <a:off x="521970" y="1162050"/>
            <a:ext cx="5012055" cy="3982085"/>
          </a:xfrm>
          <a:prstGeom prst="rect">
            <a:avLst/>
          </a:prstGeom>
          <a:noFill/>
        </p:spPr>
        <p:txBody>
          <a:bodyPr wrap="square" rtlCol="0">
            <a:noAutofit/>
          </a:bodyPr>
          <a:p>
            <a:pPr indent="457200">
              <a:lnSpc>
                <a:spcPct val="125000"/>
              </a:lnSpc>
              <a:spcBef>
                <a:spcPts val="0"/>
              </a:spcBef>
              <a:spcAft>
                <a:spcPts val="0"/>
              </a:spcAft>
            </a:pPr>
            <a:r>
              <a:rPr kumimoji="1" lang="zh-CN" altLang="en-US" sz="2400" dirty="0">
                <a:solidFill>
                  <a:srgbClr val="575756"/>
                </a:solidFill>
                <a:ea typeface="+mn-lt"/>
                <a:cs typeface="+mn-lt"/>
              </a:rPr>
              <a:t>利用</a:t>
            </a:r>
            <a:r>
              <a:rPr kumimoji="1" lang="zh-CN" altLang="en-US" sz="2400" dirty="0">
                <a:solidFill>
                  <a:srgbClr val="C00000"/>
                </a:solidFill>
                <a:ea typeface="+mn-lt"/>
                <a:cs typeface="+mn-lt"/>
              </a:rPr>
              <a:t>ModelArts</a:t>
            </a:r>
            <a:r>
              <a:rPr kumimoji="1" lang="zh-CN" altLang="en-US" sz="2400" dirty="0">
                <a:solidFill>
                  <a:srgbClr val="575756"/>
                </a:solidFill>
                <a:ea typeface="+mn-lt"/>
                <a:cs typeface="+mn-lt"/>
              </a:rPr>
              <a:t>的多规格AI算力，实现了计算机专业知识</a:t>
            </a:r>
            <a:r>
              <a:rPr kumimoji="1" lang="zh-CN" altLang="en-US" sz="2400" dirty="0">
                <a:solidFill>
                  <a:srgbClr val="575756"/>
                </a:solidFill>
                <a:ea typeface="+mn-lt"/>
                <a:cs typeface="+mn-lt"/>
              </a:rPr>
              <a:t>的智能助手在知识图谱复杂关系推理与大规模节点嵌入上的高效训练与加速推理功能。</a:t>
            </a:r>
            <a:endParaRPr kumimoji="1" lang="zh-CN" altLang="en-US" sz="2400" dirty="0">
              <a:solidFill>
                <a:srgbClr val="575756"/>
              </a:solidFill>
              <a:ea typeface="+mn-lt"/>
              <a:cs typeface="+mn-lt"/>
            </a:endParaRPr>
          </a:p>
        </p:txBody>
      </p:sp>
      <p:pic>
        <p:nvPicPr>
          <p:cNvPr id="100" name="图片 99"/>
          <p:cNvPicPr>
            <a:picLocks noChangeAspect="1"/>
          </p:cNvPicPr>
          <p:nvPr/>
        </p:nvPicPr>
        <p:blipFill>
          <a:blip r:embed="rId4"/>
          <a:stretch>
            <a:fillRect/>
          </a:stretch>
        </p:blipFill>
        <p:spPr>
          <a:xfrm>
            <a:off x="666433" y="3567430"/>
            <a:ext cx="4480275" cy="2376000"/>
          </a:xfrm>
          <a:prstGeom prst="rect">
            <a:avLst/>
          </a:prstGeom>
          <a:noFill/>
          <a:ln w="9525">
            <a:noFill/>
          </a:ln>
        </p:spPr>
      </p:pic>
      <p:sp>
        <p:nvSpPr>
          <p:cNvPr id="11" name="Subtitle 1"/>
          <p:cNvSpPr txBox="1"/>
          <p:nvPr/>
        </p:nvSpPr>
        <p:spPr>
          <a:xfrm>
            <a:off x="521970" y="274320"/>
            <a:ext cx="10736580" cy="748665"/>
          </a:xfrm>
          <a:prstGeom prst="rect">
            <a:avLst/>
          </a:prstGeom>
        </p:spPr>
        <p:txBody>
          <a:bodyPr vert="horz" lIns="91440" tIns="45720" rIns="91440" bIns="45720" rtlCol="0">
            <a:noAutofit/>
          </a:bodyPr>
          <a:p>
            <a:pPr marL="0" indent="0" eaLnBrk="0" fontAlgn="base" hangingPunct="0">
              <a:lnSpc>
                <a:spcPct val="140000"/>
              </a:lnSpc>
              <a:spcBef>
                <a:spcPct val="0"/>
              </a:spcBef>
              <a:spcAft>
                <a:spcPct val="0"/>
              </a:spcAft>
              <a:buNone/>
            </a:pPr>
            <a:r>
              <a:rPr lang="zh-CN" altLang="en-US"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功能设计一：小研助手</a:t>
            </a:r>
            <a:r>
              <a:rPr lang="en-US" altLang="zh-CN"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 </a:t>
            </a:r>
            <a:endPar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endParaRPr>
          </a:p>
          <a:p>
            <a:pPr marL="0" indent="0" eaLnBrk="0" fontAlgn="base" hangingPunct="0">
              <a:lnSpc>
                <a:spcPct val="130000"/>
              </a:lnSpc>
              <a:spcBef>
                <a:spcPct val="0"/>
              </a:spcBef>
              <a:spcAft>
                <a:spcPct val="0"/>
              </a:spcAft>
              <a:buNone/>
            </a:pPr>
            <a:endParaRPr lang="zh-CN" altLang="en-US" sz="3000" b="1" dirty="0">
              <a:solidFill>
                <a:srgbClr val="002060"/>
              </a:soli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2" name="图片 1"/>
          <p:cNvPicPr>
            <a:picLocks noChangeAspect="1"/>
          </p:cNvPicPr>
          <p:nvPr/>
        </p:nvPicPr>
        <p:blipFill>
          <a:blip r:embed="rId5"/>
          <a:stretch>
            <a:fillRect/>
          </a:stretch>
        </p:blipFill>
        <p:spPr>
          <a:xfrm>
            <a:off x="5735320" y="398145"/>
            <a:ext cx="5818922" cy="59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11" name="标题 1"/>
          <p:cNvSpPr txBox="1"/>
          <p:nvPr>
            <p:custDataLst>
              <p:tags r:id="rId3"/>
            </p:custDataLst>
          </p:nvPr>
        </p:nvSpPr>
        <p:spPr>
          <a:xfrm>
            <a:off x="788035" y="1531620"/>
            <a:ext cx="3965575" cy="1262380"/>
          </a:xfrm>
          <a:prstGeom prst="rect">
            <a:avLst/>
          </a:prstGeom>
          <a:noFill/>
          <a:ln>
            <a:noFill/>
          </a:ln>
        </p:spPr>
        <p:txBody>
          <a:bodyPr vert="horz" wrap="square" lIns="91440" tIns="45720" rIns="91440" bIns="45720" rtlCol="0" anchor="t"/>
          <a:p>
            <a:pPr algn="l" fontAlgn="t"/>
            <a:r>
              <a:rPr kumimoji="1" lang="zh-CN" altLang="en-US" sz="2400" dirty="0">
                <a:solidFill>
                  <a:srgbClr val="575756"/>
                </a:solidFill>
                <a:ea typeface="+mn-lt"/>
                <a:cs typeface="+mn-lt"/>
                <a:sym typeface="+mn-ea"/>
              </a:rPr>
              <a:t>自动化生成针对性学习笔记，保存归档至知识链，积累个</a:t>
            </a:r>
            <a:r>
              <a:rPr kumimoji="1" lang="zh-CN" altLang="en-US" sz="2400" dirty="0">
                <a:solidFill>
                  <a:srgbClr val="575756"/>
                </a:solidFill>
                <a:ea typeface="+mn-lt"/>
                <a:cs typeface="+mn-lt"/>
              </a:rPr>
              <a:t>人定制的知识库。</a:t>
            </a:r>
            <a:endParaRPr kumimoji="1" lang="zh-CN" altLang="en-US" sz="2400" dirty="0">
              <a:solidFill>
                <a:srgbClr val="575756"/>
              </a:solidFill>
              <a:ea typeface="+mn-lt"/>
              <a:cs typeface="+mn-lt"/>
            </a:endParaRPr>
          </a:p>
        </p:txBody>
      </p:sp>
      <p:pic>
        <p:nvPicPr>
          <p:cNvPr id="18" name="图片 17" descr="2.5 – 2"/>
          <p:cNvPicPr>
            <a:picLocks noChangeAspect="1"/>
          </p:cNvPicPr>
          <p:nvPr>
            <p:custDataLst>
              <p:tags r:id="rId4"/>
            </p:custDataLst>
          </p:nvPr>
        </p:nvPicPr>
        <p:blipFill>
          <a:blip r:embed="rId5"/>
          <a:srcRect l="9599" t="7278" r="9033" b="69019"/>
          <a:stretch>
            <a:fillRect/>
          </a:stretch>
        </p:blipFill>
        <p:spPr>
          <a:xfrm>
            <a:off x="788035" y="2882900"/>
            <a:ext cx="3942715" cy="2521585"/>
          </a:xfrm>
          <a:prstGeom prst="rect">
            <a:avLst/>
          </a:prstGeom>
        </p:spPr>
      </p:pic>
      <p:sp>
        <p:nvSpPr>
          <p:cNvPr id="2" name="Subtitle 1"/>
          <p:cNvSpPr txBox="1"/>
          <p:nvPr/>
        </p:nvSpPr>
        <p:spPr>
          <a:xfrm>
            <a:off x="631190" y="274320"/>
            <a:ext cx="10736580" cy="748665"/>
          </a:xfrm>
          <a:prstGeom prst="rect">
            <a:avLst/>
          </a:prstGeom>
        </p:spPr>
        <p:txBody>
          <a:bodyPr vert="horz" lIns="91440" tIns="45720" rIns="91440" bIns="45720" rtlCol="0">
            <a:noAutofit/>
          </a:bodyPr>
          <a:p>
            <a:pPr marL="0" indent="0" eaLnBrk="0" fontAlgn="base" hangingPunct="0">
              <a:lnSpc>
                <a:spcPct val="140000"/>
              </a:lnSpc>
              <a:spcBef>
                <a:spcPct val="0"/>
              </a:spcBef>
              <a:spcAft>
                <a:spcPct val="0"/>
              </a:spcAft>
              <a:buNone/>
            </a:pPr>
            <a:r>
              <a:rPr lang="zh-CN" altLang="en-US"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功能设计二：</a:t>
            </a:r>
            <a:r>
              <a:rPr lang="en-US" altLang="zh-CN"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AI</a:t>
            </a:r>
            <a:r>
              <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笔记总结</a:t>
            </a:r>
            <a:r>
              <a:rPr lang="en-US" altLang="zh-CN"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 </a:t>
            </a:r>
            <a:endPar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endParaRPr>
          </a:p>
          <a:p>
            <a:pPr marL="0" indent="0" eaLnBrk="0" fontAlgn="base" hangingPunct="0">
              <a:lnSpc>
                <a:spcPct val="130000"/>
              </a:lnSpc>
              <a:spcBef>
                <a:spcPct val="0"/>
              </a:spcBef>
              <a:spcAft>
                <a:spcPct val="0"/>
              </a:spcAft>
              <a:buNone/>
            </a:pPr>
            <a:endParaRPr lang="zh-CN" altLang="en-US" sz="3000" b="1" dirty="0">
              <a:solidFill>
                <a:srgbClr val="002060"/>
              </a:soli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6" name="图片 5"/>
          <p:cNvPicPr>
            <a:picLocks noChangeAspect="1"/>
          </p:cNvPicPr>
          <p:nvPr/>
        </p:nvPicPr>
        <p:blipFill>
          <a:blip r:embed="rId6"/>
          <a:stretch>
            <a:fillRect/>
          </a:stretch>
        </p:blipFill>
        <p:spPr>
          <a:xfrm>
            <a:off x="5875020" y="407035"/>
            <a:ext cx="5869635" cy="59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20" name="文本框 19"/>
          <p:cNvSpPr txBox="1"/>
          <p:nvPr/>
        </p:nvSpPr>
        <p:spPr>
          <a:xfrm>
            <a:off x="829945" y="1670050"/>
            <a:ext cx="4064000" cy="1476375"/>
          </a:xfrm>
          <a:prstGeom prst="rect">
            <a:avLst/>
          </a:prstGeom>
          <a:noFill/>
        </p:spPr>
        <p:txBody>
          <a:bodyPr wrap="square" rtlCol="0">
            <a:spAutoFit/>
          </a:bodyPr>
          <a:p>
            <a:pPr indent="457200">
              <a:lnSpc>
                <a:spcPct val="125000"/>
              </a:lnSpc>
              <a:spcBef>
                <a:spcPts val="0"/>
              </a:spcBef>
              <a:spcAft>
                <a:spcPts val="0"/>
              </a:spcAft>
            </a:pPr>
            <a:r>
              <a:rPr kumimoji="1" lang="zh-CN" altLang="en-US" sz="2400" dirty="0">
                <a:solidFill>
                  <a:srgbClr val="575756"/>
                </a:solidFill>
                <a:ea typeface="+mn-lt"/>
                <a:cs typeface="+mn-lt"/>
              </a:rPr>
              <a:t>进入知识圈，用户可以查看其他用户分享的AI问答笔记，参考学习。</a:t>
            </a:r>
            <a:endParaRPr kumimoji="1" lang="zh-CN" altLang="en-US" sz="2400" dirty="0">
              <a:solidFill>
                <a:srgbClr val="575756"/>
              </a:solidFill>
              <a:ea typeface="+mn-lt"/>
              <a:cs typeface="+mn-lt"/>
            </a:endParaRPr>
          </a:p>
        </p:txBody>
      </p:sp>
      <p:sp>
        <p:nvSpPr>
          <p:cNvPr id="22" name="标题 1"/>
          <p:cNvSpPr txBox="1"/>
          <p:nvPr/>
        </p:nvSpPr>
        <p:spPr>
          <a:xfrm>
            <a:off x="830580" y="3730625"/>
            <a:ext cx="4063365" cy="1729740"/>
          </a:xfrm>
          <a:prstGeom prst="rect">
            <a:avLst/>
          </a:prstGeom>
          <a:noFill/>
          <a:ln>
            <a:noFill/>
          </a:ln>
        </p:spPr>
        <p:txBody>
          <a:bodyPr vert="horz" wrap="square" lIns="0" tIns="0" rIns="0" bIns="0" rtlCol="0" anchor="t"/>
          <a:p>
            <a:pPr indent="457200" algn="l">
              <a:lnSpc>
                <a:spcPct val="125000"/>
              </a:lnSpc>
              <a:spcBef>
                <a:spcPts val="0"/>
              </a:spcBef>
              <a:spcAft>
                <a:spcPts val="0"/>
              </a:spcAft>
              <a:buClrTx/>
              <a:buSzTx/>
              <a:buFontTx/>
            </a:pPr>
            <a:r>
              <a:rPr kumimoji="1" lang="zh-CN" altLang="en-US" sz="2400" dirty="0">
                <a:solidFill>
                  <a:srgbClr val="575756"/>
                </a:solidFill>
                <a:ea typeface="+mn-lt"/>
              </a:rPr>
              <a:t>通过知识链的分享和优化，</a:t>
            </a:r>
            <a:r>
              <a:rPr kumimoji="1" lang="zh-CN" altLang="en-US" sz="2400" dirty="0">
                <a:solidFill>
                  <a:srgbClr val="575756"/>
                </a:solidFill>
                <a:ea typeface="+mn-lt"/>
                <a:sym typeface="+mn-ea"/>
              </a:rPr>
              <a:t>增强用户粘性，打造共荣社群，</a:t>
            </a:r>
            <a:r>
              <a:rPr kumimoji="1" lang="zh-CN" altLang="en-US" sz="2400" dirty="0">
                <a:solidFill>
                  <a:srgbClr val="575756"/>
                </a:solidFill>
                <a:ea typeface="+mn-lt"/>
              </a:rPr>
              <a:t>为学习者提供持续的</a:t>
            </a:r>
            <a:r>
              <a:rPr kumimoji="1" lang="zh-CN" altLang="en-US" sz="2400" dirty="0">
                <a:solidFill>
                  <a:srgbClr val="C00000"/>
                </a:solidFill>
                <a:ea typeface="+mn-lt"/>
              </a:rPr>
              <a:t>实时学习资源</a:t>
            </a:r>
            <a:r>
              <a:rPr kumimoji="1" lang="zh-CN" altLang="en-US" sz="2400" dirty="0">
                <a:solidFill>
                  <a:srgbClr val="575756"/>
                </a:solidFill>
                <a:ea typeface="+mn-lt"/>
              </a:rPr>
              <a:t>。</a:t>
            </a:r>
            <a:endParaRPr kumimoji="1" lang="zh-CN" altLang="en-US" sz="2400" dirty="0">
              <a:solidFill>
                <a:srgbClr val="575756"/>
              </a:solidFill>
              <a:ea typeface="+mn-lt"/>
            </a:endParaRPr>
          </a:p>
        </p:txBody>
      </p:sp>
      <p:sp>
        <p:nvSpPr>
          <p:cNvPr id="23" name="标题 1"/>
          <p:cNvSpPr txBox="1"/>
          <p:nvPr/>
        </p:nvSpPr>
        <p:spPr>
          <a:xfrm>
            <a:off x="829945" y="3241040"/>
            <a:ext cx="3251200" cy="394918"/>
          </a:xfrm>
          <a:prstGeom prst="rect">
            <a:avLst/>
          </a:prstGeom>
          <a:noFill/>
          <a:ln>
            <a:noFill/>
          </a:ln>
        </p:spPr>
        <p:txBody>
          <a:bodyPr vert="horz" wrap="square" lIns="0" tIns="0" rIns="0" bIns="0" rtlCol="0" anchor="b"/>
          <a:p>
            <a:pPr algn="l"/>
            <a:r>
              <a:rPr lang="zh-CN" altLang="en-US" sz="2800" b="1" dirty="0">
                <a:solidFill>
                  <a:schemeClr val="tx1">
                    <a:lumMod val="95000"/>
                    <a:lumOff val="5000"/>
                  </a:schemeClr>
                </a:solidFill>
                <a:latin typeface="方正兰亭黑简体" panose="02000000000000000000" pitchFamily="2" charset="-122"/>
                <a:ea typeface="方正兰亭黑简体" panose="02000000000000000000" pitchFamily="2" charset="-122"/>
                <a:cs typeface="Arial" panose="020B0604020202020204" pitchFamily="34" charset="0"/>
              </a:rPr>
              <a:t>大知识生态</a:t>
            </a:r>
            <a:endParaRPr lang="zh-CN" altLang="en-US" sz="2800" b="1" dirty="0">
              <a:solidFill>
                <a:schemeClr val="tx1">
                  <a:lumMod val="95000"/>
                  <a:lumOff val="5000"/>
                </a:schemeClr>
              </a:solidFill>
              <a:latin typeface="方正兰亭黑简体" panose="02000000000000000000" pitchFamily="2" charset="-122"/>
              <a:ea typeface="方正兰亭黑简体" panose="02000000000000000000" pitchFamily="2" charset="-122"/>
              <a:cs typeface="Arial" panose="020B0604020202020204" pitchFamily="34" charset="0"/>
            </a:endParaRPr>
          </a:p>
        </p:txBody>
      </p:sp>
      <p:sp>
        <p:nvSpPr>
          <p:cNvPr id="24" name="文本框 23"/>
          <p:cNvSpPr txBox="1"/>
          <p:nvPr/>
        </p:nvSpPr>
        <p:spPr>
          <a:xfrm>
            <a:off x="748665" y="1148080"/>
            <a:ext cx="4064000" cy="521970"/>
          </a:xfrm>
          <a:prstGeom prst="rect">
            <a:avLst/>
          </a:prstGeom>
          <a:noFill/>
        </p:spPr>
        <p:txBody>
          <a:bodyPr wrap="square" rtlCol="0">
            <a:spAutoFit/>
          </a:bodyPr>
          <a:p>
            <a:r>
              <a:rPr lang="zh-CN" altLang="en-US" sz="2800" b="1" dirty="0">
                <a:solidFill>
                  <a:schemeClr val="tx1">
                    <a:lumMod val="95000"/>
                    <a:lumOff val="5000"/>
                  </a:schemeClr>
                </a:solidFill>
                <a:latin typeface="方正兰亭黑简体" panose="02000000000000000000" pitchFamily="2" charset="-122"/>
                <a:ea typeface="方正兰亭黑简体" panose="02000000000000000000" pitchFamily="2" charset="-122"/>
                <a:cs typeface="Arial" panose="020B0604020202020204" pitchFamily="34" charset="0"/>
                <a:sym typeface="+mn-ea"/>
              </a:rPr>
              <a:t>知识圈搭建</a:t>
            </a:r>
            <a:endParaRPr lang="zh-CN" altLang="en-US" sz="2800" b="1" dirty="0">
              <a:solidFill>
                <a:schemeClr val="tx1">
                  <a:lumMod val="95000"/>
                  <a:lumOff val="5000"/>
                </a:schemeClr>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
        <p:nvSpPr>
          <p:cNvPr id="2" name="Subtitle 1"/>
          <p:cNvSpPr txBox="1"/>
          <p:nvPr/>
        </p:nvSpPr>
        <p:spPr>
          <a:xfrm>
            <a:off x="573405" y="299720"/>
            <a:ext cx="10736580" cy="748665"/>
          </a:xfrm>
          <a:prstGeom prst="rect">
            <a:avLst/>
          </a:prstGeom>
        </p:spPr>
        <p:txBody>
          <a:bodyPr vert="horz" lIns="91440" tIns="45720" rIns="91440" bIns="45720" rtlCol="0">
            <a:noAutofit/>
          </a:bodyPr>
          <a:p>
            <a:pPr marL="0" indent="0" eaLnBrk="0" fontAlgn="base" hangingPunct="0">
              <a:lnSpc>
                <a:spcPct val="140000"/>
              </a:lnSpc>
              <a:spcBef>
                <a:spcPct val="0"/>
              </a:spcBef>
              <a:spcAft>
                <a:spcPct val="0"/>
              </a:spcAft>
              <a:buNone/>
            </a:pPr>
            <a:r>
              <a:rPr lang="zh-CN" altLang="en-US"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功能设计三：</a:t>
            </a:r>
            <a:r>
              <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rPr>
              <a:t>大</a:t>
            </a:r>
            <a:r>
              <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知识圈</a:t>
            </a:r>
            <a:r>
              <a:rPr lang="en-US" altLang="zh-CN" sz="3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rPr>
              <a:t> </a:t>
            </a:r>
            <a:endParaRPr lang="zh-CN" altLang="en-US" sz="3000"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endParaRPr>
          </a:p>
          <a:p>
            <a:pPr marL="0" indent="0" eaLnBrk="0" fontAlgn="base" hangingPunct="0">
              <a:lnSpc>
                <a:spcPct val="130000"/>
              </a:lnSpc>
              <a:spcBef>
                <a:spcPct val="0"/>
              </a:spcBef>
              <a:spcAft>
                <a:spcPct val="0"/>
              </a:spcAft>
              <a:buNone/>
            </a:pPr>
            <a:endParaRPr lang="zh-CN" altLang="en-US" sz="3000" b="1" dirty="0">
              <a:solidFill>
                <a:srgbClr val="002060"/>
              </a:solidFill>
              <a:effectLst>
                <a:reflection blurRad="6350" stA="53000" endA="300" endPos="35500" dir="5400000" sy="-90000" algn="bl" rotWithShape="0"/>
              </a:effectLst>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6" name="图片 5"/>
          <p:cNvPicPr>
            <a:picLocks noChangeAspect="1"/>
          </p:cNvPicPr>
          <p:nvPr/>
        </p:nvPicPr>
        <p:blipFill>
          <a:blip r:embed="rId3"/>
          <a:stretch>
            <a:fillRect/>
          </a:stretch>
        </p:blipFill>
        <p:spPr>
          <a:xfrm>
            <a:off x="5694680" y="398145"/>
            <a:ext cx="2774534" cy="5940000"/>
          </a:xfrm>
          <a:prstGeom prst="rect">
            <a:avLst/>
          </a:prstGeom>
        </p:spPr>
      </p:pic>
      <p:pic>
        <p:nvPicPr>
          <p:cNvPr id="8" name="图片 7"/>
          <p:cNvPicPr>
            <a:picLocks noChangeAspect="1"/>
          </p:cNvPicPr>
          <p:nvPr/>
        </p:nvPicPr>
        <p:blipFill>
          <a:blip r:embed="rId4"/>
          <a:stretch>
            <a:fillRect/>
          </a:stretch>
        </p:blipFill>
        <p:spPr>
          <a:xfrm>
            <a:off x="8811260" y="398145"/>
            <a:ext cx="2777776" cy="59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五边形 9"/>
          <p:cNvSpPr/>
          <p:nvPr userDrawn="1"/>
        </p:nvSpPr>
        <p:spPr>
          <a:xfrm>
            <a:off x="6449360" y="3623310"/>
            <a:ext cx="3207547" cy="725170"/>
          </a:xfrm>
          <a:prstGeom prst="homePlate">
            <a:avLst/>
          </a:prstGeom>
          <a:solidFill>
            <a:srgbClr val="0070D8">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标题 2"/>
          <p:cNvSpPr>
            <a:spLocks noGrp="1"/>
          </p:cNvSpPr>
          <p:nvPr>
            <p:ph type="title"/>
          </p:nvPr>
        </p:nvSpPr>
        <p:spPr>
          <a:xfrm>
            <a:off x="581025" y="637540"/>
            <a:ext cx="2891155" cy="936625"/>
          </a:xfrm>
        </p:spPr>
        <p:txBody>
          <a:bodyPr/>
          <a:lstStyle/>
          <a:p>
            <a:r>
              <a:rPr lang="zh-CN" altLang="en-US"/>
              <a:t>目录</a:t>
            </a:r>
            <a:endParaRPr lang="zh-CN" altLang="en-US"/>
          </a:p>
        </p:txBody>
      </p:sp>
      <p:sp>
        <p:nvSpPr>
          <p:cNvPr id="70" name="文本占位符 4"/>
          <p:cNvSpPr>
            <a:spLocks noGrp="1"/>
          </p:cNvSpPr>
          <p:nvPr>
            <p:ph type="body" idx="13"/>
          </p:nvPr>
        </p:nvSpPr>
        <p:spPr>
          <a:xfrm>
            <a:off x="5322272" y="1238736"/>
            <a:ext cx="717550" cy="723900"/>
          </a:xfrm>
          <a:solidFill>
            <a:srgbClr val="7F7F7F"/>
          </a:solidFill>
        </p:spPr>
        <p:txBody>
          <a:bodyPr vert="horz" lIns="0" tIns="0" rIns="0" bIns="107950" rtlCol="0" anchor="ctr" anchorCtr="0">
            <a:noAutofit/>
          </a:bodyPr>
          <a:lstStyle/>
          <a:p>
            <a:r>
              <a:rPr lang="en-US" altLang="zh-CN" dirty="0"/>
              <a:t>01</a:t>
            </a:r>
            <a:endParaRPr lang="en-US" altLang="zh-CN" dirty="0"/>
          </a:p>
        </p:txBody>
      </p:sp>
      <p:sp>
        <p:nvSpPr>
          <p:cNvPr id="71" name="文本占位符 5"/>
          <p:cNvSpPr>
            <a:spLocks noGrp="1"/>
          </p:cNvSpPr>
          <p:nvPr>
            <p:ph type="body" idx="14"/>
          </p:nvPr>
        </p:nvSpPr>
        <p:spPr>
          <a:xfrm>
            <a:off x="6470352" y="3621872"/>
            <a:ext cx="4837430" cy="734695"/>
          </a:xfrm>
        </p:spPr>
        <p:txBody>
          <a:bodyPr/>
          <a:lstStyle/>
          <a:p>
            <a:r>
              <a:rPr lang="zh-CN" dirty="0">
                <a:sym typeface="+mn-ea"/>
              </a:rPr>
              <a:t>业务场景介绍</a:t>
            </a:r>
            <a:endParaRPr lang="zh-CN" dirty="0">
              <a:sym typeface="+mn-ea"/>
            </a:endParaRPr>
          </a:p>
        </p:txBody>
      </p:sp>
      <p:sp>
        <p:nvSpPr>
          <p:cNvPr id="72" name="文本占位符 6"/>
          <p:cNvSpPr>
            <a:spLocks noGrp="1"/>
          </p:cNvSpPr>
          <p:nvPr>
            <p:ph type="body" idx="16"/>
          </p:nvPr>
        </p:nvSpPr>
        <p:spPr>
          <a:xfrm>
            <a:off x="5322272" y="3602870"/>
            <a:ext cx="717550" cy="723900"/>
          </a:xfrm>
          <a:solidFill>
            <a:srgbClr val="0070D8"/>
          </a:solidFill>
        </p:spPr>
        <p:txBody>
          <a:bodyPr vert="horz" lIns="0" tIns="0" rIns="0" bIns="107950" rtlCol="0" anchor="ctr" anchorCtr="0">
            <a:noAutofit/>
          </a:bodyPr>
          <a:lstStyle/>
          <a:p>
            <a:r>
              <a:rPr lang="en-US" altLang="zh-CN" dirty="0"/>
              <a:t>03</a:t>
            </a:r>
            <a:endParaRPr dirty="0"/>
          </a:p>
        </p:txBody>
      </p:sp>
      <p:sp>
        <p:nvSpPr>
          <p:cNvPr id="73" name="文本占位符 7"/>
          <p:cNvSpPr>
            <a:spLocks noGrp="1"/>
          </p:cNvSpPr>
          <p:nvPr>
            <p:ph type="body" idx="17"/>
          </p:nvPr>
        </p:nvSpPr>
        <p:spPr>
          <a:xfrm>
            <a:off x="6473490" y="1252220"/>
            <a:ext cx="2514637" cy="734695"/>
          </a:xfrm>
        </p:spPr>
        <p:txBody>
          <a:bodyPr/>
          <a:lstStyle/>
          <a:p>
            <a:r>
              <a:rPr lang="zh-CN" altLang="en-US" dirty="0"/>
              <a:t>产品方案介绍</a:t>
            </a:r>
            <a:endParaRPr lang="zh-CN" altLang="en-US" dirty="0"/>
          </a:p>
        </p:txBody>
      </p:sp>
      <p:sp>
        <p:nvSpPr>
          <p:cNvPr id="75" name="灯片编号占位符 1"/>
          <p:cNvSpPr>
            <a:spLocks noGrp="1"/>
          </p:cNvSpPr>
          <p:nvPr>
            <p:ph type="sldNum" sz="quarter" idx="12"/>
          </p:nvPr>
        </p:nvSpPr>
        <p:spPr>
          <a:xfrm>
            <a:off x="11160760" y="5954395"/>
            <a:ext cx="1031240" cy="365125"/>
          </a:xfrm>
        </p:spPr>
        <p:txBody>
          <a:bodyPr/>
          <a:lstStyle/>
          <a:p>
            <a:fld id="{E077DA78-E013-4A8C-AD75-63A150561B10}" type="slidenum">
              <a:rPr/>
            </a:fld>
            <a:endParaRPr lang="zh-CN" altLang="en-US" dirty="0"/>
          </a:p>
        </p:txBody>
      </p:sp>
      <p:sp>
        <p:nvSpPr>
          <p:cNvPr id="76" name="文本占位符 7"/>
          <p:cNvSpPr txBox="1"/>
          <p:nvPr/>
        </p:nvSpPr>
        <p:spPr>
          <a:xfrm>
            <a:off x="6470352" y="4894925"/>
            <a:ext cx="4837430" cy="734695"/>
          </a:xfrm>
          <a:prstGeom prst="rect">
            <a:avLst/>
          </a:prstGeom>
        </p:spPr>
        <p:txBody>
          <a:bodyPr vert="horz" lIns="91440" tIns="45720" rIns="91440" bIns="45720" rtlCol="0">
            <a:normAutofit/>
          </a:bodyPr>
          <a:lstStyle>
            <a:lvl1pPr marL="0" indent="0" algn="l" defTabSz="914400" rtl="0" eaLnBrk="1" fontAlgn="auto" latinLnBrk="0" hangingPunct="1">
              <a:lnSpc>
                <a:spcPct val="150000"/>
              </a:lnSpc>
              <a:spcBef>
                <a:spcPts val="0"/>
              </a:spcBef>
              <a:spcAft>
                <a:spcPts val="1000"/>
              </a:spcAft>
              <a:buFont typeface="Arial" panose="020B0604020202020204" pitchFamily="34" charset="0"/>
              <a:buNone/>
              <a:defRPr sz="2000" u="none" strike="noStrike" kern="1200" cap="none" spc="150" normalizeH="0" baseline="0">
                <a:solidFill>
                  <a:srgbClr val="262626"/>
                </a:solidFill>
                <a:uFillTx/>
                <a:latin typeface="+mn-lt"/>
                <a:ea typeface="+mn-ea"/>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创新价值介绍</a:t>
            </a:r>
            <a:endParaRPr lang="zh-CN" altLang="en-US" dirty="0"/>
          </a:p>
        </p:txBody>
      </p:sp>
      <p:sp>
        <p:nvSpPr>
          <p:cNvPr id="77" name="文本占位符 8"/>
          <p:cNvSpPr txBox="1"/>
          <p:nvPr/>
        </p:nvSpPr>
        <p:spPr>
          <a:xfrm>
            <a:off x="5322272" y="4854285"/>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defTabSz="914400" rtl="0" eaLnBrk="1" fontAlgn="auto" latinLnBrk="0" hangingPunct="1">
              <a:lnSpc>
                <a:spcPct val="150000"/>
              </a:lnSpc>
              <a:spcBef>
                <a:spcPts val="0"/>
              </a:spcBef>
              <a:spcAft>
                <a:spcPts val="1000"/>
              </a:spcAft>
              <a:buFont typeface="Arial" panose="020B0604020202020204" pitchFamily="34" charset="0"/>
              <a:buNone/>
              <a:defRPr sz="2800" b="1" u="none" strike="noStrike" kern="1200" cap="none" spc="150" normalizeH="0" baseline="0">
                <a:solidFill>
                  <a:schemeClr val="bg1"/>
                </a:solidFill>
                <a:uFillTx/>
                <a:latin typeface="微软雅黑" panose="020B0503020204020204" charset="-122"/>
                <a:ea typeface="微软雅黑" panose="020B0503020204020204" charset="-122"/>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04</a:t>
            </a:r>
            <a:endParaRPr dirty="0"/>
          </a:p>
        </p:txBody>
      </p:sp>
      <p:sp>
        <p:nvSpPr>
          <p:cNvPr id="2" name="文本占位符 5"/>
          <p:cNvSpPr txBox="1"/>
          <p:nvPr/>
        </p:nvSpPr>
        <p:spPr>
          <a:xfrm>
            <a:off x="6472892" y="2437046"/>
            <a:ext cx="4837430" cy="734695"/>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需求设计介绍</a:t>
            </a:r>
            <a:endParaRPr lang="zh-CN" altLang="en-US" dirty="0">
              <a:sym typeface="+mn-ea"/>
            </a:endParaRPr>
          </a:p>
        </p:txBody>
      </p:sp>
      <p:sp>
        <p:nvSpPr>
          <p:cNvPr id="3" name="文本占位符 6"/>
          <p:cNvSpPr txBox="1"/>
          <p:nvPr/>
        </p:nvSpPr>
        <p:spPr>
          <a:xfrm>
            <a:off x="5322272" y="2397041"/>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defTabSz="914400" rtl="0" eaLnBrk="1" latinLnBrk="0" hangingPunct="1">
              <a:lnSpc>
                <a:spcPct val="150000"/>
              </a:lnSpc>
              <a:spcBef>
                <a:spcPts val="1000"/>
              </a:spcBef>
              <a:buFont typeface="Arial" panose="020B0604020202020204" pitchFamily="34" charset="0"/>
              <a:buNone/>
              <a:defRPr sz="2800" b="1" kern="1200">
                <a:solidFill>
                  <a:schemeClr val="bg1"/>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02</a:t>
            </a: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pic>
        <p:nvPicPr>
          <p:cNvPr id="2" name="图片 1" descr="16354b82c5049ba42ffdf9eca74a816"/>
          <p:cNvPicPr/>
          <p:nvPr/>
        </p:nvPicPr>
        <p:blipFill>
          <a:blip r:embed="rId3"/>
          <a:stretch>
            <a:fillRect/>
          </a:stretch>
        </p:blipFill>
        <p:spPr>
          <a:xfrm>
            <a:off x="260350" y="291465"/>
            <a:ext cx="11642400" cy="6170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7" name="Subtitle 1"/>
          <p:cNvSpPr txBox="1"/>
          <p:nvPr/>
        </p:nvSpPr>
        <p:spPr>
          <a:xfrm>
            <a:off x="667385" y="455295"/>
            <a:ext cx="11235055"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ClrTx/>
              <a:buSzTx/>
              <a:buFontTx/>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应用场景一</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我”想要学习“存储系统”的内容，提问</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AI</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助教</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6" name="图片 1"/>
          <p:cNvPicPr>
            <a:picLocks noChangeAspect="1"/>
          </p:cNvPicPr>
          <p:nvPr/>
        </p:nvPicPr>
        <p:blipFill>
          <a:blip r:embed="rId3"/>
          <a:srcRect l="4781" r="7189"/>
          <a:stretch>
            <a:fillRect/>
          </a:stretch>
        </p:blipFill>
        <p:spPr>
          <a:xfrm>
            <a:off x="667385" y="906145"/>
            <a:ext cx="6426835" cy="4923790"/>
          </a:xfrm>
          <a:prstGeom prst="rect">
            <a:avLst/>
          </a:prstGeom>
          <a:noFill/>
          <a:ln>
            <a:noFill/>
          </a:ln>
        </p:spPr>
      </p:pic>
      <p:sp>
        <p:nvSpPr>
          <p:cNvPr id="9" name="矩形 8"/>
          <p:cNvSpPr/>
          <p:nvPr>
            <p:custDataLst>
              <p:tags r:id="rId4"/>
            </p:custDataLst>
          </p:nvPr>
        </p:nvSpPr>
        <p:spPr>
          <a:xfrm>
            <a:off x="807085" y="1028065"/>
            <a:ext cx="10843260" cy="49911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用户想要学习“计算机组成原理中存储系统”的内容，提问：</a:t>
            </a:r>
            <a:endParaRPr lang="zh-CN" altLang="en-US" sz="1600" dirty="0">
              <a:solidFill>
                <a:schemeClr val="tx1">
                  <a:lumMod val="85000"/>
                  <a:lumOff val="15000"/>
                </a:schemeClr>
              </a:solidFill>
              <a:latin typeface="+mn-ea"/>
              <a:cs typeface="+mn-ea"/>
              <a:sym typeface="+mn-ea"/>
            </a:endParaRPr>
          </a:p>
        </p:txBody>
      </p:sp>
      <p:pic>
        <p:nvPicPr>
          <p:cNvPr id="2" name="图片 4" descr="623f22fffbc17070f895e9546d0c964"/>
          <p:cNvPicPr>
            <a:picLocks noChangeAspect="1"/>
          </p:cNvPicPr>
          <p:nvPr/>
        </p:nvPicPr>
        <p:blipFill>
          <a:blip r:embed="rId5"/>
          <a:srcRect l="1309" t="16390" r="7117"/>
          <a:stretch>
            <a:fillRect/>
          </a:stretch>
        </p:blipFill>
        <p:spPr>
          <a:xfrm>
            <a:off x="667385" y="1450975"/>
            <a:ext cx="7110095" cy="4988560"/>
          </a:xfrm>
          <a:prstGeom prst="rect">
            <a:avLst/>
          </a:prstGeom>
        </p:spPr>
      </p:pic>
      <p:sp>
        <p:nvSpPr>
          <p:cNvPr id="8" name="圆角矩形 7"/>
          <p:cNvSpPr/>
          <p:nvPr/>
        </p:nvSpPr>
        <p:spPr>
          <a:xfrm>
            <a:off x="667385" y="1743075"/>
            <a:ext cx="6654800" cy="567055"/>
          </a:xfrm>
          <a:prstGeom prst="round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圆角矩形 9"/>
          <p:cNvSpPr/>
          <p:nvPr/>
        </p:nvSpPr>
        <p:spPr>
          <a:xfrm>
            <a:off x="667385" y="5670550"/>
            <a:ext cx="2244090" cy="768985"/>
          </a:xfrm>
          <a:prstGeom prst="round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文本框 10"/>
          <p:cNvSpPr txBox="1"/>
          <p:nvPr/>
        </p:nvSpPr>
        <p:spPr>
          <a:xfrm>
            <a:off x="7996555" y="1367790"/>
            <a:ext cx="3905885" cy="1198880"/>
          </a:xfrm>
          <a:prstGeom prst="rect">
            <a:avLst/>
          </a:prstGeom>
          <a:noFill/>
        </p:spPr>
        <p:txBody>
          <a:bodyPr wrap="square" rtlCol="0">
            <a:spAutoFit/>
          </a:bodyPr>
          <a:p>
            <a:pPr algn="l">
              <a:buClrTx/>
              <a:buSzTx/>
              <a:buNone/>
            </a:pPr>
            <a:r>
              <a:rPr kumimoji="1" lang="zh-CN" altLang="en-US" sz="2400" dirty="0">
                <a:solidFill>
                  <a:srgbClr val="575756"/>
                </a:solidFill>
                <a:ea typeface="+mn-lt"/>
                <a:cs typeface="+mn-lt"/>
              </a:rPr>
              <a:t>市面上传统的</a:t>
            </a:r>
            <a:r>
              <a:rPr kumimoji="1" lang="en-US" altLang="zh-CN" sz="2400" dirty="0">
                <a:solidFill>
                  <a:srgbClr val="575756"/>
                </a:solidFill>
                <a:ea typeface="+mn-lt"/>
                <a:cs typeface="+mn-lt"/>
              </a:rPr>
              <a:t>AI</a:t>
            </a:r>
            <a:r>
              <a:rPr kumimoji="1" lang="zh-CN" altLang="en-US" sz="2400" dirty="0">
                <a:solidFill>
                  <a:srgbClr val="575756"/>
                </a:solidFill>
                <a:ea typeface="+mn-lt"/>
                <a:cs typeface="+mn-lt"/>
              </a:rPr>
              <a:t>产品：</a:t>
            </a:r>
            <a:endParaRPr kumimoji="1" lang="zh-CN" altLang="en-US" sz="2400" dirty="0">
              <a:solidFill>
                <a:srgbClr val="575756"/>
              </a:solidFill>
              <a:ea typeface="+mn-lt"/>
              <a:cs typeface="+mn-lt"/>
            </a:endParaRPr>
          </a:p>
          <a:p>
            <a:pPr algn="l">
              <a:buClrTx/>
              <a:buSzTx/>
              <a:buNone/>
            </a:pPr>
            <a:r>
              <a:rPr kumimoji="1" lang="zh-CN" altLang="en-US" sz="2400" dirty="0">
                <a:solidFill>
                  <a:srgbClr val="575756"/>
                </a:solidFill>
                <a:ea typeface="+mn-lt"/>
                <a:cs typeface="+mn-lt"/>
              </a:rPr>
              <a:t>AI提供的学习内容</a:t>
            </a:r>
            <a:r>
              <a:rPr kumimoji="1" lang="zh-CN" altLang="en-US" sz="2400" dirty="0">
                <a:solidFill>
                  <a:srgbClr val="C00000"/>
                </a:solidFill>
                <a:ea typeface="+mn-lt"/>
                <a:cs typeface="+mn-lt"/>
              </a:rPr>
              <a:t>没有重点</a:t>
            </a:r>
            <a:r>
              <a:rPr kumimoji="1" lang="zh-CN" altLang="en-US" sz="2400" dirty="0">
                <a:solidFill>
                  <a:srgbClr val="575756"/>
                </a:solidFill>
                <a:ea typeface="+mn-lt"/>
                <a:cs typeface="+mn-lt"/>
              </a:rPr>
              <a:t>，</a:t>
            </a:r>
            <a:r>
              <a:rPr kumimoji="1" lang="zh-CN" altLang="en-US" sz="2400" dirty="0">
                <a:solidFill>
                  <a:srgbClr val="575756"/>
                </a:solidFill>
                <a:ea typeface="+mn-lt"/>
                <a:cs typeface="+mn-lt"/>
              </a:rPr>
              <a:t>知识点很零碎。</a:t>
            </a:r>
            <a:endParaRPr kumimoji="1" lang="zh-CN" altLang="en-US" sz="2400" dirty="0">
              <a:solidFill>
                <a:srgbClr val="575756"/>
              </a:solidFill>
              <a:ea typeface="+mn-lt"/>
              <a:cs typeface="+mn-lt"/>
            </a:endParaRPr>
          </a:p>
        </p:txBody>
      </p:sp>
      <p:sp>
        <p:nvSpPr>
          <p:cNvPr id="12" name="文本框 11"/>
          <p:cNvSpPr txBox="1"/>
          <p:nvPr/>
        </p:nvSpPr>
        <p:spPr>
          <a:xfrm>
            <a:off x="7997190" y="3644265"/>
            <a:ext cx="3905885" cy="2306955"/>
          </a:xfrm>
          <a:prstGeom prst="rect">
            <a:avLst/>
          </a:prstGeom>
          <a:noFill/>
        </p:spPr>
        <p:txBody>
          <a:bodyPr wrap="square" rtlCol="0">
            <a:spAutoFit/>
          </a:bodyPr>
          <a:p>
            <a:pPr algn="l">
              <a:buClrTx/>
              <a:buSzTx/>
              <a:buNone/>
            </a:pPr>
            <a:r>
              <a:rPr kumimoji="1" lang="zh-CN" altLang="en-US" sz="2400" dirty="0">
                <a:solidFill>
                  <a:srgbClr val="575756"/>
                </a:solidFill>
                <a:ea typeface="+mn-lt"/>
                <a:cs typeface="+mn-lt"/>
              </a:rPr>
              <a:t>我们定向训练的AI助教：</a:t>
            </a:r>
            <a:endParaRPr kumimoji="1" lang="zh-CN" altLang="en-US" sz="2400" dirty="0">
              <a:solidFill>
                <a:srgbClr val="575756"/>
              </a:solidFill>
              <a:ea typeface="+mn-lt"/>
              <a:cs typeface="+mn-lt"/>
            </a:endParaRPr>
          </a:p>
          <a:p>
            <a:pPr algn="l">
              <a:buClrTx/>
              <a:buSzTx/>
              <a:buNone/>
            </a:pPr>
            <a:r>
              <a:rPr kumimoji="1" lang="en-US" altLang="zh-CN" sz="2400" dirty="0">
                <a:solidFill>
                  <a:srgbClr val="575756"/>
                </a:solidFill>
                <a:ea typeface="+mn-lt"/>
                <a:cs typeface="+mn-lt"/>
              </a:rPr>
              <a:t>AI</a:t>
            </a:r>
            <a:r>
              <a:rPr kumimoji="1" lang="zh-CN" altLang="en-US" sz="2400" dirty="0">
                <a:solidFill>
                  <a:srgbClr val="575756"/>
                </a:solidFill>
                <a:ea typeface="+mn-lt"/>
                <a:cs typeface="+mn-lt"/>
              </a:rPr>
              <a:t>助教提供</a:t>
            </a:r>
            <a:r>
              <a:rPr kumimoji="1" lang="zh-CN" altLang="en-US" sz="2400" dirty="0">
                <a:solidFill>
                  <a:srgbClr val="C00000"/>
                </a:solidFill>
                <a:ea typeface="+mn-lt"/>
                <a:cs typeface="+mn-lt"/>
              </a:rPr>
              <a:t>易错点</a:t>
            </a:r>
            <a:r>
              <a:rPr kumimoji="1" lang="zh-CN" altLang="en-US" sz="2400" dirty="0">
                <a:solidFill>
                  <a:srgbClr val="575756"/>
                </a:solidFill>
                <a:ea typeface="+mn-lt"/>
                <a:cs typeface="+mn-lt"/>
              </a:rPr>
              <a:t>和</a:t>
            </a:r>
            <a:r>
              <a:rPr kumimoji="1" lang="zh-CN" altLang="en-US" sz="2400" dirty="0">
                <a:solidFill>
                  <a:srgbClr val="C00000"/>
                </a:solidFill>
                <a:ea typeface="+mn-lt"/>
                <a:cs typeface="+mn-lt"/>
              </a:rPr>
              <a:t>知识点补充</a:t>
            </a:r>
            <a:r>
              <a:rPr kumimoji="1" lang="zh-CN" altLang="en-US" sz="2400" dirty="0">
                <a:solidFill>
                  <a:srgbClr val="575756"/>
                </a:solidFill>
                <a:ea typeface="+mn-lt"/>
                <a:cs typeface="+mn-lt"/>
              </a:rPr>
              <a:t>；</a:t>
            </a:r>
            <a:endParaRPr kumimoji="1" lang="zh-CN" altLang="en-US" sz="2400" dirty="0">
              <a:solidFill>
                <a:srgbClr val="575756"/>
              </a:solidFill>
              <a:ea typeface="+mn-lt"/>
              <a:cs typeface="+mn-lt"/>
            </a:endParaRPr>
          </a:p>
          <a:p>
            <a:pPr algn="l">
              <a:buClrTx/>
              <a:buSzTx/>
              <a:buNone/>
            </a:pPr>
            <a:r>
              <a:rPr kumimoji="1" lang="zh-CN" altLang="en-US" sz="2400" dirty="0">
                <a:solidFill>
                  <a:srgbClr val="575756"/>
                </a:solidFill>
                <a:ea typeface="+mn-lt"/>
                <a:cs typeface="+mn-lt"/>
              </a:rPr>
              <a:t>同时，标明引用材料，并提供电子版学习资料在线查阅</a:t>
            </a:r>
            <a:r>
              <a:rPr kumimoji="1" lang="zh-CN" altLang="en-US" sz="2400" dirty="0">
                <a:solidFill>
                  <a:srgbClr val="575756"/>
                </a:solidFill>
                <a:ea typeface="+mn-lt"/>
                <a:cs typeface="+mn-lt"/>
              </a:rPr>
              <a:t>功能。</a:t>
            </a:r>
            <a:endParaRPr kumimoji="1" lang="zh-CN" altLang="en-US" sz="2400" dirty="0">
              <a:solidFill>
                <a:srgbClr val="575756"/>
              </a:solidFill>
              <a:ea typeface="+mn-lt"/>
              <a:cs typeface="+mn-lt"/>
            </a:endParaRPr>
          </a:p>
        </p:txBody>
      </p:sp>
      <p:pic>
        <p:nvPicPr>
          <p:cNvPr id="13" name="图片 12" descr="箭头"/>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60510" y="2566670"/>
            <a:ext cx="914400" cy="10769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53948"/>
            <a:ext cx="11643360" cy="6170347"/>
          </a:xfrm>
          <a:prstGeom prst="rect">
            <a:avLst/>
          </a:prstGeom>
        </p:spPr>
      </p:pic>
      <p:sp>
        <p:nvSpPr>
          <p:cNvPr id="7" name="Subtitle 1"/>
          <p:cNvSpPr txBox="1"/>
          <p:nvPr/>
        </p:nvSpPr>
        <p:spPr>
          <a:xfrm>
            <a:off x="667385" y="455295"/>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应用场景二</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我</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遇到难题问AI，牛头不搭马嘴</a:t>
            </a:r>
            <a:endParaRPr lang="zh-CN" altLang="en-US" dirty="0">
              <a:solidFill>
                <a:schemeClr val="tx1">
                  <a:lumMod val="85000"/>
                  <a:lumOff val="15000"/>
                </a:schemeClr>
              </a:solidFill>
              <a:latin typeface="+mn-ea"/>
              <a:cs typeface="+mn-ea"/>
              <a:sym typeface="+mn-ea"/>
            </a:endParaRPr>
          </a:p>
          <a:p>
            <a:pPr marL="0" indent="0" eaLnBrk="0" fontAlgn="base" hangingPunct="0">
              <a:spcBef>
                <a:spcPct val="0"/>
              </a:spcBef>
              <a:spcAft>
                <a:spcPct val="0"/>
              </a:spcAft>
              <a:buNone/>
            </a:pP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
        <p:nvSpPr>
          <p:cNvPr id="11" name="文本框 10"/>
          <p:cNvSpPr txBox="1"/>
          <p:nvPr/>
        </p:nvSpPr>
        <p:spPr>
          <a:xfrm>
            <a:off x="7996555" y="1367790"/>
            <a:ext cx="3905885" cy="1568450"/>
          </a:xfrm>
          <a:prstGeom prst="rect">
            <a:avLst/>
          </a:prstGeom>
          <a:noFill/>
        </p:spPr>
        <p:txBody>
          <a:bodyPr wrap="square" rtlCol="0">
            <a:spAutoFit/>
          </a:bodyPr>
          <a:p>
            <a:pPr algn="l">
              <a:buClrTx/>
              <a:buSzTx/>
              <a:buNone/>
            </a:pPr>
            <a:r>
              <a:rPr kumimoji="1" lang="zh-CN" altLang="en-US" sz="2400" dirty="0">
                <a:solidFill>
                  <a:srgbClr val="575756"/>
                </a:solidFill>
                <a:ea typeface="+mn-lt"/>
                <a:cs typeface="+mn-lt"/>
                <a:sym typeface="+mn-ea"/>
              </a:rPr>
              <a:t>传统的AI产品往往以宏观视角，泛泛的输出，虽然这种打法看似全面，却缺乏深度和针对性，显得虚无缥缈。</a:t>
            </a:r>
            <a:endParaRPr kumimoji="1" lang="zh-CN" altLang="en-US" sz="2400" dirty="0">
              <a:solidFill>
                <a:srgbClr val="575756"/>
              </a:solidFill>
              <a:ea typeface="+mn-lt"/>
              <a:cs typeface="+mn-lt"/>
            </a:endParaRPr>
          </a:p>
        </p:txBody>
      </p:sp>
      <p:sp>
        <p:nvSpPr>
          <p:cNvPr id="12" name="文本框 11"/>
          <p:cNvSpPr txBox="1"/>
          <p:nvPr/>
        </p:nvSpPr>
        <p:spPr>
          <a:xfrm>
            <a:off x="7996555" y="4013200"/>
            <a:ext cx="3905885" cy="1198880"/>
          </a:xfrm>
          <a:prstGeom prst="rect">
            <a:avLst/>
          </a:prstGeom>
          <a:noFill/>
        </p:spPr>
        <p:txBody>
          <a:bodyPr wrap="square" rtlCol="0">
            <a:spAutoFit/>
          </a:bodyPr>
          <a:p>
            <a:pPr algn="l">
              <a:buClrTx/>
              <a:buSzTx/>
              <a:buNone/>
            </a:pPr>
            <a:r>
              <a:rPr kumimoji="1" lang="zh-CN" altLang="en-US" sz="2400" dirty="0">
                <a:solidFill>
                  <a:srgbClr val="575756"/>
                </a:solidFill>
                <a:ea typeface="+mn-lt"/>
                <a:cs typeface="+mn-lt"/>
                <a:sym typeface="+mn-ea"/>
              </a:rPr>
              <a:t>经过我们改良，</a:t>
            </a:r>
            <a:endParaRPr kumimoji="1" lang="zh-CN" altLang="en-US" sz="2400" dirty="0">
              <a:solidFill>
                <a:srgbClr val="575756"/>
              </a:solidFill>
              <a:ea typeface="+mn-lt"/>
              <a:cs typeface="+mn-lt"/>
            </a:endParaRPr>
          </a:p>
          <a:p>
            <a:pPr algn="l">
              <a:buClrTx/>
              <a:buSzTx/>
              <a:buNone/>
            </a:pPr>
            <a:r>
              <a:rPr kumimoji="1" lang="zh-CN" altLang="en-US" sz="2400" dirty="0">
                <a:solidFill>
                  <a:srgbClr val="575756"/>
                </a:solidFill>
                <a:ea typeface="+mn-lt"/>
                <a:cs typeface="+mn-lt"/>
                <a:sym typeface="+mn-ea"/>
              </a:rPr>
              <a:t>让AI助教关联考点，</a:t>
            </a:r>
            <a:endParaRPr kumimoji="1" lang="zh-CN" altLang="en-US" sz="2400" dirty="0">
              <a:solidFill>
                <a:srgbClr val="575756"/>
              </a:solidFill>
              <a:ea typeface="+mn-lt"/>
              <a:cs typeface="+mn-lt"/>
            </a:endParaRPr>
          </a:p>
          <a:p>
            <a:pPr algn="l">
              <a:buClrTx/>
              <a:buSzTx/>
              <a:buNone/>
            </a:pPr>
            <a:r>
              <a:rPr kumimoji="1" lang="zh-CN" altLang="en-US" sz="2400" dirty="0">
                <a:solidFill>
                  <a:srgbClr val="575756"/>
                </a:solidFill>
                <a:ea typeface="+mn-lt"/>
                <a:cs typeface="+mn-lt"/>
                <a:sym typeface="+mn-ea"/>
              </a:rPr>
              <a:t>同时，设计</a:t>
            </a:r>
            <a:r>
              <a:rPr kumimoji="1" lang="zh-CN" altLang="en-US" sz="2400" dirty="0">
                <a:solidFill>
                  <a:srgbClr val="C00000"/>
                </a:solidFill>
                <a:ea typeface="+mn-lt"/>
                <a:cs typeface="+mn-lt"/>
                <a:sym typeface="+mn-ea"/>
              </a:rPr>
              <a:t>案例教学板块</a:t>
            </a:r>
            <a:r>
              <a:rPr kumimoji="1" lang="zh-CN" altLang="en-US" sz="2400" dirty="0">
                <a:solidFill>
                  <a:srgbClr val="575756"/>
                </a:solidFill>
                <a:ea typeface="+mn-lt"/>
                <a:cs typeface="+mn-lt"/>
                <a:sym typeface="+mn-ea"/>
              </a:rPr>
              <a:t>。</a:t>
            </a:r>
            <a:endParaRPr kumimoji="1" lang="zh-CN" altLang="en-US" sz="2400" dirty="0">
              <a:solidFill>
                <a:srgbClr val="575756"/>
              </a:solidFill>
              <a:ea typeface="+mn-lt"/>
              <a:cs typeface="+mn-lt"/>
            </a:endParaRPr>
          </a:p>
        </p:txBody>
      </p:sp>
      <p:pic>
        <p:nvPicPr>
          <p:cNvPr id="13" name="图片 12" descr="箭头"/>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60510" y="2936240"/>
            <a:ext cx="914400" cy="1076960"/>
          </a:xfrm>
          <a:prstGeom prst="rect">
            <a:avLst/>
          </a:prstGeom>
        </p:spPr>
      </p:pic>
      <p:pic>
        <p:nvPicPr>
          <p:cNvPr id="3" name="图片 1"/>
          <p:cNvPicPr>
            <a:picLocks noChangeAspect="1"/>
          </p:cNvPicPr>
          <p:nvPr/>
        </p:nvPicPr>
        <p:blipFill>
          <a:blip r:embed="rId5"/>
          <a:srcRect l="6565" r="4771"/>
          <a:stretch>
            <a:fillRect/>
          </a:stretch>
        </p:blipFill>
        <p:spPr>
          <a:xfrm>
            <a:off x="667385" y="1091565"/>
            <a:ext cx="5427980" cy="5287010"/>
          </a:xfrm>
          <a:prstGeom prst="rect">
            <a:avLst/>
          </a:prstGeom>
          <a:noFill/>
          <a:ln>
            <a:noFill/>
          </a:ln>
        </p:spPr>
      </p:pic>
      <p:pic>
        <p:nvPicPr>
          <p:cNvPr id="14" name="图片 3"/>
          <p:cNvPicPr>
            <a:picLocks noChangeAspect="1"/>
          </p:cNvPicPr>
          <p:nvPr/>
        </p:nvPicPr>
        <p:blipFill>
          <a:blip r:embed="rId6"/>
          <a:srcRect t="15701" r="3798"/>
          <a:stretch>
            <a:fillRect/>
          </a:stretch>
        </p:blipFill>
        <p:spPr>
          <a:xfrm>
            <a:off x="667385" y="1640840"/>
            <a:ext cx="7272000" cy="4783531"/>
          </a:xfrm>
          <a:prstGeom prst="rect">
            <a:avLst/>
          </a:prstGeom>
          <a:noFill/>
          <a:ln>
            <a:noFill/>
          </a:ln>
        </p:spPr>
      </p:pic>
      <p:sp>
        <p:nvSpPr>
          <p:cNvPr id="16" name="圆角矩形 15"/>
          <p:cNvSpPr/>
          <p:nvPr/>
        </p:nvSpPr>
        <p:spPr>
          <a:xfrm>
            <a:off x="667385" y="5845175"/>
            <a:ext cx="2038985" cy="617220"/>
          </a:xfrm>
          <a:prstGeom prst="round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圆角矩形 16"/>
          <p:cNvSpPr/>
          <p:nvPr/>
        </p:nvSpPr>
        <p:spPr>
          <a:xfrm>
            <a:off x="667385" y="4554220"/>
            <a:ext cx="3905250" cy="949960"/>
          </a:xfrm>
          <a:prstGeom prst="round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7" name="Subtitle 1"/>
          <p:cNvSpPr txBox="1"/>
          <p:nvPr/>
        </p:nvSpPr>
        <p:spPr>
          <a:xfrm>
            <a:off x="667385" y="455295"/>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应用场景三</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：基于教材原文进行有效补充</a:t>
            </a:r>
            <a:endParaRPr lang="zh-CN" altLang="en-US" dirty="0">
              <a:solidFill>
                <a:schemeClr val="tx1">
                  <a:lumMod val="85000"/>
                  <a:lumOff val="15000"/>
                </a:schemeClr>
              </a:solidFill>
              <a:latin typeface="+mn-ea"/>
              <a:cs typeface="+mn-ea"/>
              <a:sym typeface="+mn-ea"/>
            </a:endParaRPr>
          </a:p>
          <a:p>
            <a:pPr marL="0" indent="0" eaLnBrk="0" fontAlgn="base" hangingPunct="0">
              <a:spcBef>
                <a:spcPct val="0"/>
              </a:spcBef>
              <a:spcAft>
                <a:spcPct val="0"/>
              </a:spcAft>
              <a:buNone/>
            </a:pPr>
            <a:endPar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21" name="图片 20" descr="图片6"/>
          <p:cNvPicPr>
            <a:picLocks noChangeAspect="1"/>
          </p:cNvPicPr>
          <p:nvPr/>
        </p:nvPicPr>
        <p:blipFill>
          <a:blip r:embed="rId3"/>
          <a:srcRect t="7199" r="617"/>
          <a:stretch>
            <a:fillRect/>
          </a:stretch>
        </p:blipFill>
        <p:spPr>
          <a:xfrm>
            <a:off x="765175" y="974725"/>
            <a:ext cx="5047615" cy="5487035"/>
          </a:xfrm>
          <a:prstGeom prst="rect">
            <a:avLst/>
          </a:prstGeom>
        </p:spPr>
      </p:pic>
      <p:pic>
        <p:nvPicPr>
          <p:cNvPr id="22" name="图片 21" descr="图片8"/>
          <p:cNvPicPr>
            <a:picLocks noChangeAspect="1"/>
          </p:cNvPicPr>
          <p:nvPr/>
        </p:nvPicPr>
        <p:blipFill>
          <a:blip r:embed="rId4"/>
          <a:srcRect l="50255" t="61444" r="1264" b="1852"/>
          <a:stretch>
            <a:fillRect/>
          </a:stretch>
        </p:blipFill>
        <p:spPr>
          <a:xfrm>
            <a:off x="765175" y="4283075"/>
            <a:ext cx="4697095" cy="2110105"/>
          </a:xfrm>
          <a:prstGeom prst="rect">
            <a:avLst/>
          </a:prstGeom>
        </p:spPr>
      </p:pic>
      <p:sp>
        <p:nvSpPr>
          <p:cNvPr id="23" name="圆角矩形 22"/>
          <p:cNvSpPr/>
          <p:nvPr/>
        </p:nvSpPr>
        <p:spPr>
          <a:xfrm>
            <a:off x="862965" y="4208145"/>
            <a:ext cx="4519295" cy="1775460"/>
          </a:xfrm>
          <a:prstGeom prst="round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nvSpPr>
        <p:spPr>
          <a:xfrm>
            <a:off x="6095365" y="2768600"/>
            <a:ext cx="5807710" cy="1198880"/>
          </a:xfrm>
          <a:prstGeom prst="rect">
            <a:avLst/>
          </a:prstGeom>
          <a:noFill/>
        </p:spPr>
        <p:txBody>
          <a:bodyPr wrap="square" rtlCol="0">
            <a:spAutoFit/>
          </a:bodyPr>
          <a:p>
            <a:pPr algn="l">
              <a:buClrTx/>
              <a:buSzTx/>
              <a:buNone/>
            </a:pPr>
            <a:r>
              <a:rPr kumimoji="1" lang="zh-CN" altLang="en-US" sz="2400" dirty="0">
                <a:solidFill>
                  <a:srgbClr val="575756"/>
                </a:solidFill>
                <a:ea typeface="+mn-lt"/>
                <a:cs typeface="+mn-lt"/>
                <a:sym typeface="+mn-ea"/>
              </a:rPr>
              <a:t>我们训练的AI助教角色在原“操作步骤”分解的基础上，进行</a:t>
            </a:r>
            <a:r>
              <a:rPr kumimoji="1" lang="zh-CN" altLang="en-US" sz="2400" dirty="0">
                <a:solidFill>
                  <a:srgbClr val="C00000"/>
                </a:solidFill>
                <a:ea typeface="+mn-lt"/>
                <a:cs typeface="+mn-lt"/>
                <a:sym typeface="+mn-ea"/>
              </a:rPr>
              <a:t>基于教材原文的补充</a:t>
            </a:r>
            <a:r>
              <a:rPr kumimoji="1" lang="zh-CN" altLang="en-US" sz="2400" dirty="0">
                <a:solidFill>
                  <a:srgbClr val="575756"/>
                </a:solidFill>
                <a:ea typeface="+mn-lt"/>
                <a:cs typeface="+mn-lt"/>
                <a:sym typeface="+mn-ea"/>
              </a:rPr>
              <a:t>，划定备考的知识范围。</a:t>
            </a:r>
            <a:endParaRPr kumimoji="1" lang="zh-CN" altLang="en-US" sz="2400" dirty="0">
              <a:solidFill>
                <a:srgbClr val="575756"/>
              </a:solidFill>
              <a:ea typeface="+mn-lt"/>
              <a:cs typeface="+mn-l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7" name="Subtitle 1"/>
          <p:cNvSpPr txBox="1"/>
          <p:nvPr/>
        </p:nvSpPr>
        <p:spPr>
          <a:xfrm>
            <a:off x="667385" y="455295"/>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应用场景四</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：大模型的自我训练</a:t>
            </a:r>
            <a:endPar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21" name="图片 20" descr="图片6"/>
          <p:cNvPicPr>
            <a:picLocks noChangeAspect="1"/>
          </p:cNvPicPr>
          <p:nvPr/>
        </p:nvPicPr>
        <p:blipFill>
          <a:blip r:embed="rId3"/>
          <a:srcRect t="7199" r="617"/>
          <a:stretch>
            <a:fillRect/>
          </a:stretch>
        </p:blipFill>
        <p:spPr>
          <a:xfrm>
            <a:off x="666750" y="974725"/>
            <a:ext cx="2317878" cy="2520000"/>
          </a:xfrm>
          <a:prstGeom prst="rect">
            <a:avLst/>
          </a:prstGeom>
        </p:spPr>
      </p:pic>
      <p:pic>
        <p:nvPicPr>
          <p:cNvPr id="3" name="图片 7" descr="59da50dd8beeb3017dcda8cf92030ab"/>
          <p:cNvPicPr>
            <a:picLocks noChangeAspect="1"/>
          </p:cNvPicPr>
          <p:nvPr/>
        </p:nvPicPr>
        <p:blipFill>
          <a:blip r:embed="rId4"/>
          <a:srcRect t="5067"/>
          <a:stretch>
            <a:fillRect/>
          </a:stretch>
        </p:blipFill>
        <p:spPr>
          <a:xfrm>
            <a:off x="667385" y="3775075"/>
            <a:ext cx="2317115" cy="2520315"/>
          </a:xfrm>
          <a:prstGeom prst="rect">
            <a:avLst/>
          </a:prstGeom>
        </p:spPr>
      </p:pic>
      <p:sp>
        <p:nvSpPr>
          <p:cNvPr id="31" name="圆角矩形 30"/>
          <p:cNvSpPr/>
          <p:nvPr/>
        </p:nvSpPr>
        <p:spPr>
          <a:xfrm>
            <a:off x="2261870" y="3702685"/>
            <a:ext cx="824865" cy="360045"/>
          </a:xfrm>
          <a:prstGeom prst="round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圆角矩形 5"/>
          <p:cNvSpPr/>
          <p:nvPr/>
        </p:nvSpPr>
        <p:spPr>
          <a:xfrm>
            <a:off x="2261870" y="890905"/>
            <a:ext cx="824865" cy="394335"/>
          </a:xfrm>
          <a:prstGeom prst="round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4010025" y="2414270"/>
            <a:ext cx="4064000" cy="2030095"/>
          </a:xfrm>
          <a:prstGeom prst="rect">
            <a:avLst/>
          </a:prstGeom>
          <a:noFill/>
        </p:spPr>
        <p:txBody>
          <a:bodyPr wrap="square" rtlCol="0">
            <a:spAutoFit/>
          </a:bodyPr>
          <a:p>
            <a:pPr indent="457200"/>
            <a:r>
              <a:rPr kumimoji="1" lang="zh-CN" altLang="en-US" dirty="0">
                <a:solidFill>
                  <a:srgbClr val="575756"/>
                </a:solidFill>
                <a:ea typeface="+mn-lt"/>
                <a:cs typeface="+mn-lt"/>
                <a:sym typeface="+mn-ea"/>
              </a:rPr>
              <a:t>用户先提问</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平衡二叉树的插入</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，又问了</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插入的位置如何找</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 我们提供这样一个工具能把数条冗杂的数据集合并处理。</a:t>
            </a:r>
            <a:endParaRPr kumimoji="1" lang="zh-CN" altLang="en-US" dirty="0">
              <a:solidFill>
                <a:srgbClr val="575756"/>
              </a:solidFill>
              <a:ea typeface="+mn-lt"/>
              <a:cs typeface="+mn-lt"/>
              <a:sym typeface="+mn-ea"/>
            </a:endParaRPr>
          </a:p>
          <a:p>
            <a:pPr indent="457200"/>
            <a:r>
              <a:rPr kumimoji="1" lang="zh-CN" altLang="en-US" dirty="0">
                <a:solidFill>
                  <a:srgbClr val="575756"/>
                </a:solidFill>
                <a:ea typeface="+mn-lt"/>
                <a:cs typeface="+mn-lt"/>
              </a:rPr>
              <a:t>下一次，另一用户搜索</a:t>
            </a:r>
            <a:r>
              <a:rPr kumimoji="1" lang="en-US" altLang="zh-CN" dirty="0">
                <a:solidFill>
                  <a:srgbClr val="575756"/>
                </a:solidFill>
                <a:ea typeface="+mn-lt"/>
                <a:cs typeface="+mn-lt"/>
              </a:rPr>
              <a:t>“</a:t>
            </a:r>
            <a:r>
              <a:rPr kumimoji="1" lang="zh-CN" altLang="en-US" dirty="0">
                <a:solidFill>
                  <a:srgbClr val="575756"/>
                </a:solidFill>
                <a:ea typeface="+mn-lt"/>
                <a:cs typeface="+mn-lt"/>
              </a:rPr>
              <a:t>平衡二叉树的插入</a:t>
            </a:r>
            <a:r>
              <a:rPr kumimoji="1" lang="en-US" altLang="zh-CN" dirty="0">
                <a:solidFill>
                  <a:srgbClr val="575756"/>
                </a:solidFill>
                <a:ea typeface="+mn-lt"/>
                <a:cs typeface="+mn-lt"/>
              </a:rPr>
              <a:t>”</a:t>
            </a:r>
            <a:r>
              <a:rPr kumimoji="1" lang="zh-CN" altLang="en-US" dirty="0">
                <a:solidFill>
                  <a:srgbClr val="575756"/>
                </a:solidFill>
                <a:ea typeface="+mn-lt"/>
                <a:cs typeface="+mn-lt"/>
              </a:rPr>
              <a:t>的时候，接受到的答复会更优。</a:t>
            </a:r>
            <a:endParaRPr lang="zh-CN" altLang="en-US"/>
          </a:p>
        </p:txBody>
      </p:sp>
      <p:pic>
        <p:nvPicPr>
          <p:cNvPr id="10" name="图片 9" descr="1f7b7f3ad27761f6a1fe5335b278d8f"/>
          <p:cNvPicPr>
            <a:picLocks noChangeAspect="1"/>
          </p:cNvPicPr>
          <p:nvPr/>
        </p:nvPicPr>
        <p:blipFill>
          <a:blip r:embed="rId5"/>
          <a:srcRect t="9093" r="41789"/>
          <a:stretch>
            <a:fillRect/>
          </a:stretch>
        </p:blipFill>
        <p:spPr>
          <a:xfrm>
            <a:off x="12602210" y="1992630"/>
            <a:ext cx="3321685" cy="2873375"/>
          </a:xfrm>
          <a:prstGeom prst="rect">
            <a:avLst/>
          </a:prstGeom>
        </p:spPr>
      </p:pic>
      <p:pic>
        <p:nvPicPr>
          <p:cNvPr id="12" name="图片 11" descr="32313537363133303b32313537363132373bbcfdcdb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7872730" y="2867660"/>
            <a:ext cx="708025" cy="708025"/>
          </a:xfrm>
          <a:prstGeom prst="rect">
            <a:avLst/>
          </a:prstGeom>
        </p:spPr>
      </p:pic>
      <p:pic>
        <p:nvPicPr>
          <p:cNvPr id="13" name="图片 12" descr="32313537363133303b32313537363132373bbcfdcdb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3143250" y="2787015"/>
            <a:ext cx="708025" cy="7080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7" name="Subtitle 1"/>
          <p:cNvSpPr txBox="1"/>
          <p:nvPr/>
        </p:nvSpPr>
        <p:spPr>
          <a:xfrm>
            <a:off x="667385" y="455295"/>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应用场景四</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：大模型的自我训练</a:t>
            </a:r>
            <a:endPar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21" name="图片 20" descr="图片6"/>
          <p:cNvPicPr>
            <a:picLocks noChangeAspect="1"/>
          </p:cNvPicPr>
          <p:nvPr/>
        </p:nvPicPr>
        <p:blipFill>
          <a:blip r:embed="rId3"/>
          <a:srcRect t="7199" r="617"/>
          <a:stretch>
            <a:fillRect/>
          </a:stretch>
        </p:blipFill>
        <p:spPr>
          <a:xfrm>
            <a:off x="666750" y="974725"/>
            <a:ext cx="2317878" cy="2520000"/>
          </a:xfrm>
          <a:prstGeom prst="rect">
            <a:avLst/>
          </a:prstGeom>
        </p:spPr>
      </p:pic>
      <p:pic>
        <p:nvPicPr>
          <p:cNvPr id="3" name="图片 7" descr="59da50dd8beeb3017dcda8cf92030ab"/>
          <p:cNvPicPr>
            <a:picLocks noChangeAspect="1"/>
          </p:cNvPicPr>
          <p:nvPr/>
        </p:nvPicPr>
        <p:blipFill>
          <a:blip r:embed="rId4"/>
          <a:srcRect t="5067"/>
          <a:stretch>
            <a:fillRect/>
          </a:stretch>
        </p:blipFill>
        <p:spPr>
          <a:xfrm>
            <a:off x="667385" y="3775075"/>
            <a:ext cx="2317115" cy="2520315"/>
          </a:xfrm>
          <a:prstGeom prst="rect">
            <a:avLst/>
          </a:prstGeom>
        </p:spPr>
      </p:pic>
      <p:sp>
        <p:nvSpPr>
          <p:cNvPr id="31" name="圆角矩形 30"/>
          <p:cNvSpPr/>
          <p:nvPr/>
        </p:nvSpPr>
        <p:spPr>
          <a:xfrm>
            <a:off x="2261870" y="3702685"/>
            <a:ext cx="824865" cy="360045"/>
          </a:xfrm>
          <a:prstGeom prst="round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圆角矩形 5"/>
          <p:cNvSpPr/>
          <p:nvPr/>
        </p:nvSpPr>
        <p:spPr>
          <a:xfrm>
            <a:off x="2261870" y="890905"/>
            <a:ext cx="824865" cy="394335"/>
          </a:xfrm>
          <a:prstGeom prst="roundRect">
            <a:avLst/>
          </a:prstGeom>
          <a:noFill/>
          <a:ln w="1905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4010025" y="1203960"/>
            <a:ext cx="4064000" cy="2030095"/>
          </a:xfrm>
          <a:prstGeom prst="rect">
            <a:avLst/>
          </a:prstGeom>
          <a:noFill/>
        </p:spPr>
        <p:txBody>
          <a:bodyPr wrap="square" rtlCol="0">
            <a:spAutoFit/>
          </a:bodyPr>
          <a:p>
            <a:pPr indent="457200"/>
            <a:r>
              <a:rPr kumimoji="1" lang="zh-CN" altLang="en-US" dirty="0">
                <a:solidFill>
                  <a:srgbClr val="575756"/>
                </a:solidFill>
                <a:ea typeface="+mn-lt"/>
                <a:cs typeface="+mn-lt"/>
                <a:sym typeface="+mn-ea"/>
              </a:rPr>
              <a:t>用户先提问</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平衡二叉树的插入</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，又问了</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插入的位置如何找</a:t>
            </a:r>
            <a:r>
              <a:rPr kumimoji="1" lang="en-US" altLang="zh-CN" dirty="0">
                <a:solidFill>
                  <a:srgbClr val="575756"/>
                </a:solidFill>
                <a:ea typeface="+mn-lt"/>
                <a:cs typeface="+mn-lt"/>
                <a:sym typeface="+mn-ea"/>
              </a:rPr>
              <a:t>”</a:t>
            </a:r>
            <a:r>
              <a:rPr kumimoji="1" lang="zh-CN" altLang="en-US" dirty="0">
                <a:solidFill>
                  <a:srgbClr val="575756"/>
                </a:solidFill>
                <a:ea typeface="+mn-lt"/>
                <a:cs typeface="+mn-lt"/>
                <a:sym typeface="+mn-ea"/>
              </a:rPr>
              <a:t>。 我们提供这样一个工具能把</a:t>
            </a:r>
            <a:r>
              <a:rPr kumimoji="1" lang="zh-CN" altLang="en-US" dirty="0">
                <a:solidFill>
                  <a:srgbClr val="C00000"/>
                </a:solidFill>
                <a:ea typeface="+mn-lt"/>
                <a:cs typeface="+mn-lt"/>
                <a:sym typeface="+mn-ea"/>
              </a:rPr>
              <a:t>数条冗杂的数据集合并处理</a:t>
            </a:r>
            <a:r>
              <a:rPr kumimoji="1" lang="zh-CN" altLang="en-US" dirty="0">
                <a:solidFill>
                  <a:srgbClr val="575756"/>
                </a:solidFill>
                <a:ea typeface="+mn-lt"/>
                <a:cs typeface="+mn-lt"/>
                <a:sym typeface="+mn-ea"/>
              </a:rPr>
              <a:t>。</a:t>
            </a:r>
            <a:endParaRPr kumimoji="1" lang="zh-CN" altLang="en-US" dirty="0">
              <a:solidFill>
                <a:srgbClr val="575756"/>
              </a:solidFill>
              <a:ea typeface="+mn-lt"/>
              <a:cs typeface="+mn-lt"/>
              <a:sym typeface="+mn-ea"/>
            </a:endParaRPr>
          </a:p>
          <a:p>
            <a:pPr indent="457200"/>
            <a:r>
              <a:rPr kumimoji="1" lang="zh-CN" altLang="en-US" dirty="0">
                <a:solidFill>
                  <a:srgbClr val="575756"/>
                </a:solidFill>
                <a:ea typeface="+mn-lt"/>
                <a:cs typeface="+mn-lt"/>
              </a:rPr>
              <a:t>下一次，另一用户搜索</a:t>
            </a:r>
            <a:r>
              <a:rPr kumimoji="1" lang="en-US" altLang="zh-CN" dirty="0">
                <a:solidFill>
                  <a:srgbClr val="575756"/>
                </a:solidFill>
                <a:ea typeface="+mn-lt"/>
                <a:cs typeface="+mn-lt"/>
              </a:rPr>
              <a:t>“</a:t>
            </a:r>
            <a:r>
              <a:rPr kumimoji="1" lang="zh-CN" altLang="en-US" dirty="0">
                <a:solidFill>
                  <a:srgbClr val="575756"/>
                </a:solidFill>
                <a:ea typeface="+mn-lt"/>
                <a:cs typeface="+mn-lt"/>
              </a:rPr>
              <a:t>平衡二叉树的插入</a:t>
            </a:r>
            <a:r>
              <a:rPr kumimoji="1" lang="en-US" altLang="zh-CN" dirty="0">
                <a:solidFill>
                  <a:srgbClr val="575756"/>
                </a:solidFill>
                <a:ea typeface="+mn-lt"/>
                <a:cs typeface="+mn-lt"/>
              </a:rPr>
              <a:t>”</a:t>
            </a:r>
            <a:r>
              <a:rPr kumimoji="1" lang="zh-CN" altLang="en-US" dirty="0">
                <a:solidFill>
                  <a:srgbClr val="575756"/>
                </a:solidFill>
                <a:ea typeface="+mn-lt"/>
                <a:cs typeface="+mn-lt"/>
              </a:rPr>
              <a:t>的时候，接受到的答复会更优。</a:t>
            </a:r>
            <a:endParaRPr lang="zh-CN" altLang="en-US"/>
          </a:p>
        </p:txBody>
      </p:sp>
      <p:pic>
        <p:nvPicPr>
          <p:cNvPr id="10" name="图片 9" descr="1f7b7f3ad27761f6a1fe5335b278d8f"/>
          <p:cNvPicPr>
            <a:picLocks noChangeAspect="1"/>
          </p:cNvPicPr>
          <p:nvPr/>
        </p:nvPicPr>
        <p:blipFill>
          <a:blip r:embed="rId5"/>
          <a:srcRect t="9093" r="41789"/>
          <a:stretch>
            <a:fillRect/>
          </a:stretch>
        </p:blipFill>
        <p:spPr>
          <a:xfrm>
            <a:off x="8580755" y="1971675"/>
            <a:ext cx="3321685" cy="2873375"/>
          </a:xfrm>
          <a:prstGeom prst="rect">
            <a:avLst/>
          </a:prstGeom>
        </p:spPr>
      </p:pic>
      <p:pic>
        <p:nvPicPr>
          <p:cNvPr id="12" name="图片 11" descr="32313537363133303b32313537363132373bbcfdcdb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7872730" y="2867660"/>
            <a:ext cx="708025" cy="708025"/>
          </a:xfrm>
          <a:prstGeom prst="rect">
            <a:avLst/>
          </a:prstGeom>
        </p:spPr>
      </p:pic>
      <p:pic>
        <p:nvPicPr>
          <p:cNvPr id="13" name="图片 12" descr="32313537363133303b32313537363132373bbcfdcdb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3143250" y="2787015"/>
            <a:ext cx="708025" cy="708025"/>
          </a:xfrm>
          <a:prstGeom prst="rect">
            <a:avLst/>
          </a:prstGeom>
        </p:spPr>
      </p:pic>
      <p:pic>
        <p:nvPicPr>
          <p:cNvPr id="14" name="图片 8" descr="b703d16f1225b54a6c297dc98a35b28"/>
          <p:cNvPicPr>
            <a:picLocks noChangeAspect="1"/>
          </p:cNvPicPr>
          <p:nvPr/>
        </p:nvPicPr>
        <p:blipFill>
          <a:blip r:embed="rId8"/>
          <a:stretch>
            <a:fillRect/>
          </a:stretch>
        </p:blipFill>
        <p:spPr>
          <a:xfrm>
            <a:off x="4010025" y="3495040"/>
            <a:ext cx="3844925" cy="22815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pic>
        <p:nvPicPr>
          <p:cNvPr id="6" name="图片 5" descr="建筑与房屋的城市空拍图&#10;&#10;描述已自动生成"/>
          <p:cNvPicPr>
            <a:picLocks noChangeAspect="1"/>
          </p:cNvPicPr>
          <p:nvPr>
            <p:custDataLst>
              <p:tags r:id="rId3"/>
            </p:custDataLst>
          </p:nvPr>
        </p:nvPicPr>
        <p:blipFill rotWithShape="1">
          <a:blip r:embed="rId4"/>
          <a:srcRect l="316" r="916"/>
          <a:stretch>
            <a:fillRect/>
          </a:stretch>
        </p:blipFill>
        <p:spPr>
          <a:xfrm>
            <a:off x="1894205" y="269240"/>
            <a:ext cx="10008000" cy="6192427"/>
          </a:xfrm>
          <a:prstGeom prst="rect">
            <a:avLst/>
          </a:prstGeom>
          <a:ln w="9525" cap="flat" cmpd="sng" algn="ctr">
            <a:solidFill>
              <a:schemeClr val="dk1">
                <a:lumMod val="40000"/>
                <a:lumOff val="60000"/>
                <a:alpha val="50000"/>
              </a:schemeClr>
            </a:solidFill>
            <a:prstDash val="solid"/>
            <a:round/>
            <a:headEnd type="none" w="med" len="med"/>
            <a:tailEnd type="none" w="med" len="med"/>
          </a:ln>
        </p:spPr>
      </p:pic>
      <p:sp>
        <p:nvSpPr>
          <p:cNvPr id="8" name="标题 7"/>
          <p:cNvSpPr>
            <a:spLocks noGrp="1"/>
          </p:cNvSpPr>
          <p:nvPr>
            <p:ph type="title"/>
            <p:custDataLst>
              <p:tags r:id="rId5"/>
            </p:custDataLst>
          </p:nvPr>
        </p:nvSpPr>
        <p:spPr>
          <a:xfrm>
            <a:off x="7352030" y="798195"/>
            <a:ext cx="4051935" cy="1313180"/>
          </a:xfrm>
          <a:solidFill>
            <a:schemeClr val="accent5">
              <a:lumMod val="75000"/>
            </a:schemeClr>
          </a:solidFill>
        </p:spPr>
        <p:txBody>
          <a:bodyPr lIns="360045" tIns="360045" rIns="360045" bIns="360045" anchor="ctr">
            <a:normAutofit fontScale="90000"/>
          </a:bodyPr>
          <a:lstStyle/>
          <a:p>
            <a:pPr algn="ctr"/>
            <a:r>
              <a:rPr lang="zh-CN" sz="4400" dirty="0">
                <a:solidFill>
                  <a:srgbClr val="FFFFFF"/>
                </a:solidFill>
                <a:latin typeface="方正兰亭黑简体" panose="02000000000000000000" pitchFamily="2" charset="-122"/>
                <a:ea typeface="方正兰亭黑简体" panose="02000000000000000000" pitchFamily="2" charset="-122"/>
              </a:rPr>
              <a:t>多模态问答</a:t>
            </a:r>
            <a:endParaRPr lang="zh-CN" sz="4400" dirty="0">
              <a:solidFill>
                <a:srgbClr val="FFFFFF"/>
              </a:solidFill>
              <a:latin typeface="方正兰亭黑简体" panose="02000000000000000000" pitchFamily="2" charset="-122"/>
              <a:ea typeface="方正兰亭黑简体" panose="02000000000000000000" pitchFamily="2" charset="-122"/>
            </a:endParaRPr>
          </a:p>
        </p:txBody>
      </p:sp>
      <p:sp>
        <p:nvSpPr>
          <p:cNvPr id="9" name="文本框 8"/>
          <p:cNvSpPr txBox="1"/>
          <p:nvPr/>
        </p:nvSpPr>
        <p:spPr>
          <a:xfrm>
            <a:off x="7352030" y="2237740"/>
            <a:ext cx="4064000" cy="1198880"/>
          </a:xfrm>
          <a:prstGeom prst="rect">
            <a:avLst/>
          </a:prstGeom>
          <a:noFill/>
        </p:spPr>
        <p:txBody>
          <a:bodyPr wrap="square" rtlCol="0">
            <a:spAutoFit/>
          </a:bodyPr>
          <a:p>
            <a:r>
              <a:rPr kumimoji="1" lang="zh-CN" altLang="en-US" sz="2400" dirty="0">
                <a:solidFill>
                  <a:srgbClr val="575756"/>
                </a:solidFill>
                <a:ea typeface="+mn-lt"/>
                <a:cs typeface="+mn-lt"/>
              </a:rPr>
              <a:t>针对408真题的拍照搜题，</a:t>
            </a:r>
            <a:endParaRPr kumimoji="1" lang="zh-CN" altLang="en-US" sz="2400" dirty="0">
              <a:solidFill>
                <a:srgbClr val="575756"/>
              </a:solidFill>
              <a:ea typeface="+mn-lt"/>
              <a:cs typeface="+mn-lt"/>
            </a:endParaRPr>
          </a:p>
          <a:p>
            <a:r>
              <a:rPr kumimoji="1" lang="zh-CN" altLang="en-US" sz="2400" dirty="0">
                <a:solidFill>
                  <a:srgbClr val="575756"/>
                </a:solidFill>
                <a:ea typeface="+mn-lt"/>
                <a:cs typeface="+mn-lt"/>
              </a:rPr>
              <a:t>AI精准理解照片内题目内容，进行回答。</a:t>
            </a:r>
            <a:endParaRPr kumimoji="1" lang="zh-CN" altLang="en-US" sz="2400" dirty="0">
              <a:solidFill>
                <a:srgbClr val="575756"/>
              </a:solidFill>
              <a:ea typeface="+mn-lt"/>
              <a:cs typeface="+mn-lt"/>
            </a:endParaRPr>
          </a:p>
        </p:txBody>
      </p:sp>
      <p:sp>
        <p:nvSpPr>
          <p:cNvPr id="11" name="Subtitle 1"/>
          <p:cNvSpPr txBox="1"/>
          <p:nvPr/>
        </p:nvSpPr>
        <p:spPr>
          <a:xfrm>
            <a:off x="667385" y="455295"/>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应用</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场景</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五</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a:t>
            </a:r>
            <a:endPar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五边形 9"/>
          <p:cNvSpPr/>
          <p:nvPr userDrawn="1"/>
        </p:nvSpPr>
        <p:spPr>
          <a:xfrm>
            <a:off x="6449360" y="4854575"/>
            <a:ext cx="3207547" cy="725170"/>
          </a:xfrm>
          <a:prstGeom prst="homePlate">
            <a:avLst/>
          </a:prstGeom>
          <a:solidFill>
            <a:srgbClr val="0070D8">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标题 2"/>
          <p:cNvSpPr>
            <a:spLocks noGrp="1"/>
          </p:cNvSpPr>
          <p:nvPr>
            <p:ph type="title"/>
          </p:nvPr>
        </p:nvSpPr>
        <p:spPr>
          <a:xfrm>
            <a:off x="581025" y="637540"/>
            <a:ext cx="2891155" cy="936625"/>
          </a:xfrm>
        </p:spPr>
        <p:txBody>
          <a:bodyPr/>
          <a:lstStyle/>
          <a:p>
            <a:r>
              <a:rPr lang="zh-CN" altLang="en-US"/>
              <a:t>目录</a:t>
            </a:r>
            <a:endParaRPr lang="zh-CN" altLang="en-US"/>
          </a:p>
        </p:txBody>
      </p:sp>
      <p:sp>
        <p:nvSpPr>
          <p:cNvPr id="70" name="文本占位符 4"/>
          <p:cNvSpPr>
            <a:spLocks noGrp="1"/>
          </p:cNvSpPr>
          <p:nvPr>
            <p:ph type="body" idx="13"/>
          </p:nvPr>
        </p:nvSpPr>
        <p:spPr>
          <a:xfrm>
            <a:off x="5322272" y="1238736"/>
            <a:ext cx="717550" cy="723900"/>
          </a:xfrm>
          <a:solidFill>
            <a:srgbClr val="7F7F7F"/>
          </a:solidFill>
        </p:spPr>
        <p:txBody>
          <a:bodyPr vert="horz" lIns="0" tIns="0" rIns="0" bIns="107950" rtlCol="0" anchor="ctr" anchorCtr="0">
            <a:noAutofit/>
          </a:bodyPr>
          <a:lstStyle/>
          <a:p>
            <a:r>
              <a:rPr lang="en-US" altLang="zh-CN" dirty="0"/>
              <a:t>01</a:t>
            </a:r>
            <a:endParaRPr lang="en-US" altLang="zh-CN" dirty="0"/>
          </a:p>
        </p:txBody>
      </p:sp>
      <p:sp>
        <p:nvSpPr>
          <p:cNvPr id="71" name="文本占位符 5"/>
          <p:cNvSpPr>
            <a:spLocks noGrp="1"/>
          </p:cNvSpPr>
          <p:nvPr>
            <p:ph type="body" idx="14"/>
          </p:nvPr>
        </p:nvSpPr>
        <p:spPr>
          <a:xfrm>
            <a:off x="6470352" y="3621872"/>
            <a:ext cx="4837430" cy="734695"/>
          </a:xfrm>
        </p:spPr>
        <p:txBody>
          <a:bodyPr/>
          <a:lstStyle/>
          <a:p>
            <a:r>
              <a:rPr lang="zh-CN" dirty="0">
                <a:sym typeface="+mn-ea"/>
              </a:rPr>
              <a:t>业务场景介绍</a:t>
            </a:r>
            <a:endParaRPr lang="zh-CN" dirty="0">
              <a:sym typeface="+mn-ea"/>
            </a:endParaRPr>
          </a:p>
        </p:txBody>
      </p:sp>
      <p:sp>
        <p:nvSpPr>
          <p:cNvPr id="72" name="文本占位符 6"/>
          <p:cNvSpPr>
            <a:spLocks noGrp="1"/>
          </p:cNvSpPr>
          <p:nvPr>
            <p:ph type="body" idx="16"/>
          </p:nvPr>
        </p:nvSpPr>
        <p:spPr>
          <a:xfrm>
            <a:off x="5322272" y="3602870"/>
            <a:ext cx="717550" cy="723900"/>
          </a:xfrm>
          <a:solidFill>
            <a:srgbClr val="7F7F7F"/>
          </a:solidFill>
        </p:spPr>
        <p:txBody>
          <a:bodyPr vert="horz" lIns="0" tIns="0" rIns="0" bIns="107950" rtlCol="0" anchor="ctr" anchorCtr="0">
            <a:noAutofit/>
          </a:bodyPr>
          <a:lstStyle/>
          <a:p>
            <a:r>
              <a:rPr lang="en-US" altLang="zh-CN" dirty="0"/>
              <a:t>03</a:t>
            </a:r>
            <a:endParaRPr dirty="0"/>
          </a:p>
        </p:txBody>
      </p:sp>
      <p:sp>
        <p:nvSpPr>
          <p:cNvPr id="73" name="文本占位符 7"/>
          <p:cNvSpPr>
            <a:spLocks noGrp="1"/>
          </p:cNvSpPr>
          <p:nvPr>
            <p:ph type="body" idx="17"/>
          </p:nvPr>
        </p:nvSpPr>
        <p:spPr>
          <a:xfrm>
            <a:off x="6473490" y="1252220"/>
            <a:ext cx="2514637" cy="734695"/>
          </a:xfrm>
        </p:spPr>
        <p:txBody>
          <a:bodyPr/>
          <a:lstStyle/>
          <a:p>
            <a:r>
              <a:rPr lang="zh-CN" altLang="en-US" dirty="0"/>
              <a:t>产品方案介绍</a:t>
            </a:r>
            <a:endParaRPr lang="zh-CN" altLang="en-US" dirty="0"/>
          </a:p>
        </p:txBody>
      </p:sp>
      <p:sp>
        <p:nvSpPr>
          <p:cNvPr id="75" name="灯片编号占位符 1"/>
          <p:cNvSpPr>
            <a:spLocks noGrp="1"/>
          </p:cNvSpPr>
          <p:nvPr>
            <p:ph type="sldNum" sz="quarter" idx="12"/>
          </p:nvPr>
        </p:nvSpPr>
        <p:spPr>
          <a:xfrm>
            <a:off x="11160760" y="5954395"/>
            <a:ext cx="1031240" cy="365125"/>
          </a:xfrm>
        </p:spPr>
        <p:txBody>
          <a:bodyPr/>
          <a:lstStyle/>
          <a:p>
            <a:fld id="{E077DA78-E013-4A8C-AD75-63A150561B10}" type="slidenum">
              <a:rPr/>
            </a:fld>
            <a:endParaRPr lang="zh-CN" altLang="en-US" dirty="0"/>
          </a:p>
        </p:txBody>
      </p:sp>
      <p:sp>
        <p:nvSpPr>
          <p:cNvPr id="76" name="文本占位符 7"/>
          <p:cNvSpPr txBox="1"/>
          <p:nvPr/>
        </p:nvSpPr>
        <p:spPr>
          <a:xfrm>
            <a:off x="6470352" y="4894925"/>
            <a:ext cx="4837430" cy="734695"/>
          </a:xfrm>
          <a:prstGeom prst="rect">
            <a:avLst/>
          </a:prstGeom>
        </p:spPr>
        <p:txBody>
          <a:bodyPr vert="horz" lIns="91440" tIns="45720" rIns="91440" bIns="45720" rtlCol="0">
            <a:normAutofit/>
          </a:bodyPr>
          <a:lstStyle>
            <a:lvl1pPr marL="0" indent="0" algn="l" defTabSz="914400" rtl="0" eaLnBrk="1" fontAlgn="auto" latinLnBrk="0" hangingPunct="1">
              <a:lnSpc>
                <a:spcPct val="150000"/>
              </a:lnSpc>
              <a:spcBef>
                <a:spcPts val="0"/>
              </a:spcBef>
              <a:spcAft>
                <a:spcPts val="1000"/>
              </a:spcAft>
              <a:buFont typeface="Arial" panose="020B0604020202020204" pitchFamily="34" charset="0"/>
              <a:buNone/>
              <a:defRPr sz="2000" u="none" strike="noStrike" kern="1200" cap="none" spc="150" normalizeH="0" baseline="0">
                <a:solidFill>
                  <a:srgbClr val="262626"/>
                </a:solidFill>
                <a:uFillTx/>
                <a:latin typeface="+mn-lt"/>
                <a:ea typeface="+mn-ea"/>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创新价值介绍</a:t>
            </a:r>
            <a:endParaRPr lang="zh-CN" altLang="en-US" dirty="0"/>
          </a:p>
        </p:txBody>
      </p:sp>
      <p:sp>
        <p:nvSpPr>
          <p:cNvPr id="77" name="文本占位符 8"/>
          <p:cNvSpPr txBox="1"/>
          <p:nvPr/>
        </p:nvSpPr>
        <p:spPr>
          <a:xfrm>
            <a:off x="5322272" y="4854285"/>
            <a:ext cx="717550" cy="723900"/>
          </a:xfrm>
          <a:prstGeom prst="rect">
            <a:avLst/>
          </a:prstGeom>
          <a:solidFill>
            <a:srgbClr val="0070D8"/>
          </a:solidFill>
        </p:spPr>
        <p:txBody>
          <a:bodyPr vert="horz" lIns="0" tIns="0" rIns="0" bIns="107950" rtlCol="0" anchor="ctr" anchorCtr="0">
            <a:noAutofit/>
          </a:bodyPr>
          <a:lstStyle>
            <a:lvl1pPr marL="0" indent="0" algn="ctr" defTabSz="914400" rtl="0" eaLnBrk="1" fontAlgn="auto" latinLnBrk="0" hangingPunct="1">
              <a:lnSpc>
                <a:spcPct val="150000"/>
              </a:lnSpc>
              <a:spcBef>
                <a:spcPts val="0"/>
              </a:spcBef>
              <a:spcAft>
                <a:spcPts val="1000"/>
              </a:spcAft>
              <a:buFont typeface="Arial" panose="020B0604020202020204" pitchFamily="34" charset="0"/>
              <a:buNone/>
              <a:defRPr sz="2800" b="1" u="none" strike="noStrike" kern="1200" cap="none" spc="150" normalizeH="0" baseline="0">
                <a:solidFill>
                  <a:schemeClr val="bg1"/>
                </a:solidFill>
                <a:uFillTx/>
                <a:latin typeface="微软雅黑" panose="020B0503020204020204" charset="-122"/>
                <a:ea typeface="微软雅黑" panose="020B0503020204020204" charset="-122"/>
                <a:cs typeface="+mn-cs"/>
              </a:defRPr>
            </a:lvl1pPr>
            <a:lvl2pPr marL="457200" indent="0" algn="l" defTabSz="914400" rtl="0" eaLnBrk="1" fontAlgn="auto" latinLnBrk="0" hangingPunct="1">
              <a:lnSpc>
                <a:spcPct val="150000"/>
              </a:lnSpc>
              <a:spcBef>
                <a:spcPts val="0"/>
              </a:spcBef>
              <a:spcAft>
                <a:spcPts val="600"/>
              </a:spcAft>
              <a:buFont typeface="Arial" panose="020B0604020202020204" pitchFamily="34" charset="0"/>
              <a:buNone/>
              <a:tabLst>
                <a:tab pos="1609725" algn="l"/>
                <a:tab pos="1609725" algn="l"/>
                <a:tab pos="1609725" algn="l"/>
                <a:tab pos="1609725" algn="l"/>
              </a:tabLst>
              <a:defRPr sz="1400" u="none" strike="noStrike" kern="1200" cap="none" spc="150" normalizeH="0" baseline="0">
                <a:solidFill>
                  <a:schemeClr val="tx1">
                    <a:lumMod val="50000"/>
                    <a:lumOff val="50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04</a:t>
            </a:r>
            <a:endParaRPr dirty="0"/>
          </a:p>
        </p:txBody>
      </p:sp>
      <p:sp>
        <p:nvSpPr>
          <p:cNvPr id="2" name="文本占位符 5"/>
          <p:cNvSpPr txBox="1"/>
          <p:nvPr/>
        </p:nvSpPr>
        <p:spPr>
          <a:xfrm>
            <a:off x="6472892" y="2437046"/>
            <a:ext cx="4837430" cy="734695"/>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ym typeface="+mn-ea"/>
              </a:rPr>
              <a:t>需求设计介绍</a:t>
            </a:r>
            <a:endParaRPr lang="zh-CN" altLang="en-US" dirty="0">
              <a:sym typeface="+mn-ea"/>
            </a:endParaRPr>
          </a:p>
        </p:txBody>
      </p:sp>
      <p:sp>
        <p:nvSpPr>
          <p:cNvPr id="3" name="文本占位符 6"/>
          <p:cNvSpPr txBox="1"/>
          <p:nvPr/>
        </p:nvSpPr>
        <p:spPr>
          <a:xfrm>
            <a:off x="5322272" y="2397041"/>
            <a:ext cx="717550" cy="723900"/>
          </a:xfrm>
          <a:prstGeom prst="rect">
            <a:avLst/>
          </a:prstGeom>
          <a:solidFill>
            <a:schemeClr val="tx1">
              <a:lumMod val="50000"/>
              <a:lumOff val="50000"/>
            </a:schemeClr>
          </a:solidFill>
        </p:spPr>
        <p:txBody>
          <a:bodyPr vert="horz" lIns="0" tIns="0" rIns="0" bIns="107950" rtlCol="0" anchor="ctr" anchorCtr="0">
            <a:noAutofit/>
          </a:bodyPr>
          <a:lstStyle>
            <a:lvl1pPr marL="0" indent="0" algn="ctr" defTabSz="914400" rtl="0" eaLnBrk="1" latinLnBrk="0" hangingPunct="1">
              <a:lnSpc>
                <a:spcPct val="150000"/>
              </a:lnSpc>
              <a:spcBef>
                <a:spcPts val="1000"/>
              </a:spcBef>
              <a:buFont typeface="Arial" panose="020B0604020202020204" pitchFamily="34" charset="0"/>
              <a:buNone/>
              <a:defRPr sz="2800" b="1" kern="1200">
                <a:solidFill>
                  <a:schemeClr val="bg1"/>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02</a:t>
            </a: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 y="291413"/>
            <a:ext cx="11643360" cy="6170347"/>
          </a:xfrm>
          <a:prstGeom prst="rect">
            <a:avLst/>
          </a:prstGeom>
        </p:spPr>
      </p:pic>
      <p:sp>
        <p:nvSpPr>
          <p:cNvPr id="7" name="Subtitle 1"/>
          <p:cNvSpPr txBox="1"/>
          <p:nvPr/>
        </p:nvSpPr>
        <p:spPr>
          <a:xfrm>
            <a:off x="667385" y="455295"/>
            <a:ext cx="10736580" cy="748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rPr>
              <a:t>创新价值</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rPr>
              <a:t>—</a:t>
            </a:r>
            <a:r>
              <a:rPr lang="en-US" altLang="zh-CN"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rPr>
              <a:t> </a:t>
            </a: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知识蒸馏：一种多模态协作形成知识图谱的解决方案</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pic>
        <p:nvPicPr>
          <p:cNvPr id="8" name="图片 7"/>
          <p:cNvPicPr/>
          <p:nvPr>
            <p:custDataLst>
              <p:tags r:id="rId3"/>
            </p:custDataLst>
          </p:nvPr>
        </p:nvPicPr>
        <p:blipFill>
          <a:blip r:embed="rId4"/>
          <a:srcRect b="6341"/>
          <a:stretch>
            <a:fillRect/>
          </a:stretch>
        </p:blipFill>
        <p:spPr>
          <a:xfrm>
            <a:off x="4791075" y="1153160"/>
            <a:ext cx="7164070" cy="5308600"/>
          </a:xfrm>
          <a:prstGeom prst="rect">
            <a:avLst/>
          </a:prstGeom>
          <a:noFill/>
          <a:ln w="9525">
            <a:noFill/>
          </a:ln>
        </p:spPr>
      </p:pic>
      <p:sp>
        <p:nvSpPr>
          <p:cNvPr id="12" name="任意多边形: 形状 16"/>
          <p:cNvSpPr/>
          <p:nvPr>
            <p:custDataLst>
              <p:tags r:id="rId5"/>
            </p:custDataLst>
          </p:nvPr>
        </p:nvSpPr>
        <p:spPr>
          <a:xfrm>
            <a:off x="718820" y="1247458"/>
            <a:ext cx="6374765" cy="388620"/>
          </a:xfrm>
          <a:custGeom>
            <a:avLst/>
            <a:gdLst>
              <a:gd name="connsiteX0" fmla="*/ 10039 w 10039"/>
              <a:gd name="connsiteY0" fmla="*/ 0 h 647"/>
              <a:gd name="connsiteX1" fmla="*/ 10039 w 10039"/>
              <a:gd name="connsiteY1" fmla="*/ 342 h 647"/>
              <a:gd name="connsiteX2" fmla="*/ 9122 w 10039"/>
              <a:gd name="connsiteY2" fmla="*/ 647 h 647"/>
              <a:gd name="connsiteX3" fmla="*/ 0 w 10039"/>
              <a:gd name="connsiteY3" fmla="*/ 647 h 647"/>
              <a:gd name="connsiteX4" fmla="*/ 0 w 10039"/>
              <a:gd name="connsiteY4" fmla="*/ 305 h 647"/>
              <a:gd name="connsiteX5" fmla="*/ 336 w 10039"/>
              <a:gd name="connsiteY5" fmla="*/ 7 h 647"/>
              <a:gd name="connsiteX6" fmla="*/ 10039 w 10039"/>
              <a:gd name="connsiteY6" fmla="*/ 0 h 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 h="647">
                <a:moveTo>
                  <a:pt x="10039" y="0"/>
                </a:moveTo>
                <a:lnTo>
                  <a:pt x="10039" y="342"/>
                </a:lnTo>
                <a:lnTo>
                  <a:pt x="9122" y="647"/>
                </a:lnTo>
                <a:lnTo>
                  <a:pt x="0" y="647"/>
                </a:lnTo>
                <a:lnTo>
                  <a:pt x="0" y="305"/>
                </a:lnTo>
                <a:lnTo>
                  <a:pt x="336" y="7"/>
                </a:lnTo>
                <a:lnTo>
                  <a:pt x="10039" y="0"/>
                </a:lnTo>
                <a:close/>
              </a:path>
            </a:pathLst>
          </a:custGeom>
          <a:noFill/>
          <a:ln w="6350">
            <a:gradFill>
              <a:gsLst>
                <a:gs pos="0">
                  <a:schemeClr val="accent1">
                    <a:alpha val="100000"/>
                  </a:schemeClr>
                </a:gs>
                <a:gs pos="100000">
                  <a:schemeClr val="accent1">
                    <a:alpha val="0"/>
                  </a:schemeClr>
                </a:gs>
              </a:gsLst>
              <a:lin ang="0" scaled="1"/>
            </a:gradFill>
          </a:ln>
        </p:spPr>
        <p:txBody>
          <a:bodyPr rot="0" spcFirstLastPara="0" vert="horz" wrap="square" lIns="252095" tIns="0" rIns="0" bIns="0" numCol="1" spcCol="0" rtlCol="0" fromWordArt="0" anchor="ctr" anchorCtr="0" forceAA="0" compatLnSpc="0">
            <a:noAutofit/>
          </a:bodyPr>
          <a:lstStyle/>
          <a:p>
            <a:pPr lvl="0" algn="l">
              <a:buClrTx/>
              <a:buSzTx/>
              <a:buFontTx/>
            </a:pPr>
            <a:r>
              <a:rPr lang="zh-CN" altLang="en-US" sz="2000" b="1">
                <a:solidFill>
                  <a:schemeClr val="tx1"/>
                </a:solidFill>
                <a:latin typeface="+mn-ea"/>
                <a:cs typeface="+mn-ea"/>
                <a:sym typeface="+mn-ea"/>
              </a:rPr>
              <a:t>阶段一：领域数据准备与模型训练</a:t>
            </a:r>
            <a:endParaRPr lang="zh-CN" altLang="en-US" sz="2000" b="1">
              <a:solidFill>
                <a:schemeClr val="tx1"/>
              </a:solidFill>
              <a:latin typeface="+mn-ea"/>
              <a:cs typeface="+mn-ea"/>
              <a:sym typeface="+mn-ea"/>
            </a:endParaRPr>
          </a:p>
        </p:txBody>
      </p:sp>
      <p:sp>
        <p:nvSpPr>
          <p:cNvPr id="13" name="任意多边形: 形状 14"/>
          <p:cNvSpPr/>
          <p:nvPr>
            <p:custDataLst>
              <p:tags r:id="rId6"/>
            </p:custDataLst>
          </p:nvPr>
        </p:nvSpPr>
        <p:spPr>
          <a:xfrm>
            <a:off x="667385" y="1477963"/>
            <a:ext cx="161925" cy="2159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5">
              <a:lumMod val="7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任意多边形: 形状 120"/>
          <p:cNvSpPr/>
          <p:nvPr>
            <p:custDataLst>
              <p:tags r:id="rId7"/>
            </p:custDataLst>
          </p:nvPr>
        </p:nvSpPr>
        <p:spPr>
          <a:xfrm flipV="1">
            <a:off x="949960" y="1184593"/>
            <a:ext cx="3743960" cy="36195"/>
          </a:xfrm>
          <a:custGeom>
            <a:avLst/>
            <a:gdLst>
              <a:gd name="connsiteX0" fmla="*/ 1157786 w 1179613"/>
              <a:gd name="connsiteY0" fmla="*/ 21889 h 21889"/>
              <a:gd name="connsiteX1" fmla="*/ 1179613 w 1179613"/>
              <a:gd name="connsiteY1" fmla="*/ 0 h 21889"/>
              <a:gd name="connsiteX2" fmla="*/ 0 w 1179613"/>
              <a:gd name="connsiteY2" fmla="*/ 0 h 21889"/>
              <a:gd name="connsiteX3" fmla="*/ 21889 w 1179613"/>
              <a:gd name="connsiteY3" fmla="*/ 21889 h 21889"/>
              <a:gd name="connsiteX4" fmla="*/ 1157786 w 1179613"/>
              <a:gd name="connsiteY4" fmla="*/ 21889 h 2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613" h="21889">
                <a:moveTo>
                  <a:pt x="1157786" y="21889"/>
                </a:moveTo>
                <a:lnTo>
                  <a:pt x="1179613" y="0"/>
                </a:lnTo>
                <a:lnTo>
                  <a:pt x="0" y="0"/>
                </a:lnTo>
                <a:lnTo>
                  <a:pt x="21889" y="21889"/>
                </a:lnTo>
                <a:lnTo>
                  <a:pt x="1157786" y="21889"/>
                </a:lnTo>
                <a:close/>
              </a:path>
            </a:pathLst>
          </a:custGeom>
          <a:solidFill>
            <a:schemeClr val="accent5">
              <a:lumMod val="75000"/>
            </a:schemeClr>
          </a:solidFill>
          <a:ln w="617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矩形 8"/>
          <p:cNvSpPr/>
          <p:nvPr>
            <p:custDataLst>
              <p:tags r:id="rId8"/>
            </p:custDataLst>
          </p:nvPr>
        </p:nvSpPr>
        <p:spPr>
          <a:xfrm>
            <a:off x="667385" y="1737043"/>
            <a:ext cx="6426200" cy="105791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输入文本和图像。</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OCR转换图像为文本。</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结合文本，输入教师模型进行预训练。</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生成领域特定微调数据集并存储至OBS。</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Notebook加载微调数据集训练学生模型。</a:t>
            </a:r>
            <a:endParaRPr lang="zh-CN" altLang="en-US" sz="1400" dirty="0">
              <a:solidFill>
                <a:schemeClr val="tx1">
                  <a:lumMod val="85000"/>
                  <a:lumOff val="15000"/>
                </a:schemeClr>
              </a:solidFill>
              <a:latin typeface="+mn-ea"/>
              <a:cs typeface="+mn-ea"/>
              <a:sym typeface="+mn-ea"/>
            </a:endParaRPr>
          </a:p>
        </p:txBody>
      </p:sp>
      <p:sp>
        <p:nvSpPr>
          <p:cNvPr id="10" name="任意多边形: 形状 16"/>
          <p:cNvSpPr/>
          <p:nvPr>
            <p:custDataLst>
              <p:tags r:id="rId9"/>
            </p:custDataLst>
          </p:nvPr>
        </p:nvSpPr>
        <p:spPr>
          <a:xfrm>
            <a:off x="718820" y="3577273"/>
            <a:ext cx="6374765" cy="388620"/>
          </a:xfrm>
          <a:custGeom>
            <a:avLst/>
            <a:gdLst>
              <a:gd name="connsiteX0" fmla="*/ 10039 w 10039"/>
              <a:gd name="connsiteY0" fmla="*/ 0 h 647"/>
              <a:gd name="connsiteX1" fmla="*/ 10039 w 10039"/>
              <a:gd name="connsiteY1" fmla="*/ 342 h 647"/>
              <a:gd name="connsiteX2" fmla="*/ 9122 w 10039"/>
              <a:gd name="connsiteY2" fmla="*/ 647 h 647"/>
              <a:gd name="connsiteX3" fmla="*/ 0 w 10039"/>
              <a:gd name="connsiteY3" fmla="*/ 647 h 647"/>
              <a:gd name="connsiteX4" fmla="*/ 0 w 10039"/>
              <a:gd name="connsiteY4" fmla="*/ 305 h 647"/>
              <a:gd name="connsiteX5" fmla="*/ 336 w 10039"/>
              <a:gd name="connsiteY5" fmla="*/ 7 h 647"/>
              <a:gd name="connsiteX6" fmla="*/ 10039 w 10039"/>
              <a:gd name="connsiteY6" fmla="*/ 0 h 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9" h="647">
                <a:moveTo>
                  <a:pt x="10039" y="0"/>
                </a:moveTo>
                <a:lnTo>
                  <a:pt x="10039" y="342"/>
                </a:lnTo>
                <a:lnTo>
                  <a:pt x="9122" y="647"/>
                </a:lnTo>
                <a:lnTo>
                  <a:pt x="0" y="647"/>
                </a:lnTo>
                <a:lnTo>
                  <a:pt x="0" y="305"/>
                </a:lnTo>
                <a:lnTo>
                  <a:pt x="336" y="7"/>
                </a:lnTo>
                <a:lnTo>
                  <a:pt x="10039" y="0"/>
                </a:lnTo>
                <a:close/>
              </a:path>
            </a:pathLst>
          </a:custGeom>
          <a:noFill/>
          <a:ln w="6350">
            <a:gradFill>
              <a:gsLst>
                <a:gs pos="0">
                  <a:schemeClr val="accent1">
                    <a:alpha val="100000"/>
                  </a:schemeClr>
                </a:gs>
                <a:gs pos="100000">
                  <a:schemeClr val="accent1">
                    <a:alpha val="0"/>
                  </a:schemeClr>
                </a:gs>
              </a:gsLst>
              <a:lin ang="0" scaled="1"/>
            </a:gradFill>
          </a:ln>
        </p:spPr>
        <p:txBody>
          <a:bodyPr rot="0" spcFirstLastPara="0" vert="horz" wrap="square" lIns="252095" tIns="0" rIns="0" bIns="0" numCol="1" spcCol="0" rtlCol="0" fromWordArt="0" anchor="ctr" anchorCtr="0" forceAA="0" compatLnSpc="0">
            <a:noAutofit/>
          </a:bodyPr>
          <a:lstStyle/>
          <a:p>
            <a:pPr lvl="0" algn="l">
              <a:buClrTx/>
              <a:buSzTx/>
              <a:buFontTx/>
            </a:pPr>
            <a:r>
              <a:rPr lang="zh-CN" altLang="en-US" sz="2000" b="1">
                <a:solidFill>
                  <a:schemeClr val="tx1"/>
                </a:solidFill>
                <a:latin typeface="+mn-ea"/>
                <a:cs typeface="+mn-ea"/>
                <a:sym typeface="+mn-ea"/>
              </a:rPr>
              <a:t>阶段二：推理与知识构建</a:t>
            </a:r>
            <a:endParaRPr lang="zh-CN" altLang="en-US" sz="2000" b="1">
              <a:solidFill>
                <a:schemeClr val="tx1"/>
              </a:solidFill>
              <a:latin typeface="+mn-ea"/>
              <a:cs typeface="+mn-ea"/>
              <a:sym typeface="+mn-ea"/>
            </a:endParaRPr>
          </a:p>
        </p:txBody>
      </p:sp>
      <p:sp>
        <p:nvSpPr>
          <p:cNvPr id="11" name="任意多边形: 形状 14"/>
          <p:cNvSpPr/>
          <p:nvPr>
            <p:custDataLst>
              <p:tags r:id="rId10"/>
            </p:custDataLst>
          </p:nvPr>
        </p:nvSpPr>
        <p:spPr>
          <a:xfrm>
            <a:off x="667385" y="3807778"/>
            <a:ext cx="161925" cy="215900"/>
          </a:xfrm>
          <a:custGeom>
            <a:avLst/>
            <a:gdLst>
              <a:gd name="connsiteX0" fmla="*/ 0 w 255"/>
              <a:gd name="connsiteY0" fmla="*/ 50 h 384"/>
              <a:gd name="connsiteX1" fmla="*/ 6 w 255"/>
              <a:gd name="connsiteY1" fmla="*/ 383 h 384"/>
              <a:gd name="connsiteX2" fmla="*/ 255 w 255"/>
              <a:gd name="connsiteY2" fmla="*/ 384 h 384"/>
              <a:gd name="connsiteX3" fmla="*/ 255 w 255"/>
              <a:gd name="connsiteY3" fmla="*/ 288 h 384"/>
              <a:gd name="connsiteX4" fmla="*/ 75 w 255"/>
              <a:gd name="connsiteY4" fmla="*/ 288 h 384"/>
              <a:gd name="connsiteX5" fmla="*/ 75 w 255"/>
              <a:gd name="connsiteY5" fmla="*/ 0 h 384"/>
              <a:gd name="connsiteX6" fmla="*/ 0 w 255"/>
              <a:gd name="connsiteY6" fmla="*/ 50 h 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 h="384">
                <a:moveTo>
                  <a:pt x="0" y="50"/>
                </a:moveTo>
                <a:lnTo>
                  <a:pt x="6" y="383"/>
                </a:lnTo>
                <a:lnTo>
                  <a:pt x="255" y="384"/>
                </a:lnTo>
                <a:lnTo>
                  <a:pt x="255" y="288"/>
                </a:lnTo>
                <a:lnTo>
                  <a:pt x="75" y="288"/>
                </a:lnTo>
                <a:lnTo>
                  <a:pt x="75" y="0"/>
                </a:lnTo>
                <a:lnTo>
                  <a:pt x="0" y="50"/>
                </a:lnTo>
                <a:close/>
              </a:path>
            </a:pathLst>
          </a:custGeom>
          <a:solidFill>
            <a:schemeClr val="accent5">
              <a:lumMod val="7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任意多边形: 形状 120"/>
          <p:cNvSpPr/>
          <p:nvPr>
            <p:custDataLst>
              <p:tags r:id="rId11"/>
            </p:custDataLst>
          </p:nvPr>
        </p:nvSpPr>
        <p:spPr>
          <a:xfrm flipV="1">
            <a:off x="949960" y="3514408"/>
            <a:ext cx="3743960" cy="36195"/>
          </a:xfrm>
          <a:custGeom>
            <a:avLst/>
            <a:gdLst>
              <a:gd name="connsiteX0" fmla="*/ 1157786 w 1179613"/>
              <a:gd name="connsiteY0" fmla="*/ 21889 h 21889"/>
              <a:gd name="connsiteX1" fmla="*/ 1179613 w 1179613"/>
              <a:gd name="connsiteY1" fmla="*/ 0 h 21889"/>
              <a:gd name="connsiteX2" fmla="*/ 0 w 1179613"/>
              <a:gd name="connsiteY2" fmla="*/ 0 h 21889"/>
              <a:gd name="connsiteX3" fmla="*/ 21889 w 1179613"/>
              <a:gd name="connsiteY3" fmla="*/ 21889 h 21889"/>
              <a:gd name="connsiteX4" fmla="*/ 1157786 w 1179613"/>
              <a:gd name="connsiteY4" fmla="*/ 21889 h 2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613" h="21889">
                <a:moveTo>
                  <a:pt x="1157786" y="21889"/>
                </a:moveTo>
                <a:lnTo>
                  <a:pt x="1179613" y="0"/>
                </a:lnTo>
                <a:lnTo>
                  <a:pt x="0" y="0"/>
                </a:lnTo>
                <a:lnTo>
                  <a:pt x="21889" y="21889"/>
                </a:lnTo>
                <a:lnTo>
                  <a:pt x="1157786" y="21889"/>
                </a:lnTo>
                <a:close/>
              </a:path>
            </a:pathLst>
          </a:custGeom>
          <a:solidFill>
            <a:schemeClr val="accent5">
              <a:lumMod val="75000"/>
            </a:schemeClr>
          </a:solidFill>
          <a:ln w="6170" cap="flat">
            <a:solidFill>
              <a:srgbClr val="0070C0"/>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矩形 22"/>
          <p:cNvSpPr/>
          <p:nvPr>
            <p:custDataLst>
              <p:tags r:id="rId12"/>
            </p:custDataLst>
          </p:nvPr>
        </p:nvSpPr>
        <p:spPr>
          <a:xfrm>
            <a:off x="667385" y="4066857"/>
            <a:ext cx="6426200" cy="1057910"/>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新图像数据经OCR处理成文本。</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结合文本，输入教师模型进行预处理，数据存储于OBS。</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教师模型生成领域知识的微调推理指令。</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学生模型接收指令，进行推理，返回结果。</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教师模型优化学生模型的推理结果。</a:t>
            </a:r>
            <a:endParaRPr lang="zh-CN" altLang="en-US" sz="1400" dirty="0">
              <a:solidFill>
                <a:schemeClr val="tx1">
                  <a:lumMod val="85000"/>
                  <a:lumOff val="15000"/>
                </a:schemeClr>
              </a:solidFill>
              <a:latin typeface="+mn-ea"/>
              <a:cs typeface="+mn-ea"/>
              <a:sym typeface="+mn-ea"/>
            </a:endParaRPr>
          </a:p>
          <a:p>
            <a:pPr algn="just">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结构化数据用于知识图谱构建。</a:t>
            </a:r>
            <a:endParaRPr lang="zh-CN" altLang="en-US" sz="1400" dirty="0">
              <a:solidFill>
                <a:schemeClr val="tx1">
                  <a:lumMod val="85000"/>
                  <a:lumOff val="15000"/>
                </a:schemeClr>
              </a:solidFill>
              <a:latin typeface="+mn-ea"/>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259080" y="274320"/>
            <a:ext cx="11643360" cy="61874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cadb77daf032bc582f203c0c6350643"/>
          <p:cNvPicPr>
            <a:picLocks noChangeAspect="1"/>
          </p:cNvPicPr>
          <p:nvPr/>
        </p:nvPicPr>
        <p:blipFill>
          <a:blip r:embed="rId2"/>
          <a:stretch>
            <a:fillRect/>
          </a:stretch>
        </p:blipFill>
        <p:spPr>
          <a:xfrm>
            <a:off x="5766435" y="274320"/>
            <a:ext cx="6136051" cy="6156000"/>
          </a:xfrm>
          <a:prstGeom prst="rect">
            <a:avLst/>
          </a:prstGeom>
        </p:spPr>
      </p:pic>
      <p:sp>
        <p:nvSpPr>
          <p:cNvPr id="14" name="Subtitle 1"/>
          <p:cNvSpPr txBox="1"/>
          <p:nvPr/>
        </p:nvSpPr>
        <p:spPr>
          <a:xfrm>
            <a:off x="562610" y="1183640"/>
            <a:ext cx="5490210" cy="8896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10000"/>
              </a:lnSpc>
              <a:spcBef>
                <a:spcPct val="0"/>
              </a:spcBef>
              <a:spcAft>
                <a:spcPct val="0"/>
              </a:spcAft>
              <a:buNone/>
            </a:pPr>
            <a:r>
              <a:rPr lang="zh-CN" altLang="en-US" sz="1400" dirty="0">
                <a:solidFill>
                  <a:schemeClr val="tx1">
                    <a:lumMod val="85000"/>
                    <a:lumOff val="15000"/>
                  </a:schemeClr>
                </a:solidFill>
                <a:latin typeface="+mn-ea"/>
                <a:cs typeface="+mn-ea"/>
                <a:sym typeface="+mn-ea"/>
              </a:rPr>
              <a:t>法院对相关AIGC案件，主审法官在判决中强调：</a:t>
            </a:r>
            <a:endParaRPr lang="zh-CN" altLang="en-US" sz="1400" dirty="0">
              <a:solidFill>
                <a:schemeClr val="tx1">
                  <a:lumMod val="85000"/>
                  <a:lumOff val="15000"/>
                </a:schemeClr>
              </a:solidFill>
              <a:latin typeface="+mn-ea"/>
              <a:cs typeface="+mn-ea"/>
              <a:sym typeface="+mn-ea"/>
            </a:endParaRPr>
          </a:p>
          <a:p>
            <a:pPr marL="0" indent="0" eaLnBrk="0" fontAlgn="base" hangingPunct="0">
              <a:lnSpc>
                <a:spcPct val="110000"/>
              </a:lnSpc>
              <a:spcBef>
                <a:spcPct val="0"/>
              </a:spcBef>
              <a:spcAft>
                <a:spcPct val="0"/>
              </a:spcAft>
              <a:buNone/>
            </a:pPr>
            <a:r>
              <a:rPr lang="zh-CN" altLang="en-US" sz="1400" dirty="0">
                <a:solidFill>
                  <a:schemeClr val="tx1">
                    <a:lumMod val="85000"/>
                    <a:lumOff val="15000"/>
                  </a:schemeClr>
                </a:solidFill>
                <a:latin typeface="+mn-ea"/>
                <a:cs typeface="+mn-ea"/>
                <a:sym typeface="+mn-ea"/>
              </a:rPr>
              <a:t>只有正确地适用著作权制度，以妥当的法律手段，鼓励更多的人用最新的工具去创作，才能更有利于作品的创作和人工智能技术的发展。在这种背景和技术现实下，人工智能生成内容，只要能体现出人的独创性智力投入，就应当被认定为作品，受到著作权法保护。</a:t>
            </a:r>
            <a:endParaRPr lang="zh-CN" altLang="en-US" sz="1400" dirty="0">
              <a:solidFill>
                <a:schemeClr val="tx1">
                  <a:lumMod val="85000"/>
                  <a:lumOff val="15000"/>
                </a:schemeClr>
              </a:solidFill>
              <a:latin typeface="+mn-ea"/>
              <a:cs typeface="+mn-ea"/>
            </a:endParaRPr>
          </a:p>
          <a:p>
            <a:pPr marL="0" indent="0" eaLnBrk="0" fontAlgn="base" hangingPunct="0">
              <a:lnSpc>
                <a:spcPct val="110000"/>
              </a:lnSpc>
              <a:spcBef>
                <a:spcPct val="0"/>
              </a:spcBef>
              <a:spcAft>
                <a:spcPct val="0"/>
              </a:spcAft>
              <a:buNone/>
            </a:pPr>
            <a:endParaRPr lang="zh-CN" altLang="en-US" sz="1400" dirty="0">
              <a:solidFill>
                <a:schemeClr val="tx1">
                  <a:lumMod val="85000"/>
                  <a:lumOff val="15000"/>
                </a:schemeClr>
              </a:solidFill>
              <a:latin typeface="+mn-ea"/>
              <a:cs typeface="+mn-ea"/>
              <a:sym typeface="+mn-ea"/>
            </a:endParaRPr>
          </a:p>
        </p:txBody>
      </p:sp>
      <p:pic>
        <p:nvPicPr>
          <p:cNvPr id="39" name="图片 38"/>
          <p:cNvPicPr>
            <a:picLocks noChangeAspect="1"/>
          </p:cNvPicPr>
          <p:nvPr/>
        </p:nvPicPr>
        <p:blipFill>
          <a:blip r:embed="rId3"/>
          <a:stretch>
            <a:fillRect/>
          </a:stretch>
        </p:blipFill>
        <p:spPr>
          <a:xfrm>
            <a:off x="3822700" y="2592070"/>
            <a:ext cx="2160000" cy="2794126"/>
          </a:xfrm>
          <a:prstGeom prst="rect">
            <a:avLst/>
          </a:prstGeom>
        </p:spPr>
      </p:pic>
      <p:pic>
        <p:nvPicPr>
          <p:cNvPr id="3" name="图片 2" descr="2b42bd3aa0c5fabaae783c73fc3d597"/>
          <p:cNvPicPr>
            <a:picLocks noChangeAspect="1"/>
          </p:cNvPicPr>
          <p:nvPr/>
        </p:nvPicPr>
        <p:blipFill>
          <a:blip r:embed="rId4"/>
          <a:stretch>
            <a:fillRect/>
          </a:stretch>
        </p:blipFill>
        <p:spPr>
          <a:xfrm>
            <a:off x="3486150" y="3194685"/>
            <a:ext cx="2160000" cy="2922210"/>
          </a:xfrm>
          <a:prstGeom prst="rect">
            <a:avLst/>
          </a:prstGeom>
        </p:spPr>
      </p:pic>
      <p:pic>
        <p:nvPicPr>
          <p:cNvPr id="38" name="图片 37"/>
          <p:cNvPicPr>
            <a:picLocks noChangeAspect="1"/>
          </p:cNvPicPr>
          <p:nvPr/>
        </p:nvPicPr>
        <p:blipFill>
          <a:blip r:embed="rId5"/>
          <a:stretch>
            <a:fillRect/>
          </a:stretch>
        </p:blipFill>
        <p:spPr>
          <a:xfrm>
            <a:off x="562610" y="2592070"/>
            <a:ext cx="2160000" cy="2849988"/>
          </a:xfrm>
          <a:prstGeom prst="rect">
            <a:avLst/>
          </a:prstGeom>
          <a:noFill/>
          <a:ln w="9525">
            <a:noFill/>
          </a:ln>
        </p:spPr>
      </p:pic>
      <p:pic>
        <p:nvPicPr>
          <p:cNvPr id="6" name="图片 5" descr="08260607f2541b1637e882178d2dca8"/>
          <p:cNvPicPr>
            <a:picLocks noChangeAspect="1"/>
          </p:cNvPicPr>
          <p:nvPr/>
        </p:nvPicPr>
        <p:blipFill>
          <a:blip r:embed="rId6"/>
          <a:stretch>
            <a:fillRect/>
          </a:stretch>
        </p:blipFill>
        <p:spPr>
          <a:xfrm>
            <a:off x="1019175" y="3194685"/>
            <a:ext cx="2160000" cy="2943968"/>
          </a:xfrm>
          <a:prstGeom prst="rect">
            <a:avLst/>
          </a:prstGeom>
        </p:spPr>
      </p:pic>
      <p:sp>
        <p:nvSpPr>
          <p:cNvPr id="7" name="Subtitle 1"/>
          <p:cNvSpPr txBox="1"/>
          <p:nvPr/>
        </p:nvSpPr>
        <p:spPr>
          <a:xfrm>
            <a:off x="667385" y="523240"/>
            <a:ext cx="10736580" cy="4406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ct val="0"/>
              </a:spcAft>
              <a:buNone/>
            </a:pPr>
            <a:r>
              <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rPr>
              <a:t>知识产权</a:t>
            </a:r>
            <a:endParaRPr lang="zh-CN" altLang="en-US" b="1" dirty="0">
              <a:solidFill>
                <a:srgbClr val="002060"/>
              </a:solidFill>
              <a:latin typeface="方正兰亭黑简体" panose="02000000000000000000" pitchFamily="2" charset="-122"/>
              <a:ea typeface="方正兰亭黑简体" panose="02000000000000000000" pitchFamily="2" charset="-122"/>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DIAGRAM_VIRTUALLY_FRAME" val="{&quot;height&quot;:254.533779527559,&quot;left&quot;:419.0765354330709,&quot;top&quot;:188.74338582677166,&quot;width&quot;:471.30000000000007}"/>
</p:tagLst>
</file>

<file path=ppt/tags/tag6.xml><?xml version="1.0" encoding="utf-8"?>
<p:tagLst xmlns:p="http://schemas.openxmlformats.org/presentationml/2006/main">
  <p:tag name="KSO_WM_DIAGRAM_VIRTUALLY_FRAME" val="{&quot;height&quot;:254.533779527559,&quot;left&quot;:419.0765354330709,&quot;top&quot;:188.74338582677166,&quot;width&quot;:471.30000000000007}"/>
</p:tagLst>
</file>

<file path=ppt/tags/tag7.xml><?xml version="1.0" encoding="utf-8"?>
<p:tagLst xmlns:p="http://schemas.openxmlformats.org/presentationml/2006/main">
  <p:tag name="KSO_WM_DIAGRAM_VIRTUALLY_FRAME" val="{&quot;height&quot;:254.533779527559,&quot;left&quot;:419.0765354330709,&quot;top&quot;:188.74338582677166,&quot;width&quot;:471.30000000000007}"/>
</p:tagLst>
</file>

<file path=ppt/tags/tag8.xml><?xml version="1.0" encoding="utf-8"?>
<p:tagLst xmlns:p="http://schemas.openxmlformats.org/presentationml/2006/main">
  <p:tag name="KSO_WM_DIAGRAM_VIRTUALLY_FRAME" val="{&quot;height&quot;:254.533779527559,&quot;left&quot;:419.0765354330709,&quot;top&quot;:188.74338582677166,&quot;width&quot;:471.30000000000007}"/>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2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2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0.xml><?xml version="1.0" encoding="utf-8"?>
<p:tagLst xmlns:p="http://schemas.openxmlformats.org/presentationml/2006/main">
  <p:tag name="KSO_WM_TAG_VERSION" val="1.0"/>
  <p:tag name="KSO_WM_BEAUTIFY_FLAG" val="#wm#"/>
  <p:tag name="KSO_WM_TEMPLATE_CATEGORY" val="diagram"/>
  <p:tag name="KSO_WM_TEMPLATE_INDEX" val="160353"/>
  <p:tag name="KSO_WM_UNIT_TYPE" val="m_h_a"/>
  <p:tag name="KSO_WM_UNIT_INDEX" val="1_1_1"/>
  <p:tag name="KSO_WM_UNIT_ID" val="diagram160353_1*m_h_a*1_1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5"/>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11.xml><?xml version="1.0" encoding="utf-8"?>
<p:tagLst xmlns:p="http://schemas.openxmlformats.org/presentationml/2006/main">
  <p:tag name="KSO_WM_TAG_VERSION" val="1.0"/>
  <p:tag name="KSO_WM_BEAUTIFY_FLAG" val="#wm#"/>
  <p:tag name="KSO_WM_TEMPLATE_CATEGORY" val="diagram"/>
  <p:tag name="KSO_WM_TEMPLATE_INDEX" val="160353"/>
  <p:tag name="KSO_WM_UNIT_TYPE" val="m_h_a"/>
  <p:tag name="KSO_WM_UNIT_INDEX" val="1_2_1"/>
  <p:tag name="KSO_WM_UNIT_ID" val="diagram160353_1*m_h_a*1_2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6"/>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12.xml><?xml version="1.0" encoding="utf-8"?>
<p:tagLst xmlns:p="http://schemas.openxmlformats.org/presentationml/2006/main">
  <p:tag name="KSO_WM_TAG_VERSION" val="1.0"/>
  <p:tag name="KSO_WM_BEAUTIFY_FLAG" val="#wm#"/>
  <p:tag name="KSO_WM_TEMPLATE_CATEGORY" val="diagram"/>
  <p:tag name="KSO_WM_TEMPLATE_INDEX" val="160353"/>
  <p:tag name="KSO_WM_UNIT_TYPE" val="m_h_a"/>
  <p:tag name="KSO_WM_UNIT_INDEX" val="1_4_1"/>
  <p:tag name="KSO_WM_UNIT_ID" val="diagram160353_1*m_h_a*1_4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8"/>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13.xml><?xml version="1.0" encoding="utf-8"?>
<p:tagLst xmlns:p="http://schemas.openxmlformats.org/presentationml/2006/main">
  <p:tag name="KSO_WM_TAG_VERSION" val="1.0"/>
  <p:tag name="KSO_WM_BEAUTIFY_FLAG" val="#wm#"/>
  <p:tag name="KSO_WM_TEMPLATE_CATEGORY" val="diagram"/>
  <p:tag name="KSO_WM_TEMPLATE_INDEX" val="160353"/>
  <p:tag name="KSO_WM_UNIT_TYPE" val="m_h_a"/>
  <p:tag name="KSO_WM_UNIT_INDEX" val="1_5_1"/>
  <p:tag name="KSO_WM_UNIT_ID" val="diagram160353_1*m_h_a*1_5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9"/>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14.xml><?xml version="1.0" encoding="utf-8"?>
<p:tagLst xmlns:p="http://schemas.openxmlformats.org/presentationml/2006/main">
  <p:tag name="KSO_WM_TAG_VERSION" val="1.0"/>
  <p:tag name="KSO_WM_TEMPLATE_CATEGORY" val="diagram"/>
  <p:tag name="KSO_WM_TEMPLATE_INDEX" val="160353"/>
  <p:tag name="KSO_WM_UNIT_TYPE" val="m_h_a"/>
  <p:tag name="KSO_WM_UNIT_INDEX" val="1_4_1"/>
  <p:tag name="KSO_WM_UNIT_ID" val="diagram160353_1*m_h_a*1_4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8"/>
  <p:tag name="KSO_WM_UNIT_FILL_TYPE" val="1"/>
  <p:tag name="KSO_WM_UNIT_TEXT_FILL_FORE_SCHEMECOLOR_INDEX" val="14"/>
  <p:tag name="KSO_WM_UNIT_TEXT_FILL_TYPE" val="1"/>
  <p:tag name="KSO_WM_DIAGRAM_VIRTUALLY_FRAME" val="{&quot;height&quot;:296.0862992125984,&quot;left&quot;:116.19015748031498,&quot;top&quot;:-401.47196850393703,&quot;width&quot;:870.7218110236223}"/>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2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2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6.xml><?xml version="1.0" encoding="utf-8"?>
<p:tagLst xmlns:p="http://schemas.openxmlformats.org/presentationml/2006/main">
  <p:tag name="KSO_WM_TAG_VERSION" val="1.0"/>
  <p:tag name="KSO_WM_BEAUTIFY_FLAG" val="#wm#"/>
  <p:tag name="KSO_WM_TEMPLATE_CATEGORY" val="diagram"/>
  <p:tag name="KSO_WM_TEMPLATE_INDEX" val="160353"/>
  <p:tag name="KSO_WM_UNIT_TYPE" val="m_h_a"/>
  <p:tag name="KSO_WM_UNIT_INDEX" val="1_2_1"/>
  <p:tag name="KSO_WM_UNIT_ID" val="diagram160353_1*m_h_a*1_2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6"/>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17.xml><?xml version="1.0" encoding="utf-8"?>
<p:tagLst xmlns:p="http://schemas.openxmlformats.org/presentationml/2006/main">
  <p:tag name="KSO_WM_TAG_VERSION" val="1.0"/>
  <p:tag name="KSO_WM_BEAUTIFY_FLAG" val="#wm#"/>
  <p:tag name="KSO_WM_TEMPLATE_CATEGORY" val="diagram"/>
  <p:tag name="KSO_WM_TEMPLATE_INDEX" val="160353"/>
  <p:tag name="KSO_WM_UNIT_TYPE" val="m_h_a"/>
  <p:tag name="KSO_WM_UNIT_INDEX" val="1_4_1"/>
  <p:tag name="KSO_WM_UNIT_ID" val="diagram160353_1*m_h_a*1_4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8"/>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18.xml><?xml version="1.0" encoding="utf-8"?>
<p:tagLst xmlns:p="http://schemas.openxmlformats.org/presentationml/2006/main">
  <p:tag name="KSO_WM_TAG_VERSION" val="1.0"/>
  <p:tag name="KSO_WM_BEAUTIFY_FLAG" val="#wm#"/>
  <p:tag name="KSO_WM_TEMPLATE_CATEGORY" val="diagram"/>
  <p:tag name="KSO_WM_TEMPLATE_INDEX" val="160353"/>
  <p:tag name="KSO_WM_UNIT_TYPE" val="m_h_a"/>
  <p:tag name="KSO_WM_UNIT_INDEX" val="1_5_1"/>
  <p:tag name="KSO_WM_UNIT_ID" val="diagram160353_1*m_h_a*1_5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9"/>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19.xml><?xml version="1.0" encoding="utf-8"?>
<p:tagLst xmlns:p="http://schemas.openxmlformats.org/presentationml/2006/main">
  <p:tag name="KSO_WM_TAG_VERSION" val="1.0"/>
  <p:tag name="KSO_WM_TEMPLATE_CATEGORY" val="diagram"/>
  <p:tag name="KSO_WM_TEMPLATE_INDEX" val="160353"/>
  <p:tag name="KSO_WM_UNIT_TYPE" val="m_h_a"/>
  <p:tag name="KSO_WM_UNIT_INDEX" val="1_4_1"/>
  <p:tag name="KSO_WM_UNIT_ID" val="diagram160353_1*m_h_a*1_4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8"/>
  <p:tag name="KSO_WM_UNIT_FILL_TYPE" val="1"/>
  <p:tag name="KSO_WM_UNIT_TEXT_FILL_FORE_SCHEMECOLOR_INDEX" val="14"/>
  <p:tag name="KSO_WM_UNIT_TEXT_FILL_TYPE" val="1"/>
  <p:tag name="KSO_WM_DIAGRAM_VIRTUALLY_FRAME" val="{&quot;height&quot;:296.0862992125984,&quot;left&quot;:116.19015748031498,&quot;top&quot;:-401.47196850393703,&quot;width&quot;:870.7218110236223}"/>
</p:tagLst>
</file>

<file path=ppt/tags/tag20.xml><?xml version="1.0" encoding="utf-8"?>
<p:tagLst xmlns:p="http://schemas.openxmlformats.org/presentationml/2006/main">
  <p:tag name="KSO_WM_TAG_VERSION" val="1.0"/>
  <p:tag name="KSO_WM_TEMPLATE_CATEGORY" val="diagram"/>
  <p:tag name="KSO_WM_TEMPLATE_INDEX" val="160353"/>
  <p:tag name="KSO_WM_UNIT_TYPE" val="m_h_a"/>
  <p:tag name="KSO_WM_UNIT_INDEX" val="1_4_1"/>
  <p:tag name="KSO_WM_UNIT_ID" val="diagram160353_1*m_h_a*1_4_1"/>
  <p:tag name="KSO_WM_UNIT_CLEAR" val="1"/>
  <p:tag name="KSO_WM_UNIT_LAYERLEVEL" val="1_1_1"/>
  <p:tag name="KSO_WM_UNIT_VALUE" val="21"/>
  <p:tag name="KSO_WM_UNIT_HIGHLIGHT" val="0"/>
  <p:tag name="KSO_WM_UNIT_COMPATIBLE" val="0"/>
  <p:tag name="KSO_WM_UNIT_PRESET_TEXT_INDEX" val="3"/>
  <p:tag name="KSO_WM_UNIT_PRESET_TEXT_LEN" val="12"/>
  <p:tag name="KSO_WM_DIAGRAM_GROUP_CODE" val="m1-1"/>
  <p:tag name="KSO_WM_UNIT_FILL_FORE_SCHEMECOLOR_INDEX" val="8"/>
  <p:tag name="KSO_WM_UNIT_FILL_TYPE" val="1"/>
  <p:tag name="KSO_WM_UNIT_TEXT_FILL_FORE_SCHEMECOLOR_INDEX" val="14"/>
  <p:tag name="KSO_WM_UNIT_TEXT_FILL_TYPE" val="1"/>
  <p:tag name="KSO_WM_DIAGRAM_VIRTUALLY_FRAME" val="{&quot;height&quot;:57.22196850393702,&quot;left&quot;:314.69015748031495,&quot;top&quot;:10.628031496062977,&quot;width&quot;:665.659842519685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2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2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a*1_2_1"/>
  <p:tag name="KSO_WM_TEMPLATE_CATEGORY" val="diagram"/>
  <p:tag name="KSO_WM_TEMPLATE_INDEX" val="2023479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2_1"/>
  <p:tag name="KSO_WM_UNIT_PRESET_TEXT" val="单击此处添加项标题"/>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2_1"/>
  <p:tag name="KSO_WM_TEMPLATE_CATEGORY" val="diagram"/>
  <p:tag name="KSO_WM_TEMPLATE_INDEX" val="20234791"/>
  <p:tag name="KSO_WM_UNIT_LAYERLEVEL" val="1_1_1"/>
  <p:tag name="KSO_WM_TAG_VERSION" val="3.0"/>
  <p:tag name="KSO_WM_DIAGRAM_GROUP_CODE" val="l1-1"/>
  <p:tag name="KSO_WM_UNIT_TYPE" val="l_h_i"/>
  <p:tag name="KSO_WM_UNIT_INDEX" val="1_2_1"/>
  <p:tag name="KSO_WM_UNIT_FILL_TYPE" val="1"/>
  <p:tag name="KSO_WM_UNIT_FILL_FORE_SCHEMECOLOR_INDEX" val="5"/>
  <p:tag name="KSO_WM_UNIT_FILL_FORE_SCHEMECOLOR_INDEX_BRIGHTNESS" val="0"/>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solid&quot;:{&quot;brightness&quot;:0,&quot;colorType&quot;:1,&quot;foreColorIndex&quot;:5,&quot;transparency&quot;:0.349999994039535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2_2"/>
  <p:tag name="KSO_WM_TEMPLATE_CATEGORY" val="diagram"/>
  <p:tag name="KSO_WM_TEMPLATE_INDEX" val="20234791"/>
  <p:tag name="KSO_WM_UNIT_LAYERLEVEL" val="1_1_1"/>
  <p:tag name="KSO_WM_TAG_VERSION" val="3.0"/>
  <p:tag name="KSO_WM_DIAGRAM_GROUP_CODE" val="l1-1"/>
  <p:tag name="KSO_WM_UNIT_TYPE" val="l_h_i"/>
  <p:tag name="KSO_WM_UNIT_INDEX" val="1_2_2"/>
  <p:tag name="KSO_WM_UNIT_FILL_TYPE" val="3"/>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gradient&quot;:[{&quot;brightness&quot;:0,&quot;colorType&quot;:1,&quot;foreColorIndex&quot;:5,&quot;pos&quot;:0.8600000143051147,&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2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2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a*1_3_1"/>
  <p:tag name="KSO_WM_TEMPLATE_CATEGORY" val="diagram"/>
  <p:tag name="KSO_WM_TEMPLATE_INDEX" val="2023479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3_1"/>
  <p:tag name="KSO_WM_UNIT_PRESET_TEXT" val="单击此处添加项标题"/>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3_1"/>
  <p:tag name="KSO_WM_TEMPLATE_CATEGORY" val="diagram"/>
  <p:tag name="KSO_WM_TEMPLATE_INDEX" val="20234791"/>
  <p:tag name="KSO_WM_UNIT_LAYERLEVEL" val="1_1_1"/>
  <p:tag name="KSO_WM_TAG_VERSION" val="3.0"/>
  <p:tag name="KSO_WM_DIAGRAM_GROUP_CODE" val="l1-1"/>
  <p:tag name="KSO_WM_UNIT_TYPE" val="l_h_i"/>
  <p:tag name="KSO_WM_UNIT_INDEX" val="1_3_1"/>
  <p:tag name="KSO_WM_UNIT_FILL_TYPE" val="1"/>
  <p:tag name="KSO_WM_UNIT_FILL_FORE_SCHEMECOLOR_INDEX" val="5"/>
  <p:tag name="KSO_WM_UNIT_FILL_FORE_SCHEMECOLOR_INDEX_BRIGHTNESS" val="0"/>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solid&quot;:{&quot;brightness&quot;:0,&quot;colorType&quot;:1,&quot;foreColorIndex&quot;:5,&quot;transparency&quot;:0.349999994039535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3_2"/>
  <p:tag name="KSO_WM_TEMPLATE_CATEGORY" val="diagram"/>
  <p:tag name="KSO_WM_TEMPLATE_INDEX" val="20234791"/>
  <p:tag name="KSO_WM_UNIT_LAYERLEVEL" val="1_1_1"/>
  <p:tag name="KSO_WM_TAG_VERSION" val="3.0"/>
  <p:tag name="KSO_WM_DIAGRAM_GROUP_CODE" val="l1-1"/>
  <p:tag name="KSO_WM_UNIT_TYPE" val="l_h_i"/>
  <p:tag name="KSO_WM_UNIT_INDEX" val="1_3_2"/>
  <p:tag name="KSO_WM_UNIT_FILL_TYPE" val="3"/>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gradient&quot;:[{&quot;brightness&quot;:0,&quot;colorType&quot;:1,&quot;foreColorIndex&quot;:5,&quot;pos&quot;:0.8600000143051147,&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3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3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0.xml><?xml version="1.0" encoding="utf-8"?>
<p:tagLst xmlns:p="http://schemas.openxmlformats.org/presentationml/2006/main">
  <p:tag name="KSO_WM_DIAGRAM_VIRTUALLY_FRAME" val="{&quot;height&quot;:255.22716535433065,&quot;left&quot;:419.0765354330709,&quot;top&quot;:188.05,&quot;width&quot;:471.30000000000007}"/>
</p:tagLst>
</file>

<file path=ppt/tags/tag31.xml><?xml version="1.0" encoding="utf-8"?>
<p:tagLst xmlns:p="http://schemas.openxmlformats.org/presentationml/2006/main">
  <p:tag name="KSO_WM_DIAGRAM_VIRTUALLY_FRAME" val="{&quot;height&quot;:255.22716535433065,&quot;left&quot;:419.0765354330709,&quot;top&quot;:188.05,&quot;width&quot;:471.30000000000007}"/>
</p:tagLst>
</file>

<file path=ppt/tags/tag32.xml><?xml version="1.0" encoding="utf-8"?>
<p:tagLst xmlns:p="http://schemas.openxmlformats.org/presentationml/2006/main">
  <p:tag name="KSO_WM_DIAGRAM_VIRTUALLY_FRAME" val="{&quot;height&quot;:255.22716535433065,&quot;left&quot;:419.0765354330709,&quot;top&quot;:188.05,&quot;width&quot;:471.30000000000007}"/>
</p:tagLst>
</file>

<file path=ppt/tags/tag33.xml><?xml version="1.0" encoding="utf-8"?>
<p:tagLst xmlns:p="http://schemas.openxmlformats.org/presentationml/2006/main">
  <p:tag name="KSO_WM_DIAGRAM_VIRTUALLY_FRAME" val="{&quot;height&quot;:255.22716535433065,&quot;left&quot;:419.0765354330709,&quot;top&quot;:188.05,&quot;width&quot;:471.30000000000007}"/>
</p:tagLst>
</file>

<file path=ppt/tags/tag34.xml><?xml version="1.0" encoding="utf-8"?>
<p:tagLst xmlns:p="http://schemas.openxmlformats.org/presentationml/2006/main">
  <p:tag name="KSO_WM_DIAGRAM_VIRTUALLY_FRAME" val="{&quot;height&quot;:255.22716535433065,&quot;left&quot;:419.0765354330709,&quot;top&quot;:188.05,&quot;width&quot;:471.30000000000007}"/>
</p:tagLst>
</file>

<file path=ppt/tags/tag35.xml><?xml version="1.0" encoding="utf-8"?>
<p:tagLst xmlns:p="http://schemas.openxmlformats.org/presentationml/2006/main">
  <p:tag name="KSO_WM_UNIT_MEDIACOVER_STYLEID" val="2"/>
  <p:tag name="KSO_WM_UNIT_MEDIACOVER_TEXTSTATE" val="0"/>
  <p:tag name="KSO_WM_UNIT_MEDIACOVER_BTN_STATE" val="0"/>
</p:tagLst>
</file>

<file path=ppt/tags/tag36.xml><?xml version="1.0" encoding="utf-8"?>
<p:tagLst xmlns:p="http://schemas.openxmlformats.org/presentationml/2006/main">
  <p:tag name="KSO_WM_DIAGRAM_VIRTUALLY_FRAME" val="{&quot;height&quot;:1051.3433858267715,&quot;left&quot;:-206.3,&quot;top&quot;:105.25661417322836,&quot;width&quot;:1121.5}"/>
</p:tagLst>
</file>

<file path=ppt/tags/tag37.xml><?xml version="1.0" encoding="utf-8"?>
<p:tagLst xmlns:p="http://schemas.openxmlformats.org/presentationml/2006/main">
  <p:tag name="KSO_WM_DIAGRAM_VIRTUALLY_FRAME" val="{&quot;height&quot;:1051.3433858267715,&quot;left&quot;:-206.3,&quot;top&quot;:105.25661417322836,&quot;width&quot;:1121.5}"/>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2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2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9.xml><?xml version="1.0" encoding="utf-8"?>
<p:tagLst xmlns:p="http://schemas.openxmlformats.org/presentationml/2006/main">
  <p:tag name="KSO_WM_UNIT_VALUE" val="1903*2271"/>
  <p:tag name="KSO_WM_UNIT_HIGHLIGHT" val="0"/>
  <p:tag name="KSO_WM_UNIT_COMPATIBLE" val="0"/>
  <p:tag name="KSO_WM_UNIT_DIAGRAM_ISNUMVISUAL" val="0"/>
  <p:tag name="KSO_WM_UNIT_DIAGRAM_ISREFERUNIT" val="0"/>
  <p:tag name="KSO_WM_DIAGRAM_GROUP_CODE" val="n1-1"/>
  <p:tag name="KSO_WM_UNIT_TYPE" val="d"/>
  <p:tag name="KSO_WM_UNIT_INDEX" val="1"/>
  <p:tag name="KSO_WM_UNIT_ID" val="custom20231806_1*d*1"/>
  <p:tag name="KSO_WM_TEMPLATE_CATEGORY" val="custom"/>
  <p:tag name="KSO_WM_TEMPLATE_INDEX" val="20231806"/>
  <p:tag name="KSO_WM_UNIT_LAYERLEVEL" val="1"/>
  <p:tag name="KSO_WM_TAG_VERSION" val="3.0"/>
  <p:tag name="KSO_WM_BEAUTIFY_FLAG" val="#wm#"/>
  <p:tag name="KSO_WM_UNIT_LINE_FORE_SCHEMECOLOR_INDEX" val="1"/>
  <p:tag name="KSO_WM_UNIT_LINE_FILL_TYPE" val="2"/>
  <p:tag name="KSO_WM_UNIT_USESOURCEFORMAT_APPLY" val="1"/>
</p:tagLst>
</file>

<file path=ppt/tags/tag4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TEMPLATE_CATEGORY" val="custom"/>
  <p:tag name="KSO_WM_UNIT_LAYERLEVEL" val="1"/>
  <p:tag name="KSO_WM_TAG_VERSION" val="3.0"/>
  <p:tag name="KSO_WM_BEAUTIFY_FLAG" val="#wm#"/>
  <p:tag name="KSO_WM_UNIT_VALUE" val="24"/>
  <p:tag name="KSO_WM_TEMPLATE_INDEX" val="20231806"/>
  <p:tag name="KSO_WM_UNIT_ID" val="custom20231806_1*a*1"/>
  <p:tag name="KSO_WM_UNIT_FILL_FORE_SCHEMECOLOR_INDEX" val="5"/>
  <p:tag name="KSO_WM_UNIT_FILL_TYPE" val="1"/>
  <p:tag name="KSO_WM_UNIT_USESOURCEFORMAT_APPLY" val="1"/>
  <p:tag name="KSO_WM_UNIT_PRESET_TEXT" val="单击此处&#10;添加标题&#10;内容"/>
</p:tagLst>
</file>

<file path=ppt/tags/tag41.xml><?xml version="1.0" encoding="utf-8"?>
<p:tagLst xmlns:p="http://schemas.openxmlformats.org/presentationml/2006/main">
  <p:tag name="KSO_WM_UNIT_PLACING_PICTURE_USER_VIEWPORT" val="{&quot;height&quot;:8790,&quot;width&quot;:11010}"/>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a*1_2_1"/>
  <p:tag name="KSO_WM_TEMPLATE_CATEGORY" val="diagram"/>
  <p:tag name="KSO_WM_TEMPLATE_INDEX" val="2023479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2_1"/>
  <p:tag name="KSO_WM_UNIT_PRESET_TEXT" val="单击此处添加项标题"/>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2_1"/>
  <p:tag name="KSO_WM_TEMPLATE_CATEGORY" val="diagram"/>
  <p:tag name="KSO_WM_TEMPLATE_INDEX" val="20234791"/>
  <p:tag name="KSO_WM_UNIT_LAYERLEVEL" val="1_1_1"/>
  <p:tag name="KSO_WM_TAG_VERSION" val="3.0"/>
  <p:tag name="KSO_WM_DIAGRAM_GROUP_CODE" val="l1-1"/>
  <p:tag name="KSO_WM_UNIT_TYPE" val="l_h_i"/>
  <p:tag name="KSO_WM_UNIT_INDEX" val="1_2_1"/>
  <p:tag name="KSO_WM_UNIT_FILL_TYPE" val="1"/>
  <p:tag name="KSO_WM_UNIT_FILL_FORE_SCHEMECOLOR_INDEX" val="5"/>
  <p:tag name="KSO_WM_UNIT_FILL_FORE_SCHEMECOLOR_INDEX_BRIGHTNESS" val="0"/>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solid&quot;:{&quot;brightness&quot;:0,&quot;colorType&quot;:1,&quot;foreColorIndex&quot;:5,&quot;transparency&quot;:0.349999994039535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2_2"/>
  <p:tag name="KSO_WM_TEMPLATE_CATEGORY" val="diagram"/>
  <p:tag name="KSO_WM_TEMPLATE_INDEX" val="20234791"/>
  <p:tag name="KSO_WM_UNIT_LAYERLEVEL" val="1_1_1"/>
  <p:tag name="KSO_WM_TAG_VERSION" val="3.0"/>
  <p:tag name="KSO_WM_DIAGRAM_GROUP_CODE" val="l1-1"/>
  <p:tag name="KSO_WM_UNIT_TYPE" val="l_h_i"/>
  <p:tag name="KSO_WM_UNIT_INDEX" val="1_2_2"/>
  <p:tag name="KSO_WM_UNIT_FILL_TYPE" val="3"/>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gradient&quot;:[{&quot;brightness&quot;:0,&quot;colorType&quot;:1,&quot;foreColorIndex&quot;:5,&quot;pos&quot;:0.8600000143051147,&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2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2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a*1_3_1"/>
  <p:tag name="KSO_WM_TEMPLATE_CATEGORY" val="diagram"/>
  <p:tag name="KSO_WM_TEMPLATE_INDEX" val="2023479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3_1"/>
  <p:tag name="KSO_WM_UNIT_PRESET_TEXT" val="单击此处添加项标题"/>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3_1"/>
  <p:tag name="KSO_WM_TEMPLATE_CATEGORY" val="diagram"/>
  <p:tag name="KSO_WM_TEMPLATE_INDEX" val="20234791"/>
  <p:tag name="KSO_WM_UNIT_LAYERLEVEL" val="1_1_1"/>
  <p:tag name="KSO_WM_TAG_VERSION" val="3.0"/>
  <p:tag name="KSO_WM_DIAGRAM_GROUP_CODE" val="l1-1"/>
  <p:tag name="KSO_WM_UNIT_TYPE" val="l_h_i"/>
  <p:tag name="KSO_WM_UNIT_INDEX" val="1_3_1"/>
  <p:tag name="KSO_WM_UNIT_FILL_TYPE" val="1"/>
  <p:tag name="KSO_WM_UNIT_FILL_FORE_SCHEMECOLOR_INDEX" val="5"/>
  <p:tag name="KSO_WM_UNIT_FILL_FORE_SCHEMECOLOR_INDEX_BRIGHTNESS" val="0"/>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solid&quot;:{&quot;brightness&quot;:0,&quot;colorType&quot;:1,&quot;foreColorIndex&quot;:5,&quot;transparency&quot;:0.349999994039535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i*1_3_2"/>
  <p:tag name="KSO_WM_TEMPLATE_CATEGORY" val="diagram"/>
  <p:tag name="KSO_WM_TEMPLATE_INDEX" val="20234791"/>
  <p:tag name="KSO_WM_UNIT_LAYERLEVEL" val="1_1_1"/>
  <p:tag name="KSO_WM_TAG_VERSION" val="3.0"/>
  <p:tag name="KSO_WM_DIAGRAM_GROUP_CODE" val="l1-1"/>
  <p:tag name="KSO_WM_UNIT_TYPE" val="l_h_i"/>
  <p:tag name="KSO_WM_UNIT_INDEX" val="1_3_2"/>
  <p:tag name="KSO_WM_UNIT_FILL_TYPE" val="3"/>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gradient&quot;:[{&quot;brightness&quot;:0,&quot;colorType&quot;:1,&quot;foreColorIndex&quot;:5,&quot;pos&quot;:0.8600000143051147,&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791_3*l_h_f*1_3_1"/>
  <p:tag name="KSO_WM_TEMPLATE_CATEGORY" val="diagram"/>
  <p:tag name="KSO_WM_TEMPLATE_INDEX" val="20234791"/>
  <p:tag name="KSO_WM_UNIT_LAYERLEVEL" val="1_1_1"/>
  <p:tag name="KSO_WM_TAG_VERSION" val="3.0"/>
  <p:tag name="KSO_WM_UNIT_SUBTYPE" val="a"/>
  <p:tag name="KSO_WM_UNIT_NOCLEAR" val="0"/>
  <p:tag name="KSO_WM_DIAGRAM_GROUP_CODE" val="l1-1"/>
  <p:tag name="KSO_WM_UNIT_TYPE" val="l_h_f"/>
  <p:tag name="KSO_WM_UNIT_INDEX" val="1_3_1"/>
  <p:tag name="KSO_WM_UNIT_PRESET_TEXT" val="单击此处输入你的项正文，文字是您思想的提炼，请尽量言简意赅的阐述观点，单击此处输入你的项正文，请尽量言简意赅的阐述观点。"/>
  <p:tag name="KSO_WM_UNIT_TEXT_FILL_FORE_SCHEMECOLOR_INDEX" val="1"/>
  <p:tag name="KSO_WM_UNIT_TEXT_FILL_TYPE" val="1"/>
  <p:tag name="KSO_WM_DIAGRAM_VERSION" val="3"/>
  <p:tag name="KSO_WM_DIAGRAM_COLOR_TRICK" val="1"/>
  <p:tag name="KSO_WM_DIAGRAM_COLOR_TEXT_CAN_REMOVE" val="n"/>
  <p:tag name="KSO_WM_DIAGRAM_MAX_ITEMCNT" val="3"/>
  <p:tag name="KSO_WM_DIAGRAM_MIN_ITEMCNT" val="1"/>
  <p:tag name="KSO_WM_DIAGRAM_VIRTUALLY_FRAME" val="{&quot;height&quot;:440.7499545264056,&quot;left&quot;:55.79999694824219,&quot;top&quot;:110.77500610351562,&quot;width&quot;:507.6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0.xml><?xml version="1.0" encoding="utf-8"?>
<p:tagLst xmlns:p="http://schemas.openxmlformats.org/presentationml/2006/main">
  <p:tag name="ISPRING_PRESENTATION_TITLE" val="PowerPoint 演示文稿"/>
  <p:tag name="commondata" val="eyJoZGlkIjoiN2FjNTU1NWZmMTNiOWQxOGE3NWJhODVjYjM0MTZmY2YifQ=="/>
  <p:tag name="resource_record_key" val="{&quot;10&quot;:[21565655,21576127],&quot;13&quot;:[20419718,4563130,4685217,4716330,436488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2513</Words>
  <Application>WPS 演示</Application>
  <PresentationFormat>宽屏</PresentationFormat>
  <Paragraphs>393</Paragraphs>
  <Slides>23</Slides>
  <Notes>23</Notes>
  <HiddenSlides>0</HiddenSlides>
  <MMClips>1</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23</vt:i4>
      </vt:variant>
    </vt:vector>
  </HeadingPairs>
  <TitlesOfParts>
    <vt:vector size="44" baseType="lpstr">
      <vt:lpstr>Arial</vt:lpstr>
      <vt:lpstr>宋体</vt:lpstr>
      <vt:lpstr>Wingdings</vt:lpstr>
      <vt:lpstr>字魂58号-创中黑</vt:lpstr>
      <vt:lpstr>微软雅黑</vt:lpstr>
      <vt:lpstr>汉仪文黑-85简</vt:lpstr>
      <vt:lpstr>黑体</vt:lpstr>
      <vt:lpstr>方正兰亭黑简体</vt:lpstr>
      <vt:lpstr>Wingdings</vt:lpstr>
      <vt:lpstr>等线</vt:lpstr>
      <vt:lpstr>Arial Unicode MS</vt:lpstr>
      <vt:lpstr>等线 Light</vt:lpstr>
      <vt:lpstr>Verdana</vt:lpstr>
      <vt:lpstr>Arial</vt:lpstr>
      <vt:lpstr>Helvetica Neue Medium</vt:lpstr>
      <vt:lpstr>Calibri</vt:lpstr>
      <vt:lpstr>汉仪旗黑-55简</vt:lpstr>
      <vt:lpstr>OPPOSans R</vt:lpstr>
      <vt:lpstr>PingFang SC</vt:lpstr>
      <vt:lpstr>Segoe Print</vt:lpstr>
      <vt:lpstr>Office 主题​​</vt:lpstr>
      <vt:lpstr>PowerPoint 演示文稿</vt:lpstr>
      <vt:lpstr>目录</vt:lpstr>
      <vt:lpstr>PowerPoint 演示文稿</vt:lpstr>
      <vt:lpstr>PowerPoint 演示文稿</vt:lpstr>
      <vt:lpstr>PowerPoint 演示文稿</vt:lpstr>
      <vt:lpstr>RAG知识检索增强生成</vt:lpstr>
      <vt:lpstr>PowerPoint 演示文稿</vt:lpstr>
      <vt:lpstr>PowerPoint 演示文稿</vt:lpstr>
      <vt:lpstr>目录</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多模态问答</vt:lpstr>
      <vt:lpstr>目录</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rena.zhao</dc:creator>
  <cp:lastModifiedBy>苏泽不太冷.</cp:lastModifiedBy>
  <cp:revision>149</cp:revision>
  <dcterms:created xsi:type="dcterms:W3CDTF">2019-07-14T01:24:00Z</dcterms:created>
  <dcterms:modified xsi:type="dcterms:W3CDTF">2025-03-13T12:39:56Z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038AE2A8A5674F1E9C6A452636E8917B_13</vt:lpwstr>
  </property>
  <property fmtid="{D5CDD505-2E9C-101B-9397-08002B2CF9AE}" pid="3" name="KSOProductBuildVer">
    <vt:lpwstr>2052-12.1.0.20305</vt:lpwstr>
  </property>
</Properties>
</file>